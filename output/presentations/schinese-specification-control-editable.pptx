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188e4d8684518" /><Relationship Type="http://schemas.openxmlformats.org/officeDocument/2006/relationships/extended-properties" Target="/docProps/app.xml" Id="Rfce675683a1443dc" /><Relationship Type="http://schemas.openxmlformats.org/officeDocument/2006/relationships/officeDocument" Target="/ppt/presentation.xml" Id="Ref8f0f32b1054da0" /></Relationships>
</file>

<file path=ppt/presentation.xml><?xml version="1.0" encoding="utf-8"?>
<p:presentation xmlns:p="http://schemas.openxmlformats.org/presentationml/2006/main">
  <p:sldMasterIdLst>
    <p:sldMasterId xmlns:r="http://schemas.openxmlformats.org/officeDocument/2006/relationships" id="2147483648" r:id="R242b8ef9b46e4e00"/>
  </p:sldMasterIdLst>
  <p:notesMasterIdLst>
    <p:notesMasterId xmlns:r="http://schemas.openxmlformats.org/officeDocument/2006/relationships" r:id="R0935c9aa50ac4fe6"/>
  </p:notesMasterIdLst>
  <p:sldIdLst>
    <p:sldId xmlns:r="http://schemas.openxmlformats.org/officeDocument/2006/relationships" id="256" r:id="R17b1afef07d14e20"/>
    <p:sldId xmlns:r="http://schemas.openxmlformats.org/officeDocument/2006/relationships" id="257" r:id="R84f2fea49f724379"/>
    <p:sldId xmlns:r="http://schemas.openxmlformats.org/officeDocument/2006/relationships" id="258" r:id="Rb05fc49706fe42ce"/>
    <p:sldId xmlns:r="http://schemas.openxmlformats.org/officeDocument/2006/relationships" id="259" r:id="Rcf538516439348ad"/>
    <p:sldId xmlns:r="http://schemas.openxmlformats.org/officeDocument/2006/relationships" id="260" r:id="R2354c20649e745a9"/>
    <p:sldId xmlns:r="http://schemas.openxmlformats.org/officeDocument/2006/relationships" id="261" r:id="R2f0c06b880284173"/>
    <p:sldId xmlns:r="http://schemas.openxmlformats.org/officeDocument/2006/relationships" id="262" r:id="R45ab917e361c4092"/>
    <p:sldId xmlns:r="http://schemas.openxmlformats.org/officeDocument/2006/relationships" id="263" r:id="Rabf52e82944a47b3"/>
    <p:sldId xmlns:r="http://schemas.openxmlformats.org/officeDocument/2006/relationships" id="264" r:id="R8c29d547ac714417"/>
    <p:sldId xmlns:r="http://schemas.openxmlformats.org/officeDocument/2006/relationships" id="265" r:id="R10793d76a22a4901"/>
    <p:sldId xmlns:r="http://schemas.openxmlformats.org/officeDocument/2006/relationships" id="266" r:id="Rcbbd9b1145d2420d"/>
    <p:sldId xmlns:r="http://schemas.openxmlformats.org/officeDocument/2006/relationships" id="267" r:id="R77fc149f39ca4c0f"/>
    <p:sldId xmlns:r="http://schemas.openxmlformats.org/officeDocument/2006/relationships" id="268" r:id="R66dc8b3368ea4702"/>
    <p:sldId xmlns:r="http://schemas.openxmlformats.org/officeDocument/2006/relationships" id="269" r:id="R4d77c41b4c804056"/>
    <p:sldId xmlns:r="http://schemas.openxmlformats.org/officeDocument/2006/relationships" id="270" r:id="Ra90081bc043849f2"/>
    <p:sldId xmlns:r="http://schemas.openxmlformats.org/officeDocument/2006/relationships" id="271" r:id="R888a11656ba74676"/>
    <p:sldId xmlns:r="http://schemas.openxmlformats.org/officeDocument/2006/relationships" id="272" r:id="Rc5d67426a1da4966"/>
    <p:sldId xmlns:r="http://schemas.openxmlformats.org/officeDocument/2006/relationships" id="273" r:id="R315ac65a3e0744f8"/>
    <p:sldId xmlns:r="http://schemas.openxmlformats.org/officeDocument/2006/relationships" id="274" r:id="R11fe993a36e94a12"/>
    <p:sldId xmlns:r="http://schemas.openxmlformats.org/officeDocument/2006/relationships" id="275" r:id="R2da42b762ea04369"/>
    <p:sldId xmlns:r="http://schemas.openxmlformats.org/officeDocument/2006/relationships" id="276" r:id="Rb1c1e431ebb84be6"/>
    <p:sldId xmlns:r="http://schemas.openxmlformats.org/officeDocument/2006/relationships" id="277" r:id="R25108c69a57f4c72"/>
    <p:sldId xmlns:r="http://schemas.openxmlformats.org/officeDocument/2006/relationships" id="278" r:id="R22ecad1370d44c53"/>
    <p:sldId xmlns:r="http://schemas.openxmlformats.org/officeDocument/2006/relationships" id="279" r:id="Rda5731cc8810422e"/>
    <p:sldId xmlns:r="http://schemas.openxmlformats.org/officeDocument/2006/relationships" id="280" r:id="R068e414c39a54fb9"/>
    <p:sldId xmlns:r="http://schemas.openxmlformats.org/officeDocument/2006/relationships" id="281" r:id="R3f8b3f5bd1094d02"/>
    <p:sldId xmlns:r="http://schemas.openxmlformats.org/officeDocument/2006/relationships" id="282" r:id="Ra6a9cb79838d4355"/>
    <p:sldId xmlns:r="http://schemas.openxmlformats.org/officeDocument/2006/relationships" id="283" r:id="Rc499534c31114a89"/>
    <p:sldId xmlns:r="http://schemas.openxmlformats.org/officeDocument/2006/relationships" id="284" r:id="R2aaa62e356ba47af"/>
    <p:sldId xmlns:r="http://schemas.openxmlformats.org/officeDocument/2006/relationships" id="285" r:id="R10ba0f259c5d428b"/>
    <p:sldId xmlns:r="http://schemas.openxmlformats.org/officeDocument/2006/relationships" id="286" r:id="R9d72fa5e357c4fbf"/>
    <p:sldId xmlns:r="http://schemas.openxmlformats.org/officeDocument/2006/relationships" id="287" r:id="Re2c60d7eaa0b4901"/>
    <p:sldId xmlns:r="http://schemas.openxmlformats.org/officeDocument/2006/relationships" id="288" r:id="Ra44de6575f2f4dbc"/>
    <p:sldId xmlns:r="http://schemas.openxmlformats.org/officeDocument/2006/relationships" id="289" r:id="R427ed4141c63421d"/>
    <p:sldId xmlns:r="http://schemas.openxmlformats.org/officeDocument/2006/relationships" id="290" r:id="R428408689ef449d6"/>
    <p:sldId xmlns:r="http://schemas.openxmlformats.org/officeDocument/2006/relationships" id="291" r:id="R39c3356631f14f4f"/>
    <p:sldId xmlns:r="http://schemas.openxmlformats.org/officeDocument/2006/relationships" id="292" r:id="Rd91f9f84d9664b22"/>
    <p:sldId xmlns:r="http://schemas.openxmlformats.org/officeDocument/2006/relationships" id="293" r:id="R0bf01b2847394a1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4ba71278e4348" /><Relationship Type="http://schemas.openxmlformats.org/officeDocument/2006/relationships/slideMaster" Target="/ppt/slideMasters/slideMaster1.xml" Id="R242b8ef9b46e4e00" /><Relationship Type="http://schemas.openxmlformats.org/officeDocument/2006/relationships/notesMaster" Target="/ppt/notesMasters/notesMaster1.xml" Id="R0935c9aa50ac4fe6" /><Relationship Type="http://schemas.openxmlformats.org/officeDocument/2006/relationships/presProps" Target="/ppt/presProps.xml" Id="Ra6e9f34182694122" /><Relationship Type="http://schemas.openxmlformats.org/officeDocument/2006/relationships/tableStyles" Target="/ppt/tableStyles.xml" Id="R4d71c8ff30b7437e" /><Relationship Type="http://schemas.openxmlformats.org/officeDocument/2006/relationships/slide" Target="/ppt/slides/slide1.xml" Id="R17b1afef07d14e20" /><Relationship Type="http://schemas.openxmlformats.org/officeDocument/2006/relationships/slide" Target="/ppt/slides/slide2.xml" Id="R84f2fea49f724379" /><Relationship Type="http://schemas.openxmlformats.org/officeDocument/2006/relationships/slide" Target="/ppt/slides/slide3.xml" Id="Rb05fc49706fe42ce" /><Relationship Type="http://schemas.openxmlformats.org/officeDocument/2006/relationships/slide" Target="/ppt/slides/slide4.xml" Id="Rcf538516439348ad" /><Relationship Type="http://schemas.openxmlformats.org/officeDocument/2006/relationships/slide" Target="/ppt/slides/slide5.xml" Id="R2354c20649e745a9" /><Relationship Type="http://schemas.openxmlformats.org/officeDocument/2006/relationships/slide" Target="/ppt/slides/slide6.xml" Id="R2f0c06b880284173" /><Relationship Type="http://schemas.openxmlformats.org/officeDocument/2006/relationships/slide" Target="/ppt/slides/slide7.xml" Id="R45ab917e361c4092" /><Relationship Type="http://schemas.openxmlformats.org/officeDocument/2006/relationships/slide" Target="/ppt/slides/slide8.xml" Id="Rabf52e82944a47b3" /><Relationship Type="http://schemas.openxmlformats.org/officeDocument/2006/relationships/slide" Target="/ppt/slides/slide9.xml" Id="R8c29d547ac714417" /><Relationship Type="http://schemas.openxmlformats.org/officeDocument/2006/relationships/slide" Target="/ppt/slides/slide10.xml" Id="R10793d76a22a4901" /><Relationship Type="http://schemas.openxmlformats.org/officeDocument/2006/relationships/slide" Target="/ppt/slides/slide11.xml" Id="Rcbbd9b1145d2420d" /><Relationship Type="http://schemas.openxmlformats.org/officeDocument/2006/relationships/slide" Target="/ppt/slides/slide12.xml" Id="R77fc149f39ca4c0f" /><Relationship Type="http://schemas.openxmlformats.org/officeDocument/2006/relationships/slide" Target="/ppt/slides/slide13.xml" Id="R66dc8b3368ea4702" /><Relationship Type="http://schemas.openxmlformats.org/officeDocument/2006/relationships/slide" Target="/ppt/slides/slide14.xml" Id="R4d77c41b4c804056" /><Relationship Type="http://schemas.openxmlformats.org/officeDocument/2006/relationships/slide" Target="/ppt/slides/slide15.xml" Id="Ra90081bc043849f2" /><Relationship Type="http://schemas.openxmlformats.org/officeDocument/2006/relationships/slide" Target="/ppt/slides/slide16.xml" Id="R888a11656ba74676" /><Relationship Type="http://schemas.openxmlformats.org/officeDocument/2006/relationships/slide" Target="/ppt/slides/slide17.xml" Id="Rc5d67426a1da4966" /><Relationship Type="http://schemas.openxmlformats.org/officeDocument/2006/relationships/slide" Target="/ppt/slides/slide18.xml" Id="R315ac65a3e0744f8" /><Relationship Type="http://schemas.openxmlformats.org/officeDocument/2006/relationships/slide" Target="/ppt/slides/slide19.xml" Id="R11fe993a36e94a12" /><Relationship Type="http://schemas.openxmlformats.org/officeDocument/2006/relationships/slide" Target="/ppt/slides/slide20.xml" Id="R2da42b762ea04369" /><Relationship Type="http://schemas.openxmlformats.org/officeDocument/2006/relationships/slide" Target="/ppt/slides/slide21.xml" Id="Rb1c1e431ebb84be6" /><Relationship Type="http://schemas.openxmlformats.org/officeDocument/2006/relationships/slide" Target="/ppt/slides/slide22.xml" Id="R25108c69a57f4c72" /><Relationship Type="http://schemas.openxmlformats.org/officeDocument/2006/relationships/slide" Target="/ppt/slides/slide23.xml" Id="R22ecad1370d44c53" /><Relationship Type="http://schemas.openxmlformats.org/officeDocument/2006/relationships/slide" Target="/ppt/slides/slide24.xml" Id="Rda5731cc8810422e" /><Relationship Type="http://schemas.openxmlformats.org/officeDocument/2006/relationships/slide" Target="/ppt/slides/slide25.xml" Id="R068e414c39a54fb9" /><Relationship Type="http://schemas.openxmlformats.org/officeDocument/2006/relationships/slide" Target="/ppt/slides/slide26.xml" Id="R3f8b3f5bd1094d02" /><Relationship Type="http://schemas.openxmlformats.org/officeDocument/2006/relationships/slide" Target="/ppt/slides/slide27.xml" Id="Ra6a9cb79838d4355" /><Relationship Type="http://schemas.openxmlformats.org/officeDocument/2006/relationships/slide" Target="/ppt/slides/slide28.xml" Id="Rc499534c31114a89" /><Relationship Type="http://schemas.openxmlformats.org/officeDocument/2006/relationships/slide" Target="/ppt/slides/slide29.xml" Id="R2aaa62e356ba47af" /><Relationship Type="http://schemas.openxmlformats.org/officeDocument/2006/relationships/slide" Target="/ppt/slides/slide30.xml" Id="R10ba0f259c5d428b" /><Relationship Type="http://schemas.openxmlformats.org/officeDocument/2006/relationships/slide" Target="/ppt/slides/slide31.xml" Id="R9d72fa5e357c4fbf" /><Relationship Type="http://schemas.openxmlformats.org/officeDocument/2006/relationships/slide" Target="/ppt/slides/slide32.xml" Id="Re2c60d7eaa0b4901" /><Relationship Type="http://schemas.openxmlformats.org/officeDocument/2006/relationships/slide" Target="/ppt/slides/slide33.xml" Id="Ra44de6575f2f4dbc" /><Relationship Type="http://schemas.openxmlformats.org/officeDocument/2006/relationships/slide" Target="/ppt/slides/slide34.xml" Id="R427ed4141c63421d" /><Relationship Type="http://schemas.openxmlformats.org/officeDocument/2006/relationships/slide" Target="/ppt/slides/slide35.xml" Id="R428408689ef449d6" /><Relationship Type="http://schemas.openxmlformats.org/officeDocument/2006/relationships/slide" Target="/ppt/slides/slide36.xml" Id="R39c3356631f14f4f" /><Relationship Type="http://schemas.openxmlformats.org/officeDocument/2006/relationships/slide" Target="/ppt/slides/slide37.xml" Id="Rd91f9f84d9664b22" /><Relationship Type="http://schemas.openxmlformats.org/officeDocument/2006/relationships/slide" Target="/ppt/slides/slide38.xml" Id="R0bf01b284739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db4d388583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96f65de04b4ce1" /><Relationship Type="http://schemas.openxmlformats.org/officeDocument/2006/relationships/notesMaster" Target="/ppt/notesMasters/notesMaster1.xml" Id="R0a7a3980033e42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c3a012cf7445ec" /><Relationship Type="http://schemas.openxmlformats.org/officeDocument/2006/relationships/notesMaster" Target="/ppt/notesMasters/notesMaster1.xml" Id="Rbe02baf257d84c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6690716d545b4" /><Relationship Type="http://schemas.openxmlformats.org/officeDocument/2006/relationships/notesMaster" Target="/ppt/notesMasters/notesMaster1.xml" Id="R548e97321a4147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9bb67f050a4493" /><Relationship Type="http://schemas.openxmlformats.org/officeDocument/2006/relationships/notesMaster" Target="/ppt/notesMasters/notesMaster1.xml" Id="Re427ab889b554c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1cc1e6dd3a4441" /><Relationship Type="http://schemas.openxmlformats.org/officeDocument/2006/relationships/notesMaster" Target="/ppt/notesMasters/notesMaster1.xml" Id="R8b1e737c2bc146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28da4029984302" /><Relationship Type="http://schemas.openxmlformats.org/officeDocument/2006/relationships/notesMaster" Target="/ppt/notesMasters/notesMaster1.xml" Id="Rb6dc858d1cb243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78719f3db24daa" /><Relationship Type="http://schemas.openxmlformats.org/officeDocument/2006/relationships/notesMaster" Target="/ppt/notesMasters/notesMaster1.xml" Id="R23ad186bd77a4e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91685a1b5a479e" /><Relationship Type="http://schemas.openxmlformats.org/officeDocument/2006/relationships/notesMaster" Target="/ppt/notesMasters/notesMaster1.xml" Id="R5bd9d04cd6b24b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267877720047df" /><Relationship Type="http://schemas.openxmlformats.org/officeDocument/2006/relationships/notesMaster" Target="/ppt/notesMasters/notesMaster1.xml" Id="Rad64b0af64e24c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50489ce65a447d" /><Relationship Type="http://schemas.openxmlformats.org/officeDocument/2006/relationships/notesMaster" Target="/ppt/notesMasters/notesMaster1.xml" Id="R7762630a85d444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5f163918b44d2f" /><Relationship Type="http://schemas.openxmlformats.org/officeDocument/2006/relationships/notesMaster" Target="/ppt/notesMasters/notesMaster1.xml" Id="R37fa49fcc62540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dc671c3e1c44ac" /><Relationship Type="http://schemas.openxmlformats.org/officeDocument/2006/relationships/notesMaster" Target="/ppt/notesMasters/notesMaster1.xml" Id="R1e7924f2549a48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796f372ff2449f" /><Relationship Type="http://schemas.openxmlformats.org/officeDocument/2006/relationships/notesMaster" Target="/ppt/notesMasters/notesMaster1.xml" Id="R4eec56ee43c24c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f4523acdb5479e" /><Relationship Type="http://schemas.openxmlformats.org/officeDocument/2006/relationships/notesMaster" Target="/ppt/notesMasters/notesMaster1.xml" Id="R4a20d4ad98ee45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15208d90444f5a" /><Relationship Type="http://schemas.openxmlformats.org/officeDocument/2006/relationships/notesMaster" Target="/ppt/notesMasters/notesMaster1.xml" Id="R9402934d4f214a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a51d8c195c42cc" /><Relationship Type="http://schemas.openxmlformats.org/officeDocument/2006/relationships/notesMaster" Target="/ppt/notesMasters/notesMaster1.xml" Id="Rc1d53436abaf4f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65b088d186419e" /><Relationship Type="http://schemas.openxmlformats.org/officeDocument/2006/relationships/notesMaster" Target="/ppt/notesMasters/notesMaster1.xml" Id="Ra7af4420040e48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8657a4fe60414d" /><Relationship Type="http://schemas.openxmlformats.org/officeDocument/2006/relationships/notesMaster" Target="/ppt/notesMasters/notesMaster1.xml" Id="R3e8ae3558d5743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f7940d78b54e95" /><Relationship Type="http://schemas.openxmlformats.org/officeDocument/2006/relationships/notesMaster" Target="/ppt/notesMasters/notesMaster1.xml" Id="Ref106b3776c640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ea48dbf3814578" /><Relationship Type="http://schemas.openxmlformats.org/officeDocument/2006/relationships/notesMaster" Target="/ppt/notesMasters/notesMaster1.xml" Id="R2581b3c862b145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1d407281744222" /><Relationship Type="http://schemas.openxmlformats.org/officeDocument/2006/relationships/notesMaster" Target="/ppt/notesMasters/notesMaster1.xml" Id="Ra3dc66fb89c541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11c7dd9db24d43" /><Relationship Type="http://schemas.openxmlformats.org/officeDocument/2006/relationships/notesMaster" Target="/ppt/notesMasters/notesMaster1.xml" Id="R6b77fb6ffd8140c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d66223dc61c4018" /><Relationship Type="http://schemas.openxmlformats.org/officeDocument/2006/relationships/notesMaster" Target="/ppt/notesMasters/notesMaster1.xml" Id="R155052794dd446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c2f4bd079b4752" /><Relationship Type="http://schemas.openxmlformats.org/officeDocument/2006/relationships/notesMaster" Target="/ppt/notesMasters/notesMaster1.xml" Id="Ra6d8719e4a4541e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9a1504e0b7462c" /><Relationship Type="http://schemas.openxmlformats.org/officeDocument/2006/relationships/notesMaster" Target="/ppt/notesMasters/notesMaster1.xml" Id="R2289efdc233043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fec42d40764c59" /><Relationship Type="http://schemas.openxmlformats.org/officeDocument/2006/relationships/notesMaster" Target="/ppt/notesMasters/notesMaster1.xml" Id="Rb2132f13b45d49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24966284ec4fe4" /><Relationship Type="http://schemas.openxmlformats.org/officeDocument/2006/relationships/notesMaster" Target="/ppt/notesMasters/notesMaster1.xml" Id="R63eb79b4188a4e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5eba4952de4425" /><Relationship Type="http://schemas.openxmlformats.org/officeDocument/2006/relationships/notesMaster" Target="/ppt/notesMasters/notesMaster1.xml" Id="R758f3811c80c43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3647f286c24224" /><Relationship Type="http://schemas.openxmlformats.org/officeDocument/2006/relationships/notesMaster" Target="/ppt/notesMasters/notesMaster1.xml" Id="R28129c8800354d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e5147b9b3f41e4" /><Relationship Type="http://schemas.openxmlformats.org/officeDocument/2006/relationships/notesMaster" Target="/ppt/notesMasters/notesMaster1.xml" Id="Re04d58501388411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f7128ddf7854bbb" /><Relationship Type="http://schemas.openxmlformats.org/officeDocument/2006/relationships/notesMaster" Target="/ppt/notesMasters/notesMaster1.xml" Id="R580acd0c3db242a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c04f35f1b24350" /><Relationship Type="http://schemas.openxmlformats.org/officeDocument/2006/relationships/notesMaster" Target="/ppt/notesMasters/notesMaster1.xml" Id="R1a2dab7f7b67410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33188c89d0346d8" /><Relationship Type="http://schemas.openxmlformats.org/officeDocument/2006/relationships/notesMaster" Target="/ppt/notesMasters/notesMaster1.xml" Id="R25fdbdea4a2a4bd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e79ef5b341a46cd" /><Relationship Type="http://schemas.openxmlformats.org/officeDocument/2006/relationships/notesMaster" Target="/ppt/notesMasters/notesMaster1.xml" Id="Rb5b8ee979ec246a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17fc04ae59c442c" /><Relationship Type="http://schemas.openxmlformats.org/officeDocument/2006/relationships/notesMaster" Target="/ppt/notesMasters/notesMaster1.xml" Id="Rbe3633f711c24e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84149fcbe44128" /><Relationship Type="http://schemas.openxmlformats.org/officeDocument/2006/relationships/notesMaster" Target="/ppt/notesMasters/notesMaster1.xml" Id="R9165f9c3ba0644b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ae172e72a584f53" /><Relationship Type="http://schemas.openxmlformats.org/officeDocument/2006/relationships/notesMaster" Target="/ppt/notesMasters/notesMaster1.xml" Id="Rdb4927064c4d496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81f9ffd5704460" /><Relationship Type="http://schemas.openxmlformats.org/officeDocument/2006/relationships/notesMaster" Target="/ppt/notesMasters/notesMaster1.xml" Id="R0bc3878a1d574f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Schinese là ứng dụng học tiếng Trung cho người Việt. Sản phẩm có hai phía liên quan chặt chẽ: Admin chuẩn bị nội dung và người học sử dụng nội dung đó để luyện tập. Trong bài này, tôi theo dõi cách một yêu cầu trở thành hành vi của sản phẩm. Dự án đang phát triển, nên tôi sẽ chỉ rõ bằng chứng đã có và phạm vi kết luận của từng bằng chứng.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[Feature map](D:/schinese/specs/000a-mvp-feature-map/spec.md). Luồng trên mô tả phạm vi theo spec, không phải ảnh chụp sản phẩm hoàn chỉnh.</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**Specification Control in AI-Assisted Development**</a:t>
            </a:r>
          </a:p>
          <a:p xmlns:a="http://schemas.openxmlformats.org/drawingml/2006/main">
            <a:r>
              <a:t/>
            </a:r>
          </a:p>
          <a:p xmlns:a="http://schemas.openxmlformats.org/drawingml/2006/main">
            <a:r>
              <a:t>A case study of Schinese, a Chinese-learning web application for Vietnamese learners.</a:t>
            </a:r>
          </a:p>
          <a:p xmlns:a="http://schemas.openxmlformats.org/drawingml/2006/main">
            <a:r>
              <a:t/>
            </a:r>
          </a:p>
          <a:p xmlns:a="http://schemas.openxmlformats.org/drawingml/2006/main">
            <a:r>
              <a:t>**Product context**  </a:t>
            </a:r>
          </a:p>
          <a:p xmlns:a="http://schemas.openxmlformats.org/drawingml/2006/main">
            <a:r>
              <a:t>Administrators prepare learning content. Learners practise with video lessons, vocabulary review, and guided AI conversations.</a:t>
            </a:r>
          </a:p>
          <a:p xmlns:a="http://schemas.openxmlformats.org/drawingml/2006/main">
            <a:r>
              <a:t/>
            </a:r>
          </a:p>
          <a:p xmlns:a="http://schemas.openxmlformats.org/drawingml/2006/main">
            <a:r>
              <a:t>**Research question**  </a:t>
            </a:r>
          </a:p>
          <a:p xmlns:a="http://schemas.openxmlformats.org/drawingml/2006/main">
            <a:r>
              <a:t>How can we trace a requirement through design, implementation, and verification?</a:t>
            </a:r>
          </a:p>
          <a:p xmlns:a="http://schemas.openxmlformats.org/drawingml/2006/main">
            <a:r>
              <a:t/>
            </a:r>
          </a:p>
          <a:p xmlns:a="http://schemas.openxmlformats.org/drawingml/2006/main">
            <a:r>
              <a:t>**Scope of this presentation**  </a:t>
            </a:r>
          </a:p>
          <a:p xmlns:a="http://schemas.openxmlformats.org/drawingml/2006/main">
            <a:r>
              <a:t>An ongoing project with selected verification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Đầu tiên tôi làm rõ spec và ba tầng đúng. Sau đó tôi dùng các luồng của Schinese để giải thích tại sao việc kiểm soát trở nên khó khi nhiều feature phụ thuộc nhau. Ví dụ chính là xuất bản bài học ở F04. AI Buddy giúp mở rộng phân tích sang quota, retry và dữ liệu riêng tư. Cuối bài tôi đánh giá giới hạn của phương pháp và công việc cần tiếp tục.</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Theo đúng tám phần và thứ tự trong bảng mục lục của tài liệu này.</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**Table of Contents**</a:t>
            </a:r>
          </a:p>
          <a:p xmlns:a="http://schemas.openxmlformats.org/drawingml/2006/main">
            <a:r>
              <a:t/>
            </a:r>
          </a:p>
          <a:p xmlns:a="http://schemas.openxmlformats.org/drawingml/2006/main">
            <a:r>
              <a:t>The presentation follows Schinese requirements from definition to verification.</a:t>
            </a:r>
          </a:p>
          <a:p xmlns:a="http://schemas.openxmlformats.org/drawingml/2006/main">
            <a:r>
              <a:t/>
            </a:r>
          </a:p>
          <a:p xmlns:a="http://schemas.openxmlformats.org/drawingml/2006/main">
            <a:r>
              <a:t>| Section | What this section explains |</a:t>
            </a:r>
          </a:p>
          <a:p xmlns:a="http://schemas.openxmlformats.org/drawingml/2006/main">
            <a:r>
              <a:t>| --- | --- |</a:t>
            </a:r>
          </a:p>
          <a:p xmlns:a="http://schemas.openxmlformats.org/drawingml/2006/main">
            <a:r>
              <a:t>| 1. Understanding Specifications and Control Objectives | What a spec defines and what correctness means |</a:t>
            </a:r>
          </a:p>
          <a:p xmlns:a="http://schemas.openxmlformats.org/drawingml/2006/main">
            <a:r>
              <a:t>| 2. The Scale and Complexity of Schinese | User journeys and feature dependencies |</a:t>
            </a:r>
          </a:p>
          <a:p xmlns:a="http://schemas.openxmlformats.org/drawingml/2006/main">
            <a:r>
              <a:t>| 3. Input and Output Control | Readiness criteria and delivery gates |</a:t>
            </a:r>
          </a:p>
          <a:p xmlns:a="http://schemas.openxmlformats.org/drawingml/2006/main">
            <a:r>
              <a:t>| 4. Building Verifiable Specifications | Requirements, acceptance scenarios, and depth |</a:t>
            </a:r>
          </a:p>
          <a:p xmlns:a="http://schemas.openxmlformats.org/drawingml/2006/main">
            <a:r>
              <a:t>| 5. Architecture for Specification Enforcement | Where the system enforces each rule |</a:t>
            </a:r>
          </a:p>
          <a:p xmlns:a="http://schemas.openxmlformats.org/drawingml/2006/main">
            <a:r>
              <a:t>| 6. Traceability, Evidence, and Change Control | F04 publication rules and selected test results |</a:t>
            </a:r>
          </a:p>
          <a:p xmlns:a="http://schemas.openxmlformats.org/drawingml/2006/main">
            <a:r>
              <a:t>| 7. Limitations | AI-generated functions and algorithm changes |</a:t>
            </a:r>
          </a:p>
          <a:p xmlns:a="http://schemas.openxmlformats.org/drawingml/2006/main">
            <a:r>
              <a:t>| 8. Evaluation and Next Steps | Measurements and the implementation roadmap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Câu yêu cầu này nghe có vẻ đầy đủ vì có actor và hành động. Nhưng người học sẽ nhận được điều gì nếu lesson chưa có segment hoặc media chưa được duyệt? Khi hai Admin sửa cùng lúc, thay đổi nào có hiệu lực? Đây là các quyết định nghiệp vụ mà một yêu cầu ngắn chưa nói rõ. AI có thể chọn một cách triển khai hợp lý theo bối cảnh nó thấy. Người phát triển cần đưa những quyết định quan trọng thành điều kiện có thể kiểm tra.</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§5.1, §8.5. [F04 spec](D:/schinese/specs/F04-content-administration/spec.md). Các hậu quả trong bảng là tình huống minh họa, không phải báo cáo lỗi đã quan sát.</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**1.1. Challenges in AI-Assisted Development**</a:t>
            </a:r>
          </a:p>
          <a:p xmlns:a="http://schemas.openxmlformats.org/drawingml/2006/main">
            <a:r>
              <a:t/>
            </a:r>
          </a:p>
          <a:p xmlns:a="http://schemas.openxmlformats.org/drawingml/2006/main">
            <a:r>
              <a:t>An ambiguous requirement leaves important product decisions unresolved.</a:t>
            </a:r>
          </a:p>
          <a:p xmlns:a="http://schemas.openxmlformats.org/drawingml/2006/main">
            <a:r>
              <a:t/>
            </a:r>
          </a:p>
          <a:p xmlns:a="http://schemas.openxmlformats.org/drawingml/2006/main">
            <a:r>
              <a:t>**Initial request: “Allow administrators to publish a lesson.”**</a:t>
            </a:r>
          </a:p>
          <a:p xmlns:a="http://schemas.openxmlformats.org/drawingml/2006/main">
            <a:r>
              <a:t/>
            </a:r>
          </a:p>
          <a:p xmlns:a="http://schemas.openxmlformats.org/drawingml/2006/main">
            <a:r>
              <a:t>| Missing decision | Possible product failure |</a:t>
            </a:r>
          </a:p>
          <a:p xmlns:a="http://schemas.openxmlformats.org/drawingml/2006/main">
            <a:r>
              <a:t>| --- | --- |</a:t>
            </a:r>
          </a:p>
          <a:p xmlns:a="http://schemas.openxmlformats.org/drawingml/2006/main">
            <a:r>
              <a:t>| Must the lesson contain segments? | A learner opens an empty lesson. |</a:t>
            </a:r>
          </a:p>
          <a:p xmlns:a="http://schemas.openxmlformats.org/drawingml/2006/main">
            <a:r>
              <a:t>| Must every segment and media asset be ready? | Incomplete or unapproved content becomes available. |</a:t>
            </a:r>
          </a:p>
          <a:p xmlns:a="http://schemas.openxmlformats.org/drawingml/2006/main">
            <a:r>
              <a:t>| What happens when two admins update the lesson? | A stale change may overwrite a newer decision. |</a:t>
            </a:r>
          </a:p>
          <a:p xmlns:a="http://schemas.openxmlformats.org/drawingml/2006/main">
            <a:r>
              <a:t/>
            </a:r>
          </a:p>
          <a:p xmlns:a="http://schemas.openxmlformats.org/drawingml/2006/main">
            <a:r>
              <a:t>AI may choose an implementation for these unspecified cases. Working code alone does not demonstrate correct behavior.</a:t>
            </a:r>
          </a:p>
          <a:p xmlns:a="http://schemas.openxmlformats.org/drawingml/2006/main">
            <a:r>
              <a:t/>
            </a:r>
          </a:p>
          <a:p xmlns:a="http://schemas.openxmlformats.org/drawingml/2006/main">
            <a:r>
              <a:t>**Control requirement:** Define the conditions, rejected cases, and expected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Spec là nơi các bên thống nhất hệ thống phải làm gì và khi nào được coi là đáp ứng yêu cầu. Với Schinese, tôi không dừng ở nút Publish. Tôi xác định ai có quyền, điều kiện dữ liệu nào cần có và hệ thống phải từ chối ra sao. Những điều đó tạo cơ sở cho test. Một file Markdown chưa tự trở thành bài kiểm thử chạy được. Cần nối từng yêu cầu với phần triển khai và bằng chứng kiểm tra phù hợp.</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§5.1–5.2. [F04 FR-001/004/005](D:/schinese/specs/F04-content-administration/spec.md). Dòng rejection là diễn giải trường hợp một lesson chưa xuất bản đang được yêu cầu publish.</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**1.2. What Is a Specification?**</a:t>
            </a:r>
          </a:p>
          <a:p xmlns:a="http://schemas.openxmlformats.org/drawingml/2006/main">
            <a:r>
              <a:t/>
            </a:r>
          </a:p>
          <a:p xmlns:a="http://schemas.openxmlformats.org/drawingml/2006/main">
            <a:r>
              <a:t>A specification defines the behavior, constraints, and acceptance conditions that stakeholders agree the system must satisfy.</a:t>
            </a:r>
          </a:p>
          <a:p xmlns:a="http://schemas.openxmlformats.org/drawingml/2006/main">
            <a:r>
              <a:t/>
            </a:r>
          </a:p>
          <a:p xmlns:a="http://schemas.openxmlformats.org/drawingml/2006/main">
            <a:r>
              <a:t>| Element | Example in Schinese |</a:t>
            </a:r>
          </a:p>
          <a:p xmlns:a="http://schemas.openxmlformats.org/drawingml/2006/main">
            <a:r>
              <a:t>| --- | --- |</a:t>
            </a:r>
          </a:p>
          <a:p xmlns:a="http://schemas.openxmlformats.org/drawingml/2006/main">
            <a:r>
              <a:t>| Actor | An authorized administrator |</a:t>
            </a:r>
          </a:p>
          <a:p xmlns:a="http://schemas.openxmlformats.org/drawingml/2006/main">
            <a:r>
              <a:t>| Action | Publish a Free lesson |</a:t>
            </a:r>
          </a:p>
          <a:p xmlns:a="http://schemas.openxmlformats.org/drawingml/2006/main">
            <a:r>
              <a:t>| Preconditions | Published topic, at least one segment, all segments published, all referenced media approved |</a:t>
            </a:r>
          </a:p>
          <a:p xmlns:a="http://schemas.openxmlformats.org/drawingml/2006/main">
            <a:r>
              <a:t>| Expected result | The lesson becomes published when all conditions hold |</a:t>
            </a:r>
          </a:p>
          <a:p xmlns:a="http://schemas.openxmlformats.org/drawingml/2006/main">
            <a:r>
              <a:t>| Rejection behavior | Invalid conditions leave the lesson unpublished |</a:t>
            </a:r>
          </a:p>
          <a:p xmlns:a="http://schemas.openxmlformats.org/drawingml/2006/main">
            <a:r>
              <a:t>| Acceptance evidence | Scenarios and tests for accepted and rejected publication |</a:t>
            </a:r>
          </a:p>
          <a:p xmlns:a="http://schemas.openxmlformats.org/drawingml/2006/main">
            <a:r>
              <a:t/>
            </a:r>
          </a:p>
          <a:p xmlns:a="http://schemas.openxmlformats.org/drawingml/2006/main">
            <a:r>
              <a:t>A feature specification connects user intent to design and verification. Detailed API and data contracts can live in linked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Ở tầng thứ nhất, tôi hỏi sản phẩm có giải quyết đúng nhu cầu học không. Ở tầng thứ hai, tôi kiểm tra code có thực hiện đúng các điều kiện đã thống nhất không. Tầng thứ ba xem điều gì xảy ra khi nhiều người thao tác hoặc hệ thống phụ thuộc bị lỗi. Một unit test xuất bản không trả lời được cả ba tầng. Trong bài này, kết quả nào thuộc tầng nào sẽ được ghi rõ, để tránh dùng một bằng chứng hẹp cho kết luận quá rộng.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§8.5. Khung ba tầng là cách tổng hợp cho bài bảo vệ, không phải thang chuẩn được đo sẵn.</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**1.3. Three Levels of Correctness**</a:t>
            </a:r>
          </a:p>
          <a:p xmlns:a="http://schemas.openxmlformats.org/drawingml/2006/main">
            <a:r>
              <a:t/>
            </a:r>
          </a:p>
          <a:p xmlns:a="http://schemas.openxmlformats.org/drawingml/2006/main">
            <a:r>
              <a:t>A reliable conclusion about product quality requires evidence at more than one level.</a:t>
            </a:r>
          </a:p>
          <a:p xmlns:a="http://schemas.openxmlformats.org/drawingml/2006/main">
            <a:r>
              <a:t/>
            </a:r>
          </a:p>
          <a:p xmlns:a="http://schemas.openxmlformats.org/drawingml/2006/main">
            <a:r>
              <a:t>| Level | Schinese question | Required evidence |</a:t>
            </a:r>
          </a:p>
          <a:p xmlns:a="http://schemas.openxmlformats.org/drawingml/2006/main">
            <a:r>
              <a:t>| --- | --- | --- |</a:t>
            </a:r>
          </a:p>
          <a:p xmlns:a="http://schemas.openxmlformats.org/drawingml/2006/main">
            <a:r>
              <a:t>| Correct need | Can learners find suitable content and practise effectively? | User feedback and domain review |</a:t>
            </a:r>
          </a:p>
          <a:p xmlns:a="http://schemas.openxmlformats.org/drawingml/2006/main">
            <a:r>
              <a:t>| Correct implementation | Does publication reject missing segments and unapproved media? | Requirement-based review and tests |</a:t>
            </a:r>
          </a:p>
          <a:p xmlns:a="http://schemas.openxmlformats.org/drawingml/2006/main">
            <a:r>
              <a:t>| Correct operation | Do access and data rules hold during concurrent changes or provider failure? | Integration, concurrency, and operational checks |</a:t>
            </a:r>
          </a:p>
          <a:p xmlns:a="http://schemas.openxmlformats.org/drawingml/2006/main">
            <a:r>
              <a:t/>
            </a:r>
          </a:p>
          <a:p xmlns:a="http://schemas.openxmlformats.org/drawingml/2006/main">
            <a:r>
              <a:t>A passing publication test supports a defined behavior. It does not measure learning effectiveness or prove the whole product is reliable.</a:t>
            </a:r>
          </a:p>
          <a:p xmlns:a="http://schemas.openxmlformats.org/drawingml/2006/main">
            <a:r>
              <a:t/>
            </a:r>
          </a:p>
          <a:p xmlns:a="http://schemas.openxmlformats.org/drawingml/2006/main">
            <a:r>
              <a:t>**Current focus:** Traceable implementation and selected verification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Người học bắt đầu bằng việc tìm một bài phù hợp. Trong player, họ nghe và luyện dictation. Shadowing dùng màn hình riêng để ghi âm theo nội dung đã chọn. Từ mới có thể đi vào kho cá nhân và lịch ôn. AI Buddy hỗ trợ hội thoại có định hướng. Để những luồng này hoạt động, Admin phải chuẩn bị nội dung và hệ thống phải quản lý tài khoản, quyền, quota. Đây là phạm vi theo spec, không phải tuyên bố rằng tất cả feature đã hoàn thành.</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[MVP feature map](D:/schinese/specs/000a-mvp-feature-map/spec.md), F04–F11. F12 có bản Draft riêng và được bàn ở phần giới hạn bằng chứng.</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**2.1. Schinese Product Scope**</a:t>
            </a:r>
          </a:p>
          <a:p xmlns:a="http://schemas.openxmlformats.org/drawingml/2006/main">
            <a:r>
              <a:t/>
            </a:r>
          </a:p>
          <a:p xmlns:a="http://schemas.openxmlformats.org/drawingml/2006/main">
            <a:r>
              <a:t>Schinese turns curated Chinese content into practice activities for Vietnamese learners.</a:t>
            </a:r>
          </a:p>
          <a:p xmlns:a="http://schemas.openxmlformats.org/drawingml/2006/main">
            <a:r>
              <a:t/>
            </a:r>
          </a:p>
          <a:p xmlns:a="http://schemas.openxmlformats.org/drawingml/2006/main">
            <a:r>
              <a:t>| User journey | Product behavior | Feature |</a:t>
            </a:r>
          </a:p>
          <a:p xmlns:a="http://schemas.openxmlformats.org/drawingml/2006/main">
            <a:r>
              <a:t>| --- | --- | --- |</a:t>
            </a:r>
          </a:p>
          <a:p xmlns:a="http://schemas.openxmlformats.org/drawingml/2006/main">
            <a:r>
              <a:t>| Prepare content | Admin organizes topics, lessons, segments, and approved YouTube references | F04 |</a:t>
            </a:r>
          </a:p>
          <a:p xmlns:a="http://schemas.openxmlformats.org/drawingml/2006/main">
            <a:r>
              <a:t>| Find and study | A visitor browses eligible Free lessons; a learner keeps personal progress | F05–F06 |</a:t>
            </a:r>
          </a:p>
          <a:p xmlns:a="http://schemas.openxmlformats.org/drawingml/2006/main">
            <a:r>
              <a:t>| Practise listening and speaking | Dictation runs inside the player; shadowing opens a dedicated practice screen | F07–F08 |</a:t>
            </a:r>
          </a:p>
          <a:p xmlns:a="http://schemas.openxmlformats.org/drawingml/2006/main">
            <a:r>
              <a:t>| Build vocabulary | A learner saves words and reviews them on a schedule | F09–F10 |</a:t>
            </a:r>
          </a:p>
          <a:p xmlns:a="http://schemas.openxmlformats.org/drawingml/2006/main">
            <a:r>
              <a:t>| Practise conversation | AI Buddy supports guided, private Chinese-learning activities | F11 |</a:t>
            </a:r>
          </a:p>
          <a:p xmlns:a="http://schemas.openxmlformats.org/drawingml/2006/main">
            <a:r>
              <a:t/>
            </a:r>
          </a:p>
          <a:p xmlns:a="http://schemas.openxmlformats.org/drawingml/2006/main">
            <a:r>
              <a:t>**Supporting features:** Identity, profile preferences, and Free AI allowance (F01–F03).</a:t>
            </a:r>
          </a:p>
          <a:p xmlns:a="http://schemas.openxmlformats.org/drawingml/2006/main">
            <a:r>
              <a:t/>
            </a:r>
          </a:p>
          <a:p xmlns:a="http://schemas.openxmlformats.org/drawingml/2006/main">
            <a:r>
              <a:t>**Scope status:** Planned product behavior. Paid Premium activation is deferred in the MVP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Các feature không đứng độc lập. F04 xác định nội dung đủ điều kiện, F05 quyết định nội dung xuất hiện trong catalog và F06 mở bài cho learner. Khi một media bị thu hồi vì an toàn, cả chuỗi phải giữ cùng một quy tắc. AI Buddy cũng phụ thuộc F01 và F03. Quy mô tôi thể hiện ở đây là số quan hệ cần đồng bộ và phạm vi ảnh hưởng khi thay đổi. Chưa có dữ liệu tải để kết luận dự án phục vụ bao nhiêu người dùng đồng thời.</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[Feature inventory và delivery boundaries](D:/schinese/specs/000a-mvp-feature-map/spec.md). Sơ đồ rút gọn có chủ đích, không liệt kê mọi dependency.</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**2.2. Feature Dependencies**</a:t>
            </a:r>
          </a:p>
          <a:p xmlns:a="http://schemas.openxmlformats.org/drawingml/2006/main">
            <a:r>
              <a:t/>
            </a:r>
          </a:p>
          <a:p xmlns:a="http://schemas.openxmlformats.org/drawingml/2006/main">
            <a:r>
              <a:t>Shared rules connect content preparation, learning access, and private learner activities.</a:t>
            </a:r>
          </a:p>
          <a:p xmlns:a="http://schemas.openxmlformats.org/drawingml/2006/main">
            <a:r>
              <a:t/>
            </a:r>
          </a:p>
          <a:p xmlns:a="http://schemas.openxmlformats.org/drawingml/2006/main">
            <a:r>
              <a:t>| Dependency chain | Why it matters |</a:t>
            </a:r>
          </a:p>
          <a:p xmlns:a="http://schemas.openxmlformats.org/drawingml/2006/main">
            <a:r>
              <a:t>| --- | --- |</a:t>
            </a:r>
          </a:p>
          <a:p xmlns:a="http://schemas.openxmlformats.org/drawingml/2006/main">
            <a:r>
              <a:t>| F01 identity + F03 allowance support F11 AI Buddy | A reply requires an authenticated owner and an available allowance. |</a:t>
            </a:r>
          </a:p>
          <a:p xmlns:a="http://schemas.openxmlformats.org/drawingml/2006/main">
            <a:r>
              <a:t>| F03 access + F04 content support F05 catalog | Only eligible, published Free content belongs in the MVP catalog. |</a:t>
            </a:r>
          </a:p>
          <a:p xmlns:a="http://schemas.openxmlformats.org/drawingml/2006/main">
            <a:r>
              <a:t>| F01 + F05 support F06 learning and progress | A signed-in learner resumes an accessible lesson. |</a:t>
            </a:r>
          </a:p>
          <a:p xmlns:a="http://schemas.openxmlformats.org/drawingml/2006/main">
            <a:r>
              <a:t>| F06 provides lesson context for F07 and F08 | Practice must stay linked to the selected lesson and segment. |</a:t>
            </a:r>
          </a:p>
          <a:p xmlns:a="http://schemas.openxmlformats.org/drawingml/2006/main">
            <a:r>
              <a:t>| F09 saved vocabulary supports F10 review | Scheduling depends on words that belong to the learner. |</a:t>
            </a:r>
          </a:p>
          <a:p xmlns:a="http://schemas.openxmlformats.org/drawingml/2006/main">
            <a:r>
              <a:t/>
            </a:r>
          </a:p>
          <a:p xmlns:a="http://schemas.openxmlformats.org/drawingml/2006/main">
            <a:r>
              <a:t>**Example impact:** Withdrawing unsafe media affects publication, catalog visibility, and lesson access.</a:t>
            </a:r>
          </a:p>
          <a:p xmlns:a="http://schemas.openxmlformats.org/drawingml/2006/main">
            <a:r>
              <a:t/>
            </a:r>
          </a:p>
          <a:p xmlns:a="http://schemas.openxmlformats.org/drawingml/2006/main">
            <a:r>
              <a:t>Selected dependencies only. No production-scale load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Người học chỉ thấy một ô nhập và một câu trả lời. Nhưng backend phải xác nhận conversation thuộc learner, nội dung phù hợp và còn allowance. Nếu người dùng bấm gửi lại vì mạng chậm, hệ thống vẫn phải nhận ra cùng một yêu cầu logic. Provider có thể lỗi sau khi quota đã được giữ chỗ. Khi đó cần trả kết quả an toàn và hoàn đúng một lần. Điểm khó là giữ những điều này khi yêu cầu diễn ra đồng thời, chứ không chỉ trong một lần chạy thuận lợi.</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[F11 spec](D:/schinese/specs/F11-ai-learning-buddy/spec.md), đặc biệt FR-003/004/007/009/015. Message mẫu là minh họa.</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**2.3. Complexity Behind One AI Buddy Message**</a:t>
            </a:r>
          </a:p>
          <a:p xmlns:a="http://schemas.openxmlformats.org/drawingml/2006/main">
            <a:r>
              <a:t/>
            </a:r>
          </a:p>
          <a:p xmlns:a="http://schemas.openxmlformats.org/drawingml/2006/main">
            <a:r>
              <a:t>A learner expects one useful reply. The system must coordinate ownership, allowance, retries, and failures.</a:t>
            </a:r>
          </a:p>
          <a:p xmlns:a="http://schemas.openxmlformats.org/drawingml/2006/main">
            <a:r>
              <a:t/>
            </a:r>
          </a:p>
          <a:p xmlns:a="http://schemas.openxmlformats.org/drawingml/2006/main">
            <a:r>
              <a:t>**Illustrative request:** “Help me practise greeting someone in Chinese.”</a:t>
            </a:r>
          </a:p>
          <a:p xmlns:a="http://schemas.openxmlformats.org/drawingml/2006/main">
            <a:r>
              <a:t/>
            </a:r>
          </a:p>
          <a:p xmlns:a="http://schemas.openxmlformats.org/drawingml/2006/main">
            <a:r>
              <a:t>| Situation | Required behavior |</a:t>
            </a:r>
          </a:p>
          <a:p xmlns:a="http://schemas.openxmlformats.org/drawingml/2006/main">
            <a:r>
              <a:t>| --- | --- |</a:t>
            </a:r>
          </a:p>
          <a:p xmlns:a="http://schemas.openxmlformats.org/drawingml/2006/main">
            <a:r>
              <a:t>| Valid message in the learner's active conversation | Return a valid reply and consume one allowance unit |</a:t>
            </a:r>
          </a:p>
          <a:p xmlns:a="http://schemas.openxmlformats.org/drawingml/2006/main">
            <a:r>
              <a:t>| Another user's conversation | Reject access |</a:t>
            </a:r>
          </a:p>
          <a:p xmlns:a="http://schemas.openxmlformats.org/drawingml/2006/main">
            <a:r>
              <a:t>| No remaining allowance | Stop before provider processing |</a:t>
            </a:r>
          </a:p>
          <a:p xmlns:a="http://schemas.openxmlformats.org/drawingml/2006/main">
            <a:r>
              <a:t>| Same logical message sent again | Prevent a second charge and duplicate reply |</a:t>
            </a:r>
          </a:p>
          <a:p xmlns:a="http://schemas.openxmlformats.org/drawingml/2006/main">
            <a:r>
              <a:t>| Provider timeout or invalid output | Return a safe final result and restore reserved allowance exactly once |</a:t>
            </a:r>
          </a:p>
          <a:p xmlns:a="http://schemas.openxmlformats.org/drawingml/2006/main">
            <a:r>
              <a:t/>
            </a:r>
          </a:p>
          <a:p xmlns:a="http://schemas.openxmlformats.org/drawingml/2006/main">
            <a:r>
              <a:t>**Hard case:** Concurrent retries must preserve these rules while sharing the original request's deadline.</a:t>
            </a:r>
          </a:p>
          <a:p xmlns:a="http://schemas.openxmlformats.org/drawingml/2006/main">
            <a:r>
              <a:t/>
            </a:r>
          </a:p>
          <a:p xmlns:a="http://schemas.openxmlformats.org/drawingml/2006/main">
            <a:r>
              <a:t>Design requirements from F11, not a completed E2E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Đầu vào cho AI không chỉ là câu lệnh ‘hãy làm feature này’. Nó cần biết giá trị người dùng muốn nhận, ranh giới MVP và những hợp đồng có sẵn. Nếu không cung cấp quyết định chỉ nhận YouTube, AI có thể thiết kế một luồng upload khác với phạm vi đã chọn. Tôi xem các điểm chưa rõ là một phần của đầu vào cần xử lý. Sau bước này, người triển khai cần biết phiên bản yêu cầu nào có hiệu lực và các quyết định nào đã được chốt.</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[F04 spec](D:/schinese/specs/F04-content-administration/spec.md), [Constitution](D:/schinese/CONSTITUTION.md), [API contract](D:/schinese/API.md), [MVP data contract](D:/schinese/DATA_short.md).</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**3.1. Controlling Development Inputs**</a:t>
            </a:r>
          </a:p>
          <a:p xmlns:a="http://schemas.openxmlformats.org/drawingml/2006/main">
            <a:r>
              <a:t/>
            </a:r>
          </a:p>
          <a:p xmlns:a="http://schemas.openxmlformats.org/drawingml/2006/main">
            <a:r>
              <a:t>Implementation depends on the quality and consistency of the context supplied to the developer or AI agent.</a:t>
            </a:r>
          </a:p>
          <a:p xmlns:a="http://schemas.openxmlformats.org/drawingml/2006/main">
            <a:r>
              <a:t/>
            </a:r>
          </a:p>
          <a:p xmlns:a="http://schemas.openxmlformats.org/drawingml/2006/main">
            <a:r>
              <a:t>**For F04 content administration, the input package includes:**</a:t>
            </a:r>
          </a:p>
          <a:p xmlns:a="http://schemas.openxmlformats.org/drawingml/2006/main">
            <a:r>
              <a:t/>
            </a:r>
          </a:p>
          <a:p xmlns:a="http://schemas.openxmlformats.org/drawingml/2006/main">
            <a:r>
              <a:t>1. **User outcome:** Administrators can prepare and publish eligible Chinese-learning content.</a:t>
            </a:r>
          </a:p>
          <a:p xmlns:a="http://schemas.openxmlformats.org/drawingml/2006/main">
            <a:r>
              <a:t>2. **Scope:** MVP lessons use Free access and supported YouTube video references.</a:t>
            </a:r>
          </a:p>
          <a:p xmlns:a="http://schemas.openxmlformats.org/drawingml/2006/main">
            <a:r>
              <a:t>3. **Authority:** The backend enforces ADMIN permissions and publication conditions.</a:t>
            </a:r>
          </a:p>
          <a:p xmlns:a="http://schemas.openxmlformats.org/drawingml/2006/main">
            <a:r>
              <a:t>4. **Existing contracts:** API responses, canonical data definitions, and lifecycle states.</a:t>
            </a:r>
          </a:p>
          <a:p xmlns:a="http://schemas.openxmlformats.org/drawingml/2006/main">
            <a:r>
              <a:t>5. **Open decisions:** Behavior when content changes, media is withdrawn, or an update uses an old version.</a:t>
            </a:r>
          </a:p>
          <a:p xmlns:a="http://schemas.openxmlformats.org/drawingml/2006/main">
            <a:r>
              <a:t/>
            </a:r>
          </a:p>
          <a:p xmlns:a="http://schemas.openxmlformats.org/drawingml/2006/main">
            <a:r>
              <a:t>**Expected output of this stage:** A versioned feature definition with resolved critical decisions.</a:t>
            </a:r>
          </a:p>
          <a:p xmlns:a="http://schemas.openxmlformats.org/drawingml/2006/main">
            <a:r>
              <a:t/>
            </a:r>
          </a:p>
          <a:p xmlns:a="http://schemas.openxmlformats.org/drawingml/2006/main">
            <a:r>
              <a:t>These are development inputs. Runtime request validation is covered in section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Để review spec, tôi cần hỏi nó đã giải quyết các quyết định ảnh hưởng trực tiếp tới sản phẩm chưa. Ví dụ feature map ghi rõ MVP chỉ Free khi chưa có billing tự động. Điều này chốt hành vi của nhiều feature, không chỉ trang giới thiệu gói. Một checklist đầy đủ giúp review có hệ thống nhưng không tự chứng minh đã có phê duyệt nghiệp vụ. Vì vậy tôi còn cần chủ sở hữu, phiên bản và dấu vết review. Trạng thái Draft phải được đối chiếu với quy trình phê duyệt thực tế.</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[MVP map, Clarifications](D:/schinese/specs/000a-mvp-feature-map/spec.md), [F04 requirements checklist](D:/schinese/specs/F04-content-administration/checklists/requirements.md). Các câu hỏi readiness là tiêu chí review đề xuất theo quy tắc dự án.</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**3.2. Specification Readiness Criteria**</a:t>
            </a:r>
          </a:p>
          <a:p xmlns:a="http://schemas.openxmlformats.org/drawingml/2006/main">
            <a:r>
              <a:t/>
            </a:r>
          </a:p>
          <a:p xmlns:a="http://schemas.openxmlformats.org/drawingml/2006/main">
            <a:r>
              <a:t>A feature is ready to implement when its important decisions and acceptance conditions are clear.</a:t>
            </a:r>
          </a:p>
          <a:p xmlns:a="http://schemas.openxmlformats.org/drawingml/2006/main">
            <a:r>
              <a:t/>
            </a:r>
          </a:p>
          <a:p xmlns:a="http://schemas.openxmlformats.org/drawingml/2006/main">
            <a:r>
              <a:t>**Readiness questions**</a:t>
            </a:r>
          </a:p>
          <a:p xmlns:a="http://schemas.openxmlformats.org/drawingml/2006/main">
            <a:r>
              <a:t/>
            </a:r>
          </a:p>
          <a:p xmlns:a="http://schemas.openxmlformats.org/drawingml/2006/main">
            <a:r>
              <a:t>- Who owns the requirement and reviews changes?</a:t>
            </a:r>
          </a:p>
          <a:p xmlns:a="http://schemas.openxmlformats.org/drawingml/2006/main">
            <a:r>
              <a:t>- Are actors, permissions, scope, and exclusions explicit?</a:t>
            </a:r>
          </a:p>
          <a:p xmlns:a="http://schemas.openxmlformats.org/drawingml/2006/main">
            <a:r>
              <a:t>- Are failure cases and acceptance scenarios defined?</a:t>
            </a:r>
          </a:p>
          <a:p xmlns:a="http://schemas.openxmlformats.org/drawingml/2006/main">
            <a:r>
              <a:t>- Does the feature agree with architecture, API, and data contracts?</a:t>
            </a:r>
          </a:p>
          <a:p xmlns:a="http://schemas.openxmlformats.org/drawingml/2006/main">
            <a:r>
              <a:t>- Are dependencies and the effective specification version known?</a:t>
            </a:r>
          </a:p>
          <a:p xmlns:a="http://schemas.openxmlformats.org/drawingml/2006/main">
            <a:r>
              <a:t/>
            </a:r>
          </a:p>
          <a:p xmlns:a="http://schemas.openxmlformats.org/drawingml/2006/main">
            <a:r>
              <a:t>**Recorded Schinese clarification**  </a:t>
            </a:r>
          </a:p>
          <a:p xmlns:a="http://schemas.openxmlformats.org/drawingml/2006/main">
            <a:r>
              <a:t>How can learners receive Premium when automated billing is outside the MVP?</a:t>
            </a:r>
          </a:p>
          <a:p xmlns:a="http://schemas.openxmlformats.org/drawingml/2006/main">
            <a:r>
              <a:t/>
            </a:r>
          </a:p>
          <a:p xmlns:a="http://schemas.openxmlformats.org/drawingml/2006/main">
            <a:r>
              <a:t>**Decision**  </a:t>
            </a:r>
          </a:p>
          <a:p xmlns:a="http://schemas.openxmlformats.org/drawingml/2006/main">
            <a:r>
              <a:t>The MVP provides Free access. Paid Premium activation and upgrade journeys remain deferred.</a:t>
            </a:r>
          </a:p>
          <a:p xmlns:a="http://schemas.openxmlformats.org/drawingml/2006/main">
            <a:r>
              <a:t/>
            </a:r>
          </a:p>
          <a:p xmlns:a="http://schemas.openxmlformats.org/drawingml/2006/main">
            <a:r>
              <a:t>**Effect**  </a:t>
            </a:r>
          </a:p>
          <a:p xmlns:a="http://schemas.openxmlformats.org/drawingml/2006/main">
            <a:r>
              <a:t>Catalog behavior, content access, and allowance rules must follow the same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Mỗi bước phải tạo được một đầu ra đủ để bước sau làm việc. Plan cần giải thích cách thực thi yêu cầu. Task cần có phần triển khai và kiểm chứng. Code cần giữ hợp đồng, còn nghiệm thu cần kết quả chạy có thể xem lại. Với F04, nhìn thấy nút Publish không cho biết backend đã kiểm tra media hay version chưa. Quality gate là điều kiện để chấp nhận chuyển bước. Việc viết gate trong tài liệu chưa đồng nghĩa hệ thống CI đã tự động chặn mọi vi phạm.</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[Constitution Điều 5 và 7](D:/schinese/CONSTITUTION.md), sách §7.3 và §13.3. Bảng mô tả mô hình áp dụng, không xác nhận toàn bộ gate đã tự động hóa.</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**3.3. Controlling Development Outputs**</a:t>
            </a:r>
          </a:p>
          <a:p xmlns:a="http://schemas.openxmlformats.org/drawingml/2006/main">
            <a:r>
              <a:t/>
            </a:r>
          </a:p>
          <a:p xmlns:a="http://schemas.openxmlformats.org/drawingml/2006/main">
            <a:r>
              <a:t>Every handoff should produce an artifact that the next stage can inspect and use.</a:t>
            </a:r>
          </a:p>
          <a:p xmlns:a="http://schemas.openxmlformats.org/drawingml/2006/main">
            <a:r>
              <a:t/>
            </a:r>
          </a:p>
          <a:p xmlns:a="http://schemas.openxmlformats.org/drawingml/2006/main">
            <a:r>
              <a:t>| Handoff | Expected output | Review condition |</a:t>
            </a:r>
          </a:p>
          <a:p xmlns:a="http://schemas.openxmlformats.org/drawingml/2006/main">
            <a:r>
              <a:t>| --- | --- | --- |</a:t>
            </a:r>
          </a:p>
          <a:p xmlns:a="http://schemas.openxmlformats.org/drawingml/2006/main">
            <a:r>
              <a:t>| Specification to design | Plan, data model, and API contract | Required behavior has a feasible design within project boundaries |</a:t>
            </a:r>
          </a:p>
          <a:p xmlns:a="http://schemas.openxmlformats.org/drawingml/2006/main">
            <a:r>
              <a:t>| Design to tasks | Dependency-ordered implementation and verification tasks | Each task has a clear purpose and expected result |</a:t>
            </a:r>
          </a:p>
          <a:p xmlns:a="http://schemas.openxmlformats.org/drawingml/2006/main">
            <a:r>
              <a:t>| Tasks to code | Source changes and related contract updates | Review finds the required logic and no unintended scope change |</a:t>
            </a:r>
          </a:p>
          <a:p xmlns:a="http://schemas.openxmlformats.org/drawingml/2006/main">
            <a:r>
              <a:t>| Code to acceptance | Test results and reproducible scenarios | Evidence supports the agreed acceptance conditions |</a:t>
            </a:r>
          </a:p>
          <a:p xmlns:a="http://schemas.openxmlformats.org/drawingml/2006/main">
            <a:r>
              <a:t/>
            </a:r>
          </a:p>
          <a:p xmlns:a="http://schemas.openxmlformats.org/drawingml/2006/main">
            <a:r>
              <a:t>**F04 example:** A publish button is only one output. Publication rules, safe errors, and rejected scenarios also require implementation and verification.</a:t>
            </a:r>
          </a:p>
          <a:p xmlns:a="http://schemas.openxmlformats.org/drawingml/2006/main">
            <a:r>
              <a:t/>
            </a:r>
          </a:p>
          <a:p xmlns:a="http://schemas.openxmlformats.org/drawingml/2006/main">
            <a:r>
              <a:t>Automation of blocking gates remains a proposed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dùng thang này để báo cáo từng yêu cầu. Một yêu cầu có thể đã có spec nhưng chưa có code. Một yêu cầu khác đã có test pass nhưng chưa được chạy với database thật. Vì vậy mức độ kiểm soát không nên được suy từ số tài liệu hoặc số ô task đã tick. Ở F04, một số điều kiện xuất bản đã có ánh xạ và unit test. Tôi sẽ trình bày kết quả đó, đồng thời giữ nguyên ranh giới với catalog, concurrency và hiệu quả học tập.</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Khung báo cáo đề xuất. [F04 tasks](D:/schinese/specs/F04-content-administration/tasks.md) và kết quả chọn lọc tại slide 22.</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**3.4. Levels of Verification Evidence**</a:t>
            </a:r>
          </a:p>
          <a:p xmlns:a="http://schemas.openxmlformats.org/drawingml/2006/main">
            <a:r>
              <a:t/>
            </a:r>
          </a:p>
          <a:p xmlns:a="http://schemas.openxmlformats.org/drawingml/2006/main">
            <a:r>
              <a:t>The strength of a claim depends on the evidence available for that specific requirement.</a:t>
            </a:r>
          </a:p>
          <a:p xmlns:a="http://schemas.openxmlformats.org/drawingml/2006/main">
            <a:r>
              <a:t/>
            </a:r>
          </a:p>
          <a:p xmlns:a="http://schemas.openxmlformats.org/drawingml/2006/main">
            <a:r>
              <a:t>1. **Specified:** The requirement and acceptance conditions exist.</a:t>
            </a:r>
          </a:p>
          <a:p xmlns:a="http://schemas.openxmlformats.org/drawingml/2006/main">
            <a:r>
              <a:t>2. **Mapped:** The requirement connects to design, tasks, and implementation.</a:t>
            </a:r>
          </a:p>
          <a:p xmlns:a="http://schemas.openxmlformats.org/drawingml/2006/main">
            <a:r>
              <a:t>3. **Tested:** Relevant tests ran on an identified version and produced recorded results.</a:t>
            </a:r>
          </a:p>
          <a:p xmlns:a="http://schemas.openxmlformats.org/drawingml/2006/main">
            <a:r>
              <a:t>4. **Integrated:** API, database, and user-journey checks verify interactions.</a:t>
            </a:r>
          </a:p>
          <a:p xmlns:a="http://schemas.openxmlformats.org/drawingml/2006/main">
            <a:r>
              <a:t>5. **Evaluated in use:** User or operational evidence supports product outcomes.</a:t>
            </a:r>
          </a:p>
          <a:p xmlns:a="http://schemas.openxmlformats.org/drawingml/2006/main">
            <a:r>
              <a:t/>
            </a:r>
          </a:p>
          <a:p xmlns:a="http://schemas.openxmlformats.org/drawingml/2006/main">
            <a:r>
              <a:t>**Schinese evidence example**  </a:t>
            </a:r>
          </a:p>
          <a:p xmlns:a="http://schemas.openxmlformats.org/drawingml/2006/main">
            <a:r>
              <a:t>Selected F04 publication checks have source mappings and passing unit tests.</a:t>
            </a:r>
          </a:p>
          <a:p xmlns:a="http://schemas.openxmlformats.org/drawingml/2006/main">
            <a:r>
              <a:t/>
            </a:r>
          </a:p>
          <a:p xmlns:a="http://schemas.openxmlformats.org/drawingml/2006/main">
            <a:r>
              <a:t>**Remaining boundary**  </a:t>
            </a:r>
          </a:p>
          <a:p xmlns:a="http://schemas.openxmlformats.org/drawingml/2006/main">
            <a:r>
              <a:t>Those results alone do not establish catalog integration, concurrent database behavior, or learning effectiveness.</a:t>
            </a:r>
          </a:p>
          <a:p xmlns:a="http://schemas.openxmlformats.org/drawingml/2006/main">
            <a:r>
              <a:t/>
            </a:r>
          </a:p>
          <a:p xmlns:a="http://schemas.openxmlformats.org/drawingml/2006/main">
            <a:r>
              <a:t>This is a proposed reporting framework, not a measured maturity score for the entire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Bộ tài liệu này phân công vai trò cho từng nguồn. Khi cần hiểu yêu cầu xuất bản, tôi đọc spec. Khi cần biết API và cách xử lý version, tôi đọc contract và plan. Khi cần biết schema MVP, tôi dùng DATA_short. Constitution là ràng buộc cấp dự án. Cách phân lớp giúp giảm việc nhét mọi chi tiết vào một file, nhưng kéo theo yêu cầu kiểm tra tính nhất quán. Cần chỉ rõ nguồn có thẩm quyền khi hai tài liệu nói khác nhau.</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[Root Constitution](D:/schinese/CONSTITUTION.md), [Spec Kit Constitution](D:/schinese/.specify/memory/constitution.md), [Backend Constitution](D:/schinese/backend/CONSTITUTION.md), thư mục [F04 spec](D:/schinese/specs/F04-content-administration/spec.md).</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**4.1. Specification Structure**</a:t>
            </a:r>
          </a:p>
          <a:p xmlns:a="http://schemas.openxmlformats.org/drawingml/2006/main">
            <a:r>
              <a:t/>
            </a:r>
          </a:p>
          <a:p xmlns:a="http://schemas.openxmlformats.org/drawingml/2006/main">
            <a:r>
              <a:t>Schinese separates project rules, feature behavior, design decisions, and verification instructions.</a:t>
            </a:r>
          </a:p>
          <a:p xmlns:a="http://schemas.openxmlformats.org/drawingml/2006/main">
            <a:r>
              <a:t/>
            </a:r>
          </a:p>
          <a:p xmlns:a="http://schemas.openxmlformats.org/drawingml/2006/main">
            <a:r>
              <a:t>| Document layer | Purpose | F04 example |</a:t>
            </a:r>
          </a:p>
          <a:p xmlns:a="http://schemas.openxmlformats.org/drawingml/2006/main">
            <a:r>
              <a:t>| --- | --- | --- |</a:t>
            </a:r>
          </a:p>
          <a:p xmlns:a="http://schemas.openxmlformats.org/drawingml/2006/main">
            <a:r>
              <a:t>| CONSTITUTION.md | Binding project constraints | Backend authority and required review |</a:t>
            </a:r>
          </a:p>
          <a:p xmlns:a="http://schemas.openxmlformats.org/drawingml/2006/main">
            <a:r>
              <a:t>| AGENT.md, CLAUDE.md | Development context and architecture | Module responsibilities and implementation boundaries |</a:t>
            </a:r>
          </a:p>
          <a:p xmlns:a="http://schemas.openxmlformats.org/drawingml/2006/main">
            <a:r>
              <a:t>| API.md, DATA_short.md | Shared API and MVP data contracts | Response conventions and canonical data |</a:t>
            </a:r>
          </a:p>
          <a:p xmlns:a="http://schemas.openxmlformats.org/drawingml/2006/main">
            <a:r>
              <a:t>| MVP feature map | Scope and dependencies | Content administration supplies learning content |</a:t>
            </a:r>
          </a:p>
          <a:p xmlns:a="http://schemas.openxmlformats.org/drawingml/2006/main">
            <a:r>
              <a:t>| spec.md | User behavior and acceptance | Conditions for lesson publication |</a:t>
            </a:r>
          </a:p>
          <a:p xmlns:a="http://schemas.openxmlformats.org/drawingml/2006/main">
            <a:r>
              <a:t>| plan, data-model, contracts | Technical design | State rules, version checks, and request/response shapes |</a:t>
            </a:r>
          </a:p>
          <a:p xmlns:a="http://schemas.openxmlformats.org/drawingml/2006/main">
            <a:r>
              <a:t>| tasks.md, quickstart.md | Execution and verification | T025 and publication validation scenarios |</a:t>
            </a:r>
          </a:p>
          <a:p xmlns:a="http://schemas.openxmlformats.org/drawingml/2006/main">
            <a:r>
              <a:t/>
            </a:r>
          </a:p>
          <a:p xmlns:a="http://schemas.openxmlformats.org/drawingml/2006/main">
            <a:r>
              <a:t>The root Constitution governs conflicts. DATA.md describes future data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Mỗi feature đi qua một vòng từ phạm vi đến kiểm chứng. Khi phát hiện thiếu điều kiện xuất bản, tôi cần xác định thiếu ở spec, plan hay code rồi cập nhật phần tương ứng. Sau đó thêm công việc có thể truy vết và chạy kiểm tra phù hợp. Quy trình này cho phép học từ triển khai thực tế. Việc chạy một lệnh tạo spec hoặc tasks chưa chứng minh các đầu ra nhất quán. Người review vẫn phải kiểm tra quyết định và kết quả.</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§6, §7.2–7.3, §8.2. [F04 Convergence](D:/schinese/specs/F04-content-administration/tasks.md:71).</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**4.2. Specification Development Workflow**</a:t>
            </a:r>
          </a:p>
          <a:p xmlns:a="http://schemas.openxmlformats.org/drawingml/2006/main">
            <a:r>
              <a:t/>
            </a:r>
          </a:p>
          <a:p xmlns:a="http://schemas.openxmlformats.org/drawingml/2006/main">
            <a:r>
              <a:t>Each feature moves through a reviewable cycle with explicit outputs and feedback.</a:t>
            </a:r>
          </a:p>
          <a:p xmlns:a="http://schemas.openxmlformats.org/drawingml/2006/main">
            <a:r>
              <a:t/>
            </a:r>
          </a:p>
          <a:p xmlns:a="http://schemas.openxmlformats.org/drawingml/2006/main">
            <a:r>
              <a:t>| Stage | Work performed | Concrete output |</a:t>
            </a:r>
          </a:p>
          <a:p xmlns:a="http://schemas.openxmlformats.org/drawingml/2006/main">
            <a:r>
              <a:t>| --- | --- | --- |</a:t>
            </a:r>
          </a:p>
          <a:p xmlns:a="http://schemas.openxmlformats.org/drawingml/2006/main">
            <a:r>
              <a:t>| Discover and scope | Inspect the product and existing contracts | Feature boundary and dependencies |</a:t>
            </a:r>
          </a:p>
          <a:p xmlns:a="http://schemas.openxmlformats.org/drawingml/2006/main">
            <a:r>
              <a:t>| Specify and clarify | Define behavior and resolve missing decisions | Requirements and acceptance scenarios |</a:t>
            </a:r>
          </a:p>
          <a:p xmlns:a="http://schemas.openxmlformats.org/drawingml/2006/main">
            <a:r>
              <a:t>| Design and plan | Select components and preserve project rules | Plan, data model, API contract |</a:t>
            </a:r>
          </a:p>
          <a:p xmlns:a="http://schemas.openxmlformats.org/drawingml/2006/main">
            <a:r>
              <a:t>| Break down and analyze | Organize tasks and check consistency | Implementation and verification tasks |</a:t>
            </a:r>
          </a:p>
          <a:p xmlns:a="http://schemas.openxmlformats.org/drawingml/2006/main">
            <a:r>
              <a:t>| Implement and verify | Build the feature and test its behavior | Code, results, and recorded gaps |</a:t>
            </a:r>
          </a:p>
          <a:p xmlns:a="http://schemas.openxmlformats.org/drawingml/2006/main">
            <a:r>
              <a:t/>
            </a:r>
          </a:p>
          <a:p xmlns:a="http://schemas.openxmlformats.org/drawingml/2006/main">
            <a:r>
              <a:t>**F04 feedback loop:** A missing publication condition becomes a traceable task, followed by a code change and a targeted test.</a:t>
            </a:r>
          </a:p>
          <a:p xmlns:a="http://schemas.openxmlformats.org/drawingml/2006/main">
            <a:r>
              <a:t/>
            </a:r>
          </a:p>
          <a:p xmlns:a="http://schemas.openxmlformats.org/drawingml/2006/main">
            <a:r>
              <a:t>Requirements can change through a versioned, reviewed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bắt đầu với một câu rất ngắn rồi làm rõ các quyết định còn thiếu. Điều kiện 'mọi segment' khác hoàn toàn 'có ít nhất một segment'. FREE là giới hạn MVP. ARCHIVED là trạng thái kết thúc nên không được publish lại. Các yêu cầu này không bắt AI viết đúng một tên hàm cụ thể, nhưng ràng buộc hành vi mà code phải giữ. Đây là bản tổng hợp để giải thích cách viết yêu cầu, không phải bản diff lịch sử của một lần sửa spec.</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[F04 spec](D:/schinese/specs/F04-content-administration/spec.md), FR-001/003/004/005/007. Sách §5.3 về câu yêu cầu có cấu trúc.</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**4.3. Writing Testable Requirements**</a:t>
            </a:r>
          </a:p>
          <a:p xmlns:a="http://schemas.openxmlformats.org/drawingml/2006/main">
            <a:r>
              <a:t/>
            </a:r>
          </a:p>
          <a:p xmlns:a="http://schemas.openxmlformats.org/drawingml/2006/main">
            <a:r>
              <a:t>A useful requirement identifies the trigger, preconditions, expected behavior, and rejection conditions.</a:t>
            </a:r>
          </a:p>
          <a:p xmlns:a="http://schemas.openxmlformats.org/drawingml/2006/main">
            <a:r>
              <a:t/>
            </a:r>
          </a:p>
          <a:p xmlns:a="http://schemas.openxmlformats.org/drawingml/2006/main">
            <a:r>
              <a:t>**Initial request**  </a:t>
            </a:r>
          </a:p>
          <a:p xmlns:a="http://schemas.openxmlformats.org/drawingml/2006/main">
            <a:r>
              <a:t>“An administrator can publish a lesson.”</a:t>
            </a:r>
          </a:p>
          <a:p xmlns:a="http://schemas.openxmlformats.org/drawingml/2006/main">
            <a:r>
              <a:t/>
            </a:r>
          </a:p>
          <a:p xmlns:a="http://schemas.openxmlformats.org/drawingml/2006/main">
            <a:r>
              <a:t>**Refined requirement**  </a:t>
            </a:r>
          </a:p>
          <a:p xmlns:a="http://schemas.openxmlformats.org/drawingml/2006/main">
            <a:r>
              <a:t>When an authorized administrator requests publication using the current version, the system shall publish the lesson only if all publication conditions hold.</a:t>
            </a:r>
          </a:p>
          <a:p xmlns:a="http://schemas.openxmlformats.org/drawingml/2006/main">
            <a:r>
              <a:t/>
            </a:r>
          </a:p>
          <a:p xmlns:a="http://schemas.openxmlformats.org/drawingml/2006/main">
            <a:r>
              <a:t>**Publication conditions in F04**</a:t>
            </a:r>
          </a:p>
          <a:p xmlns:a="http://schemas.openxmlformats.org/drawingml/2006/main">
            <a:r>
              <a:t/>
            </a:r>
          </a:p>
          <a:p xmlns:a="http://schemas.openxmlformats.org/drawingml/2006/main">
            <a:r>
              <a:t>- The parent topic is PUBLISHED.</a:t>
            </a:r>
          </a:p>
          <a:p xmlns:a="http://schemas.openxmlformats.org/drawingml/2006/main">
            <a:r>
              <a:t>- The lesson has FREE access and at least one segment.</a:t>
            </a:r>
          </a:p>
          <a:p xmlns:a="http://schemas.openxmlformats.org/drawingml/2006/main">
            <a:r>
              <a:t>- Every segment is PUBLISHED.</a:t>
            </a:r>
          </a:p>
          <a:p xmlns:a="http://schemas.openxmlformats.org/drawingml/2006/main">
            <a:r>
              <a:t>- Every referenced media asset is APPROVED.</a:t>
            </a:r>
          </a:p>
          <a:p xmlns:a="http://schemas.openxmlformats.org/drawingml/2006/main">
            <a:r>
              <a:t>- The lesson is not ARCHIVED.</a:t>
            </a:r>
          </a:p>
          <a:p xmlns:a="http://schemas.openxmlformats.org/drawingml/2006/main">
            <a:r>
              <a:t/>
            </a:r>
          </a:p>
          <a:p xmlns:a="http://schemas.openxmlformats.org/drawingml/2006/main">
            <a:r>
              <a:t>**Failure behavior**  </a:t>
            </a:r>
          </a:p>
          <a:p xmlns:a="http://schemas.openxmlformats.org/drawingml/2006/main">
            <a:r>
              <a:t>Reject invalid publication or a stale version without applying the requested state change.</a:t>
            </a:r>
          </a:p>
          <a:p xmlns:a="http://schemas.openxmlformats.org/drawingml/2006/main">
            <a:r>
              <a:t/>
            </a:r>
          </a:p>
          <a:p xmlns:a="http://schemas.openxmlformats.org/drawingml/2006/main">
            <a:r>
              <a:t>Presentation synthesis of FR-001, FR-003, FR-004, FR-005, and FR-007.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Bảng này mô tả cách nghiệm thu mà một người khác có thể tái hiện. Given xác định dữ liệu ban đầu, When là thao tác và Then là kết quả phải quan sát. Tôi quan tâm cả kết quả thành công lẫn việc trạng thái không bị thay đổi khi bị từ chối. Ba hàng đầu có case tương ứng trong bộ unit test đã chạy. Với media và version, cần kiểm tra từng case ở tầng thích hợp, đặc biệt response của API. Không được suy từ một test pass rằng mọi trường hợp trong bảng đã đạt.</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[F04 spec](D:/schinese/specs/F04-content-administration/spec.md), [quickstart](D:/schinese/specs/F04-content-administration/quickstart.md), [Publication unit tests](D:/schinese/backend/src/test/java/net/pchinese/content/ContentPublicationServiceTest.java).</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**4.4. Defining Acceptance Scenarios**</a:t>
            </a:r>
          </a:p>
          <a:p xmlns:a="http://schemas.openxmlformats.org/drawingml/2006/main">
            <a:r>
              <a:t/>
            </a:r>
          </a:p>
          <a:p xmlns:a="http://schemas.openxmlformats.org/drawingml/2006/main">
            <a:r>
              <a:t>Acceptance scenarios turn publication rules into observable checks.</a:t>
            </a:r>
          </a:p>
          <a:p xmlns:a="http://schemas.openxmlformats.org/drawingml/2006/main">
            <a:r>
              <a:t/>
            </a:r>
          </a:p>
          <a:p xmlns:a="http://schemas.openxmlformats.org/drawingml/2006/main">
            <a:r>
              <a:t>| Given | When | Then |</a:t>
            </a:r>
          </a:p>
          <a:p xmlns:a="http://schemas.openxmlformats.org/drawingml/2006/main">
            <a:r>
              <a:t>| --- | --- | --- |</a:t>
            </a:r>
          </a:p>
          <a:p xmlns:a="http://schemas.openxmlformats.org/drawingml/2006/main">
            <a:r>
              <a:t>| A draft Free lesson meets every publication condition | An admin publishes with the current version | The lesson becomes PUBLISHED |</a:t>
            </a:r>
          </a:p>
          <a:p xmlns:a="http://schemas.openxmlformats.org/drawingml/2006/main">
            <a:r>
              <a:t>| A draft lesson has no segments | An admin requests publication | Reject and preserve its state |</a:t>
            </a:r>
          </a:p>
          <a:p xmlns:a="http://schemas.openxmlformats.org/drawingml/2006/main">
            <a:r>
              <a:t>| One associated segment remains DRAFT | An admin requests publication | Reject and preserve the lesson state |</a:t>
            </a:r>
          </a:p>
          <a:p xmlns:a="http://schemas.openxmlformats.org/drawingml/2006/main">
            <a:r>
              <a:t>| A referenced media asset is not APPROVED | An admin requests publication | Reject and preserve the lesson state |</a:t>
            </a:r>
          </a:p>
          <a:p xmlns:a="http://schemas.openxmlformats.org/drawingml/2006/main">
            <a:r>
              <a:t>| The request contains an old version | An admin requests an update | Return a conflict and require a reload |</a:t>
            </a:r>
          </a:p>
          <a:p xmlns:a="http://schemas.openxmlformats.org/drawingml/2006/main">
            <a:r>
              <a:t/>
            </a:r>
          </a:p>
          <a:p xmlns:a="http://schemas.openxmlformats.org/drawingml/2006/main">
            <a:r>
              <a:t>**Evidence boundary:** The selected unit suite exercises the first three scenarios. Media approval and API conflict behavior require additional case-level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Mức đặc tả phải tương xứng với rủi ro. Hàm định dạng thời gian có thể kiểm tra bằng vài ví dụ rõ ràng. Nhưng một thay đổi quyền hoặc quota dù chỉ vài dòng code có thể ảnh hưởng dữ liệu và chi phí. Với những luồng đó, tôi cần trạng thái, tính bất biến và tình huống đồng thời. Sách dùng tên Formal cho mức đặc tả cao. Trong bài này tôi không tuyên bố đã áp dụng chứng minh hình thức chỉ vì có sơ đồ trạng thái.</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§5.4, §13.2 và §13.6. Các ví dụ Schinese là phân loại áp dụng đề xuất.</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**4.5. Specification Depth Based on Risk**</a:t>
            </a:r>
          </a:p>
          <a:p xmlns:a="http://schemas.openxmlformats.org/drawingml/2006/main">
            <a:r>
              <a:t/>
            </a:r>
          </a:p>
          <a:p xmlns:a="http://schemas.openxmlformats.org/drawingml/2006/main">
            <a:r>
              <a:t>The required depth depends on failure impact and the complexity of the behavior.</a:t>
            </a:r>
          </a:p>
          <a:p xmlns:a="http://schemas.openxmlformats.org/drawingml/2006/main">
            <a:r>
              <a:t/>
            </a:r>
          </a:p>
          <a:p xmlns:a="http://schemas.openxmlformats.org/drawingml/2006/main">
            <a:r>
              <a:t>| Depth | Schinese example | What to define |</a:t>
            </a:r>
          </a:p>
          <a:p xmlns:a="http://schemas.openxmlformats.org/drawingml/2006/main">
            <a:r>
              <a:t>| --- | --- | --- |</a:t>
            </a:r>
          </a:p>
          <a:p xmlns:a="http://schemas.openxmlformats.org/drawingml/2006/main">
            <a:r>
              <a:t>| Sketch | Format a practice duration for display | Inputs, outputs, and representative examples |</a:t>
            </a:r>
          </a:p>
          <a:p xmlns:a="http://schemas.openxmlformats.org/drawingml/2006/main">
            <a:r>
              <a:t>| Detailed | Update profile preferences or filter a list | Validation, states, errors, and acceptance scenarios |</a:t>
            </a:r>
          </a:p>
          <a:p xmlns:a="http://schemas.openxmlformats.org/drawingml/2006/main">
            <a:r>
              <a:t>| Detailed with explicit states and invariants | Account permissions, AI allowance, lesson publication | Allowed transitions, concurrency rules, ownership, and recovery behavior |</a:t>
            </a:r>
          </a:p>
          <a:p xmlns:a="http://schemas.openxmlformats.org/drawingml/2006/main">
            <a:r>
              <a:t/>
            </a:r>
          </a:p>
          <a:p xmlns:a="http://schemas.openxmlformats.org/drawingml/2006/main">
            <a:r>
              <a:t>**Selection questions**</a:t>
            </a:r>
          </a:p>
          <a:p xmlns:a="http://schemas.openxmlformats.org/drawingml/2006/main">
            <a:r>
              <a:t/>
            </a:r>
          </a:p>
          <a:p xmlns:a="http://schemas.openxmlformats.org/drawingml/2006/main">
            <a:r>
              <a:t>- What happens to the learner or data if this is wrong?</a:t>
            </a:r>
          </a:p>
          <a:p xmlns:a="http://schemas.openxmlformats.org/drawingml/2006/main">
            <a:r>
              <a:t>- How many branches and state changes must remain consistent?</a:t>
            </a:r>
          </a:p>
          <a:p xmlns:a="http://schemas.openxmlformats.org/drawingml/2006/main">
            <a:r>
              <a:t>- Which other features depend on the decision?</a:t>
            </a:r>
          </a:p>
          <a:p xmlns:a="http://schemas.openxmlformats.org/drawingml/2006/main">
            <a:r>
              <a:t/>
            </a:r>
          </a:p>
          <a:p xmlns:a="http://schemas.openxmlformats.org/drawingml/2006/main">
            <a:r>
              <a:t>A state diagram improves precision. It does not by itself constitute formal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Điểm chính của sơ đồ là đường đi của dữ liệu và quyền quyết định. React hiển thị trải nghiệm, nhưng Spring kiểm tra quyền và nghiệp vụ trước khi ghi dữ liệu sản phẩm. PostgreSQL giữ trạng thái dùng chung. Với AI Buddy, Spring gửi bối cảnh tối thiểu qua hợp đồng nội bộ, ai-service điều phối model và trả kết quả có cấu trúc. Video đi qua embedded player của YouTube theo mã đã được kiểm soát. Kiến trúc này đang được triển khai theo feature, nên sơ đồ mô tả hợp đồng thiết kế, không chứng minh mọi đường đi đã nghiệm thu.</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[CLAUDE.md, kiến trúc và AI boundary](D:/schinese/CLAUDE.md:180), [Constitution Điều 1](D:/schinese/CONSTITUTION.md:7). Chú thích thành phần và kết nối được rút gọn từ tài liệu dự án.</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**5.1. System Architecture**</a:t>
            </a:r>
          </a:p>
          <a:p xmlns:a="http://schemas.openxmlformats.org/drawingml/2006/main">
            <a:r>
              <a:t/>
            </a:r>
          </a:p>
          <a:p xmlns:a="http://schemas.openxmlformats.org/drawingml/2006/main">
            <a:r>
              <a:t>Schinese uses a React interface, a Spring Boot backend, PostgreSQL, and a private AI supporting service.</a:t>
            </a:r>
          </a:p>
          <a:p xmlns:a="http://schemas.openxmlformats.org/drawingml/2006/main">
            <a:r>
              <a:t/>
            </a:r>
          </a:p>
          <a:p xmlns:a="http://schemas.openxmlformats.org/drawingml/2006/main">
            <a:r>
              <a:t>**Component responsibilities**</a:t>
            </a:r>
          </a:p>
          <a:p xmlns:a="http://schemas.openxmlformats.org/drawingml/2006/main">
            <a:r>
              <a:t/>
            </a:r>
          </a:p>
          <a:p xmlns:a="http://schemas.openxmlformats.org/drawingml/2006/main">
            <a:r>
              <a:t>| Component | Responsibility |</a:t>
            </a:r>
          </a:p>
          <a:p xmlns:a="http://schemas.openxmlformats.org/drawingml/2006/main">
            <a:r>
              <a:t>| --- | --- |</a:t>
            </a:r>
          </a:p>
          <a:p xmlns:a="http://schemas.openxmlformats.org/drawingml/2006/main">
            <a:r>
              <a:t>| React SPA | Admin screens, lesson player, learner interactions |</a:t>
            </a:r>
          </a:p>
          <a:p xmlns:a="http://schemas.openxmlformats.org/drawingml/2006/main">
            <a:r>
              <a:t>| Spring Boot | Authorization, publication rules, progress, allowance, persistence |</a:t>
            </a:r>
          </a:p>
          <a:p xmlns:a="http://schemas.openxmlformats.org/drawingml/2006/main">
            <a:r>
              <a:t>| PostgreSQL | Product records and transactional state |</a:t>
            </a:r>
          </a:p>
          <a:p xmlns:a="http://schemas.openxmlformats.org/drawingml/2006/main">
            <a:r>
              <a:t>| Private ai-service | AI prompts, orchestration, and structured responses |</a:t>
            </a:r>
          </a:p>
          <a:p xmlns:a="http://schemas.openxmlformats.org/drawingml/2006/main">
            <a:r>
              <a:t>| YouTube | Embedded playback using approved video references |</a:t>
            </a:r>
          </a:p>
          <a:p xmlns:a="http://schemas.openxmlformats.org/drawingml/2006/main">
            <a:r>
              <a:t/>
            </a:r>
          </a:p>
          <a:p xmlns:a="http://schemas.openxmlformats.org/drawingml/2006/main">
            <a:r>
              <a:t>**Connections to show in the diagram**</a:t>
            </a:r>
          </a:p>
          <a:p xmlns:a="http://schemas.openxmlformats.org/drawingml/2006/main">
            <a:r>
              <a:t/>
            </a:r>
          </a:p>
          <a:p xmlns:a="http://schemas.openxmlformats.org/drawingml/2006/main">
            <a:r>
              <a:t>- React calls the public Spring Boot API.</a:t>
            </a:r>
          </a:p>
          <a:p xmlns:a="http://schemas.openxmlformats.org/drawingml/2006/main">
            <a:r>
              <a:t>- Spring Boot reads and writes product data through JPA.</a:t>
            </a:r>
          </a:p>
          <a:p xmlns:a="http://schemas.openxmlformats.org/drawingml/2006/main">
            <a:r>
              <a:t>- Spring Boot calls ai-service through an authenticated private contract.</a:t>
            </a:r>
          </a:p>
          <a:p xmlns:a="http://schemas.openxmlformats.org/drawingml/2006/main">
            <a:r>
              <a:t>- ai-service calls the AI provider.</a:t>
            </a:r>
          </a:p>
          <a:p xmlns:a="http://schemas.openxmlformats.org/drawingml/2006/main">
            <a:r>
              <a:t>- The browser plays YouTube content using the approved video ID.</a:t>
            </a:r>
          </a:p>
          <a:p xmlns:a="http://schemas.openxmlformats.org/drawingml/2006/main">
            <a:r>
              <a:t/>
            </a:r>
          </a:p>
          <a:p xmlns:a="http://schemas.openxmlformats.org/drawingml/2006/main">
            <a:r>
              <a:t>Architecture defined by project contracts. Feature delivery remains in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Ẩn một nút trên giao diện chỉ giúp trải nghiệm dễ hiểu, người gọi vẫn có thể gửi request trực tiếp. Vì vậy quyền và ownership phải được kiểm tra ở backend. Quota cũng cần trạng thái chung và cơ chế dữ liệu phù hợp để xử lý các yêu cầu đồng thời. ai-service có thể sinh nội dung, nhưng không quyết định learner có quyền hay còn hạn mức. Việc chọn modular monolith trong tài liệu dự án giúp các quy tắc có giao dịch liên quan ở gần nhau và giảm số ranh giới triển khai phải vận hành.</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[ADR-001](D:/schinese/CLAUDE.md:390), [ADR-005](D:/schinese/CLAUDE.md:420), [Backend Constitution](D:/schinese/backend/CONSTITUTION.md). Bảng nêu trách nhiệm theo thiết kế, không thay thế kiểm thử enforcement.</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**5.2. Responsibility and Enforcement Boundaries**</a:t>
            </a:r>
          </a:p>
          <a:p xmlns:a="http://schemas.openxmlformats.org/drawingml/2006/main">
            <a:r>
              <a:t/>
            </a:r>
          </a:p>
          <a:p xmlns:a="http://schemas.openxmlformats.org/drawingml/2006/main">
            <a:r>
              <a:t>The backend is responsible for decisions that depend on identity, shared state, and product rules.</a:t>
            </a:r>
          </a:p>
          <a:p xmlns:a="http://schemas.openxmlformats.org/drawingml/2006/main">
            <a:r>
              <a:t/>
            </a:r>
          </a:p>
          <a:p xmlns:a="http://schemas.openxmlformats.org/drawingml/2006/main">
            <a:r>
              <a:t>| Rule | Enforcement owner | Product example |</a:t>
            </a:r>
          </a:p>
          <a:p xmlns:a="http://schemas.openxmlformats.org/drawingml/2006/main">
            <a:r>
              <a:t>| --- | --- | --- |</a:t>
            </a:r>
          </a:p>
          <a:p xmlns:a="http://schemas.openxmlformats.org/drawingml/2006/main">
            <a:r>
              <a:t>| ADMIN and resource ownership | Backend services | Learners cannot publish content or read another user's chat |</a:t>
            </a:r>
          </a:p>
          <a:p xmlns:a="http://schemas.openxmlformats.org/drawingml/2006/main">
            <a:r>
              <a:t>| Publication prerequisites | Content services | A lesson requires published segments and approved media |</a:t>
            </a:r>
          </a:p>
          <a:p xmlns:a="http://schemas.openxmlformats.org/drawingml/2006/main">
            <a:r>
              <a:t>| Allowance and logical retries | Backend with transaction and data safeguards | One eligible message must not consume quota twice |</a:t>
            </a:r>
          </a:p>
          <a:p xmlns:a="http://schemas.openxmlformats.org/drawingml/2006/main">
            <a:r>
              <a:t>| AI response generation | ai-service | Produce a reply for the selected learning activity |</a:t>
            </a:r>
          </a:p>
          <a:p xmlns:a="http://schemas.openxmlformats.org/drawingml/2006/main">
            <a:r>
              <a:t>| Output acceptance and persistence | Backend, with service-side validation | Reject an invalid AI result before saving it |</a:t>
            </a:r>
          </a:p>
          <a:p xmlns:a="http://schemas.openxmlformats.org/drawingml/2006/main">
            <a:r>
              <a:t>| Loading, errors, and recovery | React using backend responses | Explain a conflict and let the admin reload |</a:t>
            </a:r>
          </a:p>
          <a:p xmlns:a="http://schemas.openxmlformats.org/drawingml/2006/main">
            <a:r>
              <a:t/>
            </a:r>
          </a:p>
          <a:p xmlns:a="http://schemas.openxmlformats.org/drawingml/2006/main">
            <a:r>
              <a:t>**Architecture rationale:** Keep related business decisions within the modular backend and isolate provider orchestration behind a private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Trước khi gọi provider, hệ thống phải nhận ra learner, conversation và yêu cầu logic. Một retry không trở thành lượt mới. Sau kiểm tra nội dung, backend mới giữ chỗ quota và gửi bối cảnh cần thiết. Đầu ra cũng phải qua kiểm tra trước khi lưu. Bốn con số trên là giới hạn F11 đã quy định. Chúng cần được kiểm chứng riêng. Đặc biệt, đúng JSON schema chưa cho biết câu trả lời tiếng Trung có chính xác hay phù hợp với trình độ. Phần nội dung cần bộ đánh giá khác với kiểm tra kích thước và deadline.</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[F11 spec](D:/schinese/specs/F11-ai-learning-buddy/spec.md), FR-003/004/007/008/009/012/013/014/015; [F11 plan](D:/schinese/specs/F11-ai-learning-buddy/plan.md). Deadline là yêu cầu cho xử lý hệ thống trong phạm vi đặc tả, không bảo đảm mọi thiết bị nhận được phản hồi khi mất kết nối.</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**5.3. AI Input and Output Control**</a:t>
            </a:r>
          </a:p>
          <a:p xmlns:a="http://schemas.openxmlformats.org/drawingml/2006/main">
            <a:r>
              <a:t/>
            </a:r>
          </a:p>
          <a:p xmlns:a="http://schemas.openxmlformats.org/drawingml/2006/main">
            <a:r>
              <a:t>F11 defines a bounded learning conversation with checks before provider work and before persistence.</a:t>
            </a:r>
          </a:p>
          <a:p xmlns:a="http://schemas.openxmlformats.org/drawingml/2006/main">
            <a:r>
              <a:t/>
            </a:r>
          </a:p>
          <a:p xmlns:a="http://schemas.openxmlformats.org/drawingml/2006/main">
            <a:r>
              <a:t>| Stage | Required control |</a:t>
            </a:r>
          </a:p>
          <a:p xmlns:a="http://schemas.openxmlformats.org/drawingml/2006/main">
            <a:r>
              <a:t>| --- | --- |</a:t>
            </a:r>
          </a:p>
          <a:p xmlns:a="http://schemas.openxmlformats.org/drawingml/2006/main">
            <a:r>
              <a:t>| Receive | Validate identity, conversation ownership, logical retry, and rate limit |</a:t>
            </a:r>
          </a:p>
          <a:p xmlns:a="http://schemas.openxmlformats.org/drawingml/2006/main">
            <a:r>
              <a:t>| Check input | Allow plain text within the selected Chinese-learning activity |</a:t>
            </a:r>
          </a:p>
          <a:p xmlns:a="http://schemas.openxmlformats.org/drawingml/2006/main">
            <a:r>
              <a:t>| Reserve and dispatch | Reserve allowance once and send only the permitted context through the private contract |</a:t>
            </a:r>
          </a:p>
          <a:p xmlns:a="http://schemas.openxmlformats.org/drawingml/2006/main">
            <a:r>
              <a:t>| Validate output | Check structure and content before accepting the response |</a:t>
            </a:r>
          </a:p>
          <a:p xmlns:a="http://schemas.openxmlformats.org/drawingml/2006/main">
            <a:r>
              <a:t>| Complete | Save a valid message pair or return a safe failure with exactly-once allowance restoration |</a:t>
            </a:r>
          </a:p>
          <a:p xmlns:a="http://schemas.openxmlformats.org/drawingml/2006/main">
            <a:r>
              <a:t/>
            </a:r>
          </a:p>
          <a:p xmlns:a="http://schemas.openxmlformats.org/drawingml/2006/main">
            <a:r>
              <a:t>**Limits defined in the spec**</a:t>
            </a:r>
          </a:p>
          <a:p xmlns:a="http://schemas.openxmlformats.org/drawingml/2006/main">
            <a:r>
              <a:t/>
            </a:r>
          </a:p>
          <a:p xmlns:a="http://schemas.openxmlformats.org/drawingml/2006/main">
            <a:r>
              <a:t>- At most 1,000 characters per learner message.</a:t>
            </a:r>
          </a:p>
          <a:p xmlns:a="http://schemas.openxmlformats.org/drawingml/2006/main">
            <a:r>
              <a:t>- At most 10 completed prior messages from the same conversation.</a:t>
            </a:r>
          </a:p>
          <a:p xmlns:a="http://schemas.openxmlformats.org/drawingml/2006/main">
            <a:r>
              <a:t>- Five send attempts per rolling minute. Logical retries do not add an attempt.</a:t>
            </a:r>
          </a:p>
          <a:p xmlns:a="http://schemas.openxmlformats.org/drawingml/2006/main">
            <a:r>
              <a:t>- A terminal result within the original 30-second deadline.</a:t>
            </a:r>
          </a:p>
          <a:p xmlns:a="http://schemas.openxmlformats.org/drawingml/2006/main">
            <a:r>
              <a:t/>
            </a:r>
          </a:p>
          <a:p xmlns:a="http://schemas.openxmlformats.org/drawingml/2006/main">
            <a:r>
              <a:t>Required reply: Chinese response, concise Vietnamese explanation, and at most one practice suggestion.</a:t>
            </a:r>
          </a:p>
          <a:p xmlns:a="http://schemas.openxmlformats.org/drawingml/2006/main">
            <a:r>
              <a:t/>
            </a:r>
          </a:p>
          <a:p xmlns:a="http://schemas.openxmlformats.org/drawingml/2006/main">
            <a:r>
              <a:t>These are design requirements, not measured production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chọn điều kiện nhỏ nhưng có ý nghĩa rõ: bài học phải có ít nhất một segment. FR-004 ghi điều kiện này, T025 yêu cầu triển khai, publishLesson kiểm tra danh sách segment và test mong đợi lỗi khi danh sách rỗng. Như vậy reviewer có thể đi từ ý định tới bằng chứng. Phần này không có nghĩa toàn bộ FR-004 đã được chứng minh, vì yêu cầu còn liên quan việc hiển thị nội dung trong catalog. Tôi chỉ kết luận đúng phần đã đối chiếu và chạy test.</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[FR-004](D:/schinese/specs/F04-content-administration/spec.md:160), [T025](D:/schinese/specs/F04-content-administration/tasks.md:77), [publishLesson](D:/schinese/backend/src/main/java/net/pchinese/content/application/ContentPublicationService.java:143), [test no segments](D:/schinese/backend/src/test/java/net/pchinese/content/ContentPublicationServiceTest.java:44). Kết quả chạy lịch sử ở slide 22.</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**6.1. Requirement-to-Code Traceability**</a:t>
            </a:r>
          </a:p>
          <a:p xmlns:a="http://schemas.openxmlformats.org/drawingml/2006/main">
            <a:r>
              <a:t/>
            </a:r>
          </a:p>
          <a:p xmlns:a="http://schemas.openxmlformats.org/drawingml/2006/main">
            <a:r>
              <a:t>F04 provides a concrete trace for the publication condition “a lesson must contain at least one segment.”</a:t>
            </a:r>
          </a:p>
          <a:p xmlns:a="http://schemas.openxmlformats.org/drawingml/2006/main">
            <a:r>
              <a:t/>
            </a:r>
          </a:p>
          <a:p xmlns:a="http://schemas.openxmlformats.org/drawingml/2006/main">
            <a:r>
              <a:t>| Evidence point | What it shows |</a:t>
            </a:r>
          </a:p>
          <a:p xmlns:a="http://schemas.openxmlformats.org/drawingml/2006/main">
            <a:r>
              <a:t>| --- | --- |</a:t>
            </a:r>
          </a:p>
          <a:p xmlns:a="http://schemas.openxmlformats.org/drawingml/2006/main">
            <a:r>
              <a:t>| F04 FR-004 | Publication requires at least one segment, with all segments published and media approved |</a:t>
            </a:r>
          </a:p>
          <a:p xmlns:a="http://schemas.openxmlformats.org/drawingml/2006/main">
            <a:r>
              <a:t>| Task T025 | The implementation must enforce the complete publication prerequisites |</a:t>
            </a:r>
          </a:p>
          <a:p xmlns:a="http://schemas.openxmlformats.org/drawingml/2006/main">
            <a:r>
              <a:t>| ContentPublicationService.publishLesson() | Rejects an empty segment list and checks every associated segment |</a:t>
            </a:r>
          </a:p>
          <a:p xmlns:a="http://schemas.openxmlformats.org/drawingml/2006/main">
            <a:r>
              <a:t>| Unit scenario: no segments | Expects a StateConflictException |</a:t>
            </a:r>
          </a:p>
          <a:p xmlns:a="http://schemas.openxmlformats.org/drawingml/2006/main">
            <a:r>
              <a:t>| Recorded test run | The selected publication suite passed five test cases |</a:t>
            </a:r>
          </a:p>
          <a:p xmlns:a="http://schemas.openxmlformats.org/drawingml/2006/main">
            <a:r>
              <a:t/>
            </a:r>
          </a:p>
          <a:p xmlns:a="http://schemas.openxmlformats.org/drawingml/2006/main">
            <a:r>
              <a:t>**Why this matters**  </a:t>
            </a:r>
          </a:p>
          <a:p xmlns:a="http://schemas.openxmlformats.org/drawingml/2006/main">
            <a:r>
              <a:t>A reviewer can explain which requirement a guard implements and which scenario tests it.</a:t>
            </a:r>
          </a:p>
          <a:p xmlns:a="http://schemas.openxmlformats.org/drawingml/2006/main">
            <a:r>
              <a:t/>
            </a:r>
          </a:p>
          <a:p xmlns:a="http://schemas.openxmlformats.org/drawingml/2006/main">
            <a:r>
              <a:t>**Scope boundary**  </a:t>
            </a:r>
          </a:p>
          <a:p xmlns:a="http://schemas.openxmlformats.org/drawingml/2006/main">
            <a:r>
              <a:t>This trace covers selected publication behavior. Catalog visibility and database concurrency need additional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đã có một lần chạy chọn lọc gồm 15 unit test. Năm test nội dung kiểm tra một số điều kiện xuất bản và lifecycle. Hai test media có nhiều đầu vào chuẩn hóa hoặc từ chối. Tám test quota kiểm tra reserve, retry và refund trong phạm vi unit. Những test service dùng mock repository nên chưa chứng minh lock hay giao dịch trên database thật. Đây là bằng chứng của working tree tại thời điểm ghi trên slide. Nếu mã nguồn thay đổi trước buổi bảo vệ, phải chạy lại phần bị ảnh hưởng.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Kết quả đã thực sự chạy trong phiên chuẩn bị nội dung ngày 11/09/2026, 20:42:48 GMT+7: `mvn '-Dtest=ContentPublicationServiceTest,MediaIntakePolicyTest,AiAllowanceServiceTest' test` tại backend. [Publication tests](D:/schinese/backend/src/test/java/net/pchinese/content/ContentPublicationServiceTest.java), [Media tests](D:/schinese/backend/src/test/java/net/pchinese/media/MediaIntakePolicyTest.java), [Allowance tests](D:/schinese/backend/src/test/java/net/pchinese/allowance/AiAllowanceServiceTest.java). Lần mở rộng nội dung này không chạy lại các test và không thay kết quả lịch sử.</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**6.2. Selected Verification Results**</a:t>
            </a:r>
          </a:p>
          <a:p xmlns:a="http://schemas.openxmlformats.org/drawingml/2006/main">
            <a:r>
              <a:t/>
            </a:r>
          </a:p>
          <a:p xmlns:a="http://schemas.openxmlformats.org/drawingml/2006/main">
            <a:r>
              <a:t>Recorded run on 11 September 2026: 15 unit tests passed, with zero failures, errors, or skipped tests.</a:t>
            </a:r>
          </a:p>
          <a:p xmlns:a="http://schemas.openxmlformats.org/drawingml/2006/main">
            <a:r>
              <a:t/>
            </a:r>
          </a:p>
          <a:p xmlns:a="http://schemas.openxmlformats.org/drawingml/2006/main">
            <a:r>
              <a:t>| Test suite | Cases | Behaviors exercised |</a:t>
            </a:r>
          </a:p>
          <a:p xmlns:a="http://schemas.openxmlformats.org/drawingml/2006/main">
            <a:r>
              <a:t>| --- | ---: | --- |</a:t>
            </a:r>
          </a:p>
          <a:p xmlns:a="http://schemas.openxmlformats.org/drawingml/2006/main">
            <a:r>
              <a:t>| ContentPublicationServiceTest | 5 | Publication conditions, a published-parent segment restriction, and archive cascade |</a:t>
            </a:r>
          </a:p>
          <a:p xmlns:a="http://schemas.openxmlformats.org/drawingml/2006/main">
            <a:r>
              <a:t>| MediaIntakePolicyTest | 2 | Canonical YouTube IDs and rejection of unsupported inputs |</a:t>
            </a:r>
          </a:p>
          <a:p xmlns:a="http://schemas.openxmlformats.org/drawingml/2006/main">
            <a:r>
              <a:t>| AiAllowanceServiceTest | 8 | Reservation, exhaustion, retry, conflict, refund, and cycle rollover |</a:t>
            </a:r>
          </a:p>
          <a:p xmlns:a="http://schemas.openxmlformats.org/drawingml/2006/main">
            <a:r>
              <a:t/>
            </a:r>
          </a:p>
          <a:p xmlns:a="http://schemas.openxmlformats.org/drawingml/2006/main">
            <a:r>
              <a:t>**What the results support**  </a:t>
            </a:r>
          </a:p>
          <a:p xmlns:a="http://schemas.openxmlformats.org/drawingml/2006/main">
            <a:r>
              <a:t>The selected test cases passed on the working tree used for that run.</a:t>
            </a:r>
          </a:p>
          <a:p xmlns:a="http://schemas.openxmlformats.org/drawingml/2006/main">
            <a:r>
              <a:t/>
            </a:r>
          </a:p>
          <a:p xmlns:a="http://schemas.openxmlformats.org/drawingml/2006/main">
            <a:r>
              <a:t>**What remains unverified by this run**  </a:t>
            </a:r>
          </a:p>
          <a:p xmlns:a="http://schemas.openxmlformats.org/drawingml/2006/main">
            <a:r>
              <a:t>Real database transactions, concurrent requests, complete API/E2E journeys, and AI learning quality.</a:t>
            </a:r>
          </a:p>
          <a:p xmlns:a="http://schemas.openxmlformats.org/drawingml/2006/main">
            <a:r>
              <a:t/>
            </a:r>
          </a:p>
          <a:p xmlns:a="http://schemas.openxmlformats.org/drawingml/2006/main">
            <a:r>
              <a:t>Recorded completion: 20:42:48 GMT+7. Unit cases are not a product-completion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Drift không chỉ là tài liệu cũ hơn code. Nó có thể nằm giữa spec với plan, contract với DTO hoặc task hoàn thành với bằng chứng kiểm tra. F04 ghi lại các công việc Convergence để xử lý những khoảng cách đó. Tôi có thể chứng minh một lát cắt bằng cách mở T025, code và test. Tuy nhiên, tôi không dùng mười đầu việc này như mười lỗi đã được đo độc lập. Để nói lịch sử cải thiện, tôi còn cần bản trước, bản sau và kết quả kiểm chứng tương ứng.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§7.3. [F04 tasks, Convergence và T031](D:/schinese/specs/F04-content-administration/tasks.md:71). Một số task cũ về media được bổ sung/thay thế bởi Phase 8; đọc theo phiên bản quyết định có hiệu lực.</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**6.3. Detecting Specification–Implementation Drift**</a:t>
            </a:r>
          </a:p>
          <a:p xmlns:a="http://schemas.openxmlformats.org/drawingml/2006/main">
            <a:r>
              <a:t/>
            </a:r>
          </a:p>
          <a:p xmlns:a="http://schemas.openxmlformats.org/drawingml/2006/main">
            <a:r>
              <a:t>Drift appears when requirements, design, tasks, code, and verification no longer describe the same behavior.</a:t>
            </a:r>
          </a:p>
          <a:p xmlns:a="http://schemas.openxmlformats.org/drawingml/2006/main">
            <a:r>
              <a:t/>
            </a:r>
          </a:p>
          <a:p xmlns:a="http://schemas.openxmlformats.org/drawingml/2006/main">
            <a:r>
              <a:t>| Drift pattern | F04 evidence or review concern |</a:t>
            </a:r>
          </a:p>
          <a:p xmlns:a="http://schemas.openxmlformats.org/drawingml/2006/main">
            <a:r>
              <a:t>| --- | --- |</a:t>
            </a:r>
          </a:p>
          <a:p xmlns:a="http://schemas.openxmlformats.org/drawingml/2006/main">
            <a:r>
              <a:t>| A rule is incompletely implemented | T025 records the need to enforce all publication conditions |</a:t>
            </a:r>
          </a:p>
          <a:p xmlns:a="http://schemas.openxmlformats.org/drawingml/2006/main">
            <a:r>
              <a:t>| Implementation conflicts with shared rules | T022 records an access-token storage correction |</a:t>
            </a:r>
          </a:p>
          <a:p xmlns:a="http://schemas.openxmlformats.org/drawingml/2006/main">
            <a:r>
              <a:t>| Contracts and API behavior diverge | T029 records DTO and API contract alignment work |</a:t>
            </a:r>
          </a:p>
          <a:p xmlns:a="http://schemas.openxmlformats.org/drawingml/2006/main">
            <a:r>
              <a:t>| Completion claims exceed recorded checks | T031 remains an open validation task |</a:t>
            </a:r>
          </a:p>
          <a:p xmlns:a="http://schemas.openxmlformats.org/drawingml/2006/main">
            <a:r>
              <a:t/>
            </a:r>
          </a:p>
          <a:p xmlns:a="http://schemas.openxmlformats.org/drawingml/2006/main">
            <a:r>
              <a:t>**Control loop**  </a:t>
            </a:r>
          </a:p>
          <a:p xmlns:a="http://schemas.openxmlformats.org/drawingml/2006/main">
            <a:r>
              <a:t>Identify the mismatch, link it to a requirement, create corrective work, inspect the change, and record verification.</a:t>
            </a:r>
          </a:p>
          <a:p xmlns:a="http://schemas.openxmlformats.org/drawingml/2006/main">
            <a:r>
              <a:t/>
            </a:r>
          </a:p>
          <a:p xmlns:a="http://schemas.openxmlformats.org/drawingml/2006/main">
            <a:r>
              <a:t>F04 contains ten Convergence tasks, T021–T030. This is a task count, not ten independently proven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Nhìn từ giao diện, thay đổi có vẻ chỉ là một ô nhập. Nhưng quyết định này làm thay đổi validation, payload API, cách lưu dữ liệu và test. Backend giữ canonical ID, không dùng tùy ý URL do browser gửi làm nguồn phát. Media vẫn phải qua quy trình review. Sau đó player dùng mã này để phát nhúng. Các tài liệu lịch sử còn nhắc upload cần được đánh dấu là quyết định đã thay thế để tránh AI dùng nhầm. Đây là ví dụ quản lý thay đổi xuyên nhiều tầng.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[F04 Clarifications và FR-010/016](D:/schinese/specs/F04-content-administration/spec.md), [Phase 8](D:/schinese/specs/F04-content-administration/tasks.md:88), [data model](D:/schinese/specs/F04-content-administration/data-model.md), [OpenAPI](D:/schinese/specs/F04-content-administration/contracts/f04-openapi.yaml).</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**6.4. Controlling a Change Across Layers**</a:t>
            </a:r>
          </a:p>
          <a:p xmlns:a="http://schemas.openxmlformats.org/drawingml/2006/main">
            <a:r>
              <a:t/>
            </a:r>
          </a:p>
          <a:p xmlns:a="http://schemas.openxmlformats.org/drawingml/2006/main">
            <a:r>
              <a:t>F04 records a YouTube-only media intake decision: accept a supported video link or ID and retain its canonical identity.</a:t>
            </a:r>
          </a:p>
          <a:p xmlns:a="http://schemas.openxmlformats.org/drawingml/2006/main">
            <a:r>
              <a:t/>
            </a:r>
          </a:p>
          <a:p xmlns:a="http://schemas.openxmlformats.org/drawingml/2006/main">
            <a:r>
              <a:t>| Area affected | Required change |</a:t>
            </a:r>
          </a:p>
          <a:p xmlns:a="http://schemas.openxmlformats.org/drawingml/2006/main">
            <a:r>
              <a:t>| --- | --- |</a:t>
            </a:r>
          </a:p>
          <a:p xmlns:a="http://schemas.openxmlformats.org/drawingml/2006/main">
            <a:r>
              <a:t>| Admin experience | Paste a supported YouTube link or video ID |</a:t>
            </a:r>
          </a:p>
          <a:p xmlns:a="http://schemas.openxmlformats.org/drawingml/2006/main">
            <a:r>
              <a:t>| Specification | Define accepted references, rejection rules, and playback boundaries |</a:t>
            </a:r>
          </a:p>
          <a:p xmlns:a="http://schemas.openxmlformats.org/drawingml/2006/main">
            <a:r>
              <a:t>| API and frontend | Use the documented video-reference input and safe error handling |</a:t>
            </a:r>
          </a:p>
          <a:p xmlns:a="http://schemas.openxmlformats.org/drawingml/2006/main">
            <a:r>
              <a:t>| Backend and data | Normalize and store an immutable canonical video ID with review state |</a:t>
            </a:r>
          </a:p>
          <a:p xmlns:a="http://schemas.openxmlformats.org/drawingml/2006/main">
            <a:r>
              <a:t>| Verification | Test accepted links, unsupported inputs, and unchanged source identity |</a:t>
            </a:r>
          </a:p>
          <a:p xmlns:a="http://schemas.openxmlformats.org/drawingml/2006/main">
            <a:r>
              <a:t>| Schema evolution | Apply the canonical forward migration for the revised data constraints |</a:t>
            </a:r>
          </a:p>
          <a:p xmlns:a="http://schemas.openxmlformats.org/drawingml/2006/main">
            <a:r>
              <a:t/>
            </a:r>
          </a:p>
          <a:p xmlns:a="http://schemas.openxmlformats.org/drawingml/2006/main">
            <a:r>
              <a:t>**Product result**  </a:t>
            </a:r>
          </a:p>
          <a:p xmlns:a="http://schemas.openxmlformats.org/drawingml/2006/main">
            <a:r>
              <a:t>The application registers a video reference without uploading or downloading video bytes. Learner playback uses the permitted embedded player.</a:t>
            </a:r>
          </a:p>
          <a:p xmlns:a="http://schemas.openxmlformats.org/drawingml/2006/main">
            <a:r>
              <a:t/>
            </a:r>
          </a:p>
          <a:p xmlns:a="http://schemas.openxmlformats.org/drawingml/2006/main">
            <a:r>
              <a:t>Recorded revision: 11 September 2026, F04 T032–T039. Player delivery is a dependent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Bảng này cho biết tôi kiểm soát đến đâu. Có tài liệu và có một số chuỗi truy vết cụ thể. Có kết quả unit test đã chạy. Đồng thời vẫn còn task validation mở ở F04 và phần nghiệm thu F11 chưa xác nhận hoàn thành. F12 có spec riêng nhưng chưa đồng bộ bản đồ tổng. Nhận diện các khoảng trống giúp ưu tiên công việc tiếp theo. Tôi chưa dùng bằng chứng hiện có để kết luận toàn sản phẩm đã sẵn sàng, hoạt động tốt ở tải lớn hay giúp người học tiến bộ.</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[F04 T031 và T039](D:/schinese/specs/F04-content-administration/tasks.md:84), [F11 tasks](D:/schinese/specs/F11-ai-learning-buddy/tasks.md), [F12 Draft](D:/schinese/specs/F12-ai-plan-administration-monitoring/spec.md), [feature map](D:/schinese/specs/000a-mvp-feature-map/spec.md). Không hiển thị file cấu hình chứa credential khi chụp bằng chứng; chỉ trích nội dung nghiệp vụ hoặc log đã kiểm tra.</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**6.5. Current Evidence and Limitations**</a:t>
            </a:r>
          </a:p>
          <a:p xmlns:a="http://schemas.openxmlformats.org/drawingml/2006/main">
            <a:r>
              <a:t/>
            </a:r>
          </a:p>
          <a:p xmlns:a="http://schemas.openxmlformats.org/drawingml/2006/main">
            <a:r>
              <a:t>Schinese demonstrates a specification-control process through selected features, with important verification work still open.</a:t>
            </a:r>
          </a:p>
          <a:p xmlns:a="http://schemas.openxmlformats.org/drawingml/2006/main">
            <a:r>
              <a:t/>
            </a:r>
          </a:p>
          <a:p xmlns:a="http://schemas.openxmlformats.org/drawingml/2006/main">
            <a:r>
              <a:t>| Evidence available | Remaining gap |</a:t>
            </a:r>
          </a:p>
          <a:p xmlns:a="http://schemas.openxmlformats.org/drawingml/2006/main">
            <a:r>
              <a:t>| --- | --- |</a:t>
            </a:r>
          </a:p>
          <a:p xmlns:a="http://schemas.openxmlformats.org/drawingml/2006/main">
            <a:r>
              <a:t>| Project rules, feature specs, plans, and contracts exist | Draft status and approval records require alignment |</a:t>
            </a:r>
          </a:p>
          <a:p xmlns:a="http://schemas.openxmlformats.org/drawingml/2006/main">
            <a:r>
              <a:t>| F04 publication has a requirement/task/code/test trace | Full catalog and learning-flow acceptance needs more evidence |</a:t>
            </a:r>
          </a:p>
          <a:p xmlns:a="http://schemas.openxmlformats.org/drawingml/2006/main">
            <a:r>
              <a:t>| Fifteen selected unit tests passed in the recorded run | Integration, migration, concurrency, and E2E are outside that result |</a:t>
            </a:r>
          </a:p>
          <a:p xmlns:a="http://schemas.openxmlformats.org/drawingml/2006/main">
            <a:r>
              <a:t>| F11 has implementation work in progress | Its task list does not establish completed acceptance |</a:t>
            </a:r>
          </a:p>
          <a:p xmlns:a="http://schemas.openxmlformats.org/drawingml/2006/main">
            <a:r>
              <a:t>| F12 has a separate Draft specification | The F00–F11 feature map needs scope alignment |</a:t>
            </a:r>
          </a:p>
          <a:p xmlns:a="http://schemas.openxmlformats.org/drawingml/2006/main">
            <a:r>
              <a:t/>
            </a:r>
          </a:p>
          <a:p xmlns:a="http://schemas.openxmlformats.org/drawingml/2006/main">
            <a:r>
              <a:t>**Conclusion supported today**  </a:t>
            </a:r>
          </a:p>
          <a:p xmlns:a="http://schemas.openxmlformats.org/drawingml/2006/main">
            <a:r>
              <a:t>Selected behaviors are traceable and tested. Overall readiness, learning effectiveness, and production scale remain to be demonstrated.</a:t>
            </a:r>
          </a:p>
          <a:p xmlns:a="http://schemas.openxmlformats.org/drawingml/2006/main">
            <a:r>
              <a:t/>
            </a:r>
          </a:p>
          <a:p xmlns:a="http://schemas.openxmlformats.org/drawingml/2006/main">
            <a:r>
              <a:t>Evidence snapshot: 11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Ý tôi muốn nêu là người phát triển có thể hiểu spec nhưng chưa hiểu hết code AI tạo ra. AI được phép chọn cách triển khai và có thể sinh thêm hàm hỗ trợ để tối ưu. Nếu chỉ đọc kết quả của vài ví dụ, tôi có thể bỏ qua giả định bên trong hàm mới. Ví dụ giả định ở F04 là lưu kết quả kiểm tra rồi dùng lại sau khi media đã bị quarantine. Test với trạng thái không đổi có thể không phát hiện. Sinh thêm hàm tự nó là bình thường. Điều cần kiểm soát là hành vi phát sinh và bằng chứng cho lời khẳng định tối ưu.</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Mối quan tâm do anh bổ sung trong trao đổi. [F04 FR-004 và FR-008](D:/schinese/specs/F04-content-administration/spec.md) là cơ sở nghiệp vụ của ví dụ. Chưa có bản diff hoặc benchmark chứng minh trường hợp giả định này từng xảy ra. Sơ đồ không phải đề xuất thêm cache vào kiến trúc.</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**7.1. AI-Generated Functions and Algorithm Optimization**</a:t>
            </a:r>
          </a:p>
          <a:p xmlns:a="http://schemas.openxmlformats.org/drawingml/2006/main">
            <a:r>
              <a:t/>
            </a:r>
          </a:p>
          <a:p xmlns:a="http://schemas.openxmlformats.org/drawingml/2006/main">
            <a:r>
              <a:t>A specification constrains behavior, but often leaves internal algorithms and helper functions open to implementation choices.</a:t>
            </a:r>
          </a:p>
          <a:p xmlns:a="http://schemas.openxmlformats.org/drawingml/2006/main">
            <a:r>
              <a:t/>
            </a:r>
          </a:p>
          <a:p xmlns:a="http://schemas.openxmlformats.org/drawingml/2006/main">
            <a:r>
              <a:t>**Where control can become weaker**</a:t>
            </a:r>
          </a:p>
          <a:p xmlns:a="http://schemas.openxmlformats.org/drawingml/2006/main">
            <a:r>
              <a:t/>
            </a:r>
          </a:p>
          <a:p xmlns:a="http://schemas.openxmlformats.org/drawingml/2006/main">
            <a:r>
              <a:t>- AI may add helpers, change data structures, or reuse intermediate results while attempting an optimization.</a:t>
            </a:r>
          </a:p>
          <a:p xmlns:a="http://schemas.openxmlformats.org/drawingml/2006/main">
            <a:r>
              <a:t>- New code may introduce assumptions, side effects, or failure paths that have not been reviewed.</a:t>
            </a:r>
          </a:p>
          <a:p xmlns:a="http://schemas.openxmlformats.org/drawingml/2006/main">
            <a:r>
              <a:t>- Existing functional tests may pass without covering changed state or larger inputs.</a:t>
            </a:r>
          </a:p>
          <a:p xmlns:a="http://schemas.openxmlformats.org/drawingml/2006/main">
            <a:r>
              <a:t/>
            </a:r>
          </a:p>
          <a:p xmlns:a="http://schemas.openxmlformats.org/drawingml/2006/main">
            <a:r>
              <a:t>**Hypothetical F04 example**</a:t>
            </a:r>
          </a:p>
          <a:p xmlns:a="http://schemas.openxmlformats.org/drawingml/2006/main">
            <a:r>
              <a:t/>
            </a:r>
          </a:p>
          <a:p xmlns:a="http://schemas.openxmlformats.org/drawingml/2006/main">
            <a:r>
              <a:t>1. A helper stores a successful publication-readiness check.</a:t>
            </a:r>
          </a:p>
          <a:p xmlns:a="http://schemas.openxmlformats.org/drawingml/2006/main">
            <a:r>
              <a:t>2. A referenced media asset later becomes QUARANTINED.</a:t>
            </a:r>
          </a:p>
          <a:p xmlns:a="http://schemas.openxmlformats.org/drawingml/2006/main">
            <a:r>
              <a:t>3. Reusing the old result could accept an invalid publication unless the design handles invalidation.</a:t>
            </a:r>
          </a:p>
          <a:p xmlns:a="http://schemas.openxmlformats.org/drawingml/2006/main">
            <a:r>
              <a:t/>
            </a:r>
          </a:p>
          <a:p xmlns:a="http://schemas.openxmlformats.org/drawingml/2006/main">
            <a:r>
              <a:t>**Key limitation:** Passing examples do not prove complete behavioral coverage or improved performance.</a:t>
            </a:r>
          </a:p>
          <a:p xmlns:a="http://schemas.openxmlformats.org/drawingml/2006/main">
            <a:r>
              <a:t/>
            </a:r>
          </a:p>
          <a:p xmlns:a="http://schemas.openxmlformats.org/drawingml/2006/main">
            <a:r>
              <a:t>Illustrative scenario only. No such optimization defect is claimed as observed in Schinese.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Khi AI nói đã tối ưu, tôi cần hỏi tối ưu đại lượng nào và ở điều kiện nào. Tên hàm và lời giải thích chưa đủ. Tôi đọc nơi gọi, tác dụng phụ và phần thay đổi trong thuật toán, rồi đối chiếu các quy tắc không được phá vỡ. Sau đó kiểm tra hành vi trên trường hợp biên và đo trước sau ở cùng điều kiện. Benchmark không thay thế test nghiệp vụ. Test pass cũng không chứng minh tốc độ tốt hơn. Những quyết định kỹ thuật quan trọng cần vào plan hoặc tài liệu thiết kế, không cần đưa mọi helper vào spec nghiệp vụ.</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Biện pháp review đề xuất cho mục 7.1, dựa trên yêu cầu truy vết và kiểm chứng của dự án. Chưa thực hiện benchmark thuật toán trong đợt chuẩn bị slide này.</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**7.2. Review and Verification of Optimization Changes**</a:t>
            </a:r>
          </a:p>
          <a:p xmlns:a="http://schemas.openxmlformats.org/drawingml/2006/main">
            <a:r>
              <a:t/>
            </a:r>
          </a:p>
          <a:p xmlns:a="http://schemas.openxmlformats.org/drawingml/2006/main">
            <a:r>
              <a:t>An optimization claim needs both preserved behavior and measured improvement under defined conditions.</a:t>
            </a:r>
          </a:p>
          <a:p xmlns:a="http://schemas.openxmlformats.org/drawingml/2006/main">
            <a:r>
              <a:t/>
            </a:r>
          </a:p>
          <a:p xmlns:a="http://schemas.openxmlformats.org/drawingml/2006/main">
            <a:r>
              <a:t>| Review question | Evidence to inspect |</a:t>
            </a:r>
          </a:p>
          <a:p xmlns:a="http://schemas.openxmlformats.org/drawingml/2006/main">
            <a:r>
              <a:t>| --- | --- |</a:t>
            </a:r>
          </a:p>
          <a:p xmlns:a="http://schemas.openxmlformats.org/drawingml/2006/main">
            <a:r>
              <a:t>| What problem does the new function solve? | Linked task, callers, and the source diff |</a:t>
            </a:r>
          </a:p>
          <a:p xmlns:a="http://schemas.openxmlformats.org/drawingml/2006/main">
            <a:r>
              <a:t>| What assumptions or side effects does it introduce? | Inputs, outputs, state changes, and error paths |</a:t>
            </a:r>
          </a:p>
          <a:p xmlns:a="http://schemas.openxmlformats.org/drawingml/2006/main">
            <a:r>
              <a:t>| Which rules must remain true? | Ownership, publication conditions, quota, and retry invariants |</a:t>
            </a:r>
          </a:p>
          <a:p xmlns:a="http://schemas.openxmlformats.org/drawingml/2006/main">
            <a:r>
              <a:t>| What happens as input size increases? | Complexity analysis and representative workloads |</a:t>
            </a:r>
          </a:p>
          <a:p xmlns:a="http://schemas.openxmlformats.org/drawingml/2006/main">
            <a:r>
              <a:t>| Is the change actually faster or cheaper? | Before/after measurements in the same environment |</a:t>
            </a:r>
          </a:p>
          <a:p xmlns:a="http://schemas.openxmlformats.org/drawingml/2006/main">
            <a:r>
              <a:t/>
            </a:r>
          </a:p>
          <a:p xmlns:a="http://schemas.openxmlformats.org/drawingml/2006/main">
            <a:r>
              <a:t>**Acceptance rule**  </a:t>
            </a:r>
          </a:p>
          <a:p xmlns:a="http://schemas.openxmlformats.org/drawingml/2006/main">
            <a:r>
              <a:t>Preserve required behavior, review significant algorithm decisions, and measure the intended improvement.</a:t>
            </a:r>
          </a:p>
          <a:p xmlns:a="http://schemas.openxmlformats.org/drawingml/2006/main">
            <a:r>
              <a:t/>
            </a:r>
          </a:p>
          <a:p xmlns:a="http://schemas.openxmlformats.org/drawingml/2006/main">
            <a:r>
              <a:t>**Remaining limit**  </a:t>
            </a:r>
          </a:p>
          <a:p xmlns:a="http://schemas.openxmlformats.org/drawingml/2006/main">
            <a:r>
              <a:t>Tests and benchmarks cover defined cases and workloads. They do not establish correctness for every possible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muốn đo được mức kiểm soát theo yêu cầu trong một baseline xác định. Một requirement có thể có nhiều scenario nên hai mẫu số này khác nhau. Nếu test bị skip hoặc chưa chạy, tôi phải ghi riêng. Tỷ lệ cao vẫn có thể che một lỗi nghiêm trọng về quyền hoặc tính toàn vẹn dữ liệu. Vì vậy cần theo dõi cả rủi ro còn mở. Những chỉ số trên là đề xuất sẽ áp dụng. Hiện tôi chưa có một tỷ lệ toàn dự án đủ bằng chứng để trình bày.</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Khung đo lường đề xuất trong bài bảo vệ. Ví dụ dựa trên [F04 spec](D:/schinese/specs/F04-content-administration/spec.md), [tasks](D:/schinese/specs/F04-content-administration/tasks.md) và [quickstart](D:/schinese/specs/F04-content-administration/quickstart.md).</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**8.1. Measuring Specification Control**</a:t>
            </a:r>
          </a:p>
          <a:p xmlns:a="http://schemas.openxmlformats.org/drawingml/2006/main">
            <a:r>
              <a:t/>
            </a:r>
          </a:p>
          <a:p xmlns:a="http://schemas.openxmlformats.org/drawingml/2006/main">
            <a:r>
              <a:t>Measurements should identify the scope, version, denominator, and unverified cases.</a:t>
            </a:r>
          </a:p>
          <a:p xmlns:a="http://schemas.openxmlformats.org/drawingml/2006/main">
            <a:r>
              <a:t/>
            </a:r>
          </a:p>
          <a:p xmlns:a="http://schemas.openxmlformats.org/drawingml/2006/main">
            <a:r>
              <a:t>| Proposed measure | Definition |</a:t>
            </a:r>
          </a:p>
          <a:p xmlns:a="http://schemas.openxmlformats.org/drawingml/2006/main">
            <a:r>
              <a:t>| --- | --- |</a:t>
            </a:r>
          </a:p>
          <a:p xmlns:a="http://schemas.openxmlformats.org/drawingml/2006/main">
            <a:r>
              <a:t>| Traceability coverage | In-scope requirements linked to implementation and verification / all in-scope requirements |</a:t>
            </a:r>
          </a:p>
          <a:p xmlns:a="http://schemas.openxmlformats.org/drawingml/2006/main">
            <a:r>
              <a:t>| Acceptance completion | Passed acceptance scenarios / all scenarios in the agreed baseline |</a:t>
            </a:r>
          </a:p>
          <a:p xmlns:a="http://schemas.openxmlformats.org/drawingml/2006/main">
            <a:r>
              <a:t>| Unresolved critical gaps | Open high-risk issues, their owners, and time remaining unresolved |</a:t>
            </a:r>
          </a:p>
          <a:p xmlns:a="http://schemas.openxmlformats.org/drawingml/2006/main">
            <a:r>
              <a:t>| Change consistency | Reviewed changes with all affected artifacts updated / reviewed changes sampled |</a:t>
            </a:r>
          </a:p>
          <a:p xmlns:a="http://schemas.openxmlformats.org/drawingml/2006/main">
            <a:r>
              <a:t/>
            </a:r>
          </a:p>
          <a:p xmlns:a="http://schemas.openxmlformats.org/drawingml/2006/main">
            <a:r>
              <a:t>**Record each check as:** Passed, Failed, Skipped, or Not Run.</a:t>
            </a:r>
          </a:p>
          <a:p xmlns:a="http://schemas.openxmlformats.org/drawingml/2006/main">
            <a:r>
              <a:t/>
            </a:r>
          </a:p>
          <a:p xmlns:a="http://schemas.openxmlformats.org/drawingml/2006/main">
            <a:r>
              <a:t>**F04 example**  </a:t>
            </a:r>
          </a:p>
          <a:p xmlns:a="http://schemas.openxmlformats.org/drawingml/2006/main">
            <a:r>
              <a:t>Map each publication condition to code and a scenario. Record missing checks explicitly.</a:t>
            </a:r>
          </a:p>
          <a:p xmlns:a="http://schemas.openxmlformats.org/drawingml/2006/main">
            <a:r>
              <a:t/>
            </a:r>
          </a:p>
          <a:p xmlns:a="http://schemas.openxmlformats.org/drawingml/2006/main">
            <a:r>
              <a:t>**Decision rule**  </a:t>
            </a:r>
          </a:p>
          <a:p xmlns:a="http://schemas.openxmlformats.org/drawingml/2006/main">
            <a:r>
              <a:t>An unresolved ownership or data-integrity defect can block acceptance even when the overall pass rate is high.</a:t>
            </a:r>
          </a:p>
          <a:p xmlns:a="http://schemas.openxmlformats.org/drawingml/2006/main">
            <a:r>
              <a:t/>
            </a:r>
          </a:p>
          <a:p xmlns:a="http://schemas.openxmlformats.org/drawingml/2006/main">
            <a:r>
              <a:t>These are proposed measures. No project-wide percentages have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Khi nói kiểm soát spec giúp tạo dự án tốt, tôi phải định nghĩa tốt ở đâu. Một bên là learner thực hiện được luồng học và dữ liệu đúng. Một bên là câu giải thích AI có đúng, dễ hiểu và hữu ích. Các thuộc tính đó cần phép kiểm tra khác nhau. Tôi không dùng test quota để suy ra hiệu quả học tập. Spec giúp biến mục tiêu chất lượng thành tiêu chí có thể đánh giá và chỉ ra bằng chứng cần thu thập tiếp.</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[Feature map](D:/schinese/specs/000a-mvp-feature-map/spec.md), [F06](D:/schinese/specs/F06-lesson-learning-progress/spec.md), [F11](D:/schinese/specs/F11-ai-learning-buddy/spec.md). Các phép đánh giá là kế hoạch đề xuất, chưa phải kết quả nghiên cứu người dùng.</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**8.2. Defining Project Quality**</a:t>
            </a:r>
          </a:p>
          <a:p xmlns:a="http://schemas.openxmlformats.org/drawingml/2006/main">
            <a:r>
              <a:t/>
            </a:r>
          </a:p>
          <a:p xmlns:a="http://schemas.openxmlformats.org/drawingml/2006/main">
            <a:r>
              <a:t>A good Schinese release should support useful learning journeys while preserving access rules and data integrity.</a:t>
            </a:r>
          </a:p>
          <a:p xmlns:a="http://schemas.openxmlformats.org/drawingml/2006/main">
            <a:r>
              <a:t/>
            </a:r>
          </a:p>
          <a:p xmlns:a="http://schemas.openxmlformats.org/drawingml/2006/main">
            <a:r>
              <a:t>| Quality goal | Schinese outcome | Evaluation method |</a:t>
            </a:r>
          </a:p>
          <a:p xmlns:a="http://schemas.openxmlformats.org/drawingml/2006/main">
            <a:r>
              <a:t>| --- | --- | --- |</a:t>
            </a:r>
          </a:p>
          <a:p xmlns:a="http://schemas.openxmlformats.org/drawingml/2006/main">
            <a:r>
              <a:t>| Functional correctness | Learners access eligible lessons and resume their own progress | Acceptance and E2E scenarios |</a:t>
            </a:r>
          </a:p>
          <a:p xmlns:a="http://schemas.openxmlformats.org/drawingml/2006/main">
            <a:r>
              <a:t>| Reliability | Retries and failures do not duplicate allowance use or corrupt state | Integration and fault scenarios |</a:t>
            </a:r>
          </a:p>
          <a:p xmlns:a="http://schemas.openxmlformats.org/drawingml/2006/main">
            <a:r>
              <a:t>| Privacy and access | Private conversations remain restricted to their owner | Authorization and isolation tests |</a:t>
            </a:r>
          </a:p>
          <a:p xmlns:a="http://schemas.openxmlformats.org/drawingml/2006/main">
            <a:r>
              <a:t>| Maintainability | A changed rule has an identifiable impact on code and contracts | Review and traceability checks |</a:t>
            </a:r>
          </a:p>
          <a:p xmlns:a="http://schemas.openxmlformats.org/drawingml/2006/main">
            <a:r>
              <a:t>| Learning value | AI explanations are accurate, understandable, and useful | Domain review and learner evaluation |</a:t>
            </a:r>
          </a:p>
          <a:p xmlns:a="http://schemas.openxmlformats.org/drawingml/2006/main">
            <a:r>
              <a:t/>
            </a:r>
          </a:p>
          <a:p xmlns:a="http://schemas.openxmlformats.org/drawingml/2006/main">
            <a:r>
              <a:t>**Evidence boundary**  </a:t>
            </a:r>
          </a:p>
          <a:p xmlns:a="http://schemas.openxmlformats.org/drawingml/2006/main">
            <a:r>
              <a:t>Selected unit tests support defined behaviors. Learning effectiveness and production reliability require additional studies and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Case study hiện tại cho thấy một cơ chế kiểm soát có thể vận hành. Muốn so sánh lợi ích, tôi cần một thử nghiệm có điều kiện rõ. Hai nhóm bắt đầu từ cùng code, cùng môi trường và phạm vi. Khác biệt chính là độ rõ của đầu vào. Bộ nghiệm thu do reviewer chuẩn bị độc lập giúp giảm khả năng agent chỉ viết test cho điều nó vừa code. Chi phí viết và review spec phải được tính. Nên lặp nhiều nhiệm vụ và hoán đổi thứ tự, vì một lần chạy có thể chịu ảnh hưởng ngẫu nhiên hoặc kinh nghiệm từ lần trước.</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Thiết kế thực nghiệm đề xuất, chưa thực hiện. Liên hệ sách §5.4 về so sánh độ sâu đặc tả và §8.5 về spec sai. Không dùng số liệu giả cho bảng kết quả.</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**8.3. Experimental Validation**</a:t>
            </a:r>
          </a:p>
          <a:p xmlns:a="http://schemas.openxmlformats.org/drawingml/2006/main">
            <a:r>
              <a:t/>
            </a:r>
          </a:p>
          <a:p xmlns:a="http://schemas.openxmlformats.org/drawingml/2006/main">
            <a:r>
              <a:t>A controlled comparison can test whether clearer specifications improve delivery outcomes on selected tasks.</a:t>
            </a:r>
          </a:p>
          <a:p xmlns:a="http://schemas.openxmlformats.org/drawingml/2006/main">
            <a:r>
              <a:t/>
            </a:r>
          </a:p>
          <a:p xmlns:a="http://schemas.openxmlformats.org/drawingml/2006/main">
            <a:r>
              <a:t>| Experimental element | Proposed design |</a:t>
            </a:r>
          </a:p>
          <a:p xmlns:a="http://schemas.openxmlformats.org/drawingml/2006/main">
            <a:r>
              <a:t>| --- | --- |</a:t>
            </a:r>
          </a:p>
          <a:p xmlns:a="http://schemas.openxmlformats.org/drawingml/2006/main">
            <a:r>
              <a:t>| Task | Implement a bounded F04 publication behavior |</a:t>
            </a:r>
          </a:p>
          <a:p xmlns:a="http://schemas.openxmlformats.org/drawingml/2006/main">
            <a:r>
              <a:t>| Condition A | A short requirement with limited detail |</a:t>
            </a:r>
          </a:p>
          <a:p xmlns:a="http://schemas.openxmlformats.org/drawingml/2006/main">
            <a:r>
              <a:t>| Condition B | A clarified specification with explicit rules and edge cases |</a:t>
            </a:r>
          </a:p>
          <a:p xmlns:a="http://schemas.openxmlformats.org/drawingml/2006/main">
            <a:r>
              <a:t>| Controlled factors | Same starting code, tools, model configuration, and total effort budget |</a:t>
            </a:r>
          </a:p>
          <a:p xmlns:a="http://schemas.openxmlformats.org/drawingml/2006/main">
            <a:r>
              <a:t>| Independent checks | A reviewer-defined acceptance suite not fully disclosed to the coding agent |</a:t>
            </a:r>
          </a:p>
          <a:p xmlns:a="http://schemas.openxmlformats.org/drawingml/2006/main">
            <a:r>
              <a:t>| Outcomes | Business-rule defects, failed edge cases, rework, and total effort |</a:t>
            </a:r>
          </a:p>
          <a:p xmlns:a="http://schemas.openxmlformats.org/drawingml/2006/main">
            <a:r>
              <a:t/>
            </a:r>
          </a:p>
          <a:p xmlns:a="http://schemas.openxmlformats.org/drawingml/2006/main">
            <a:r>
              <a:t>Include specification writing and review in total effort. Repeat across tasks and vary execution order.</a:t>
            </a:r>
          </a:p>
          <a:p xmlns:a="http://schemas.openxmlformats.org/drawingml/2006/main">
            <a:r>
              <a:t/>
            </a:r>
          </a:p>
          <a:p xmlns:a="http://schemas.openxmlformats.org/drawingml/2006/main">
            <a:r>
              <a:t>**Status:** Proposed experiment, not yet performed. One comparison illustrates a case and cannot establish a universal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Tôi ưu tiên chốt một baseline rõ rồi hoàn thiện bằng chứng của một luồng đã có. F04 là điểm phù hợp vì đã có spec, code và một số test. Sau đó tăng tự động hóa các gate và quy trình review thay đổi tối ưu. F11 cần nhiều kiểm tra tích hợp và lỗi hơn vì liên quan provider, quota và dữ liệu riêng tư. Cuối cùng là đánh giá nội dung AI và trải nghiệm học. Mỗi bước có đầu ra kiểm chứng được, thay vì chỉ ghi làm thêm chức năng.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Đề xuất theo các khoảng trống trong [F04 tasks](D:/schinese/specs/F04-content-administration/tasks.md), [F11 tasks](D:/schinese/specs/F11-ai-learning-buddy/tasks.md), [F12 Draft](D:/schinese/specs/F12-ai-plan-administration-monitoring/spec.md). Chưa cam kết thời gian hoặc nhân lực.</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**8.4. Implementation Roadmap**</a:t>
            </a:r>
          </a:p>
          <a:p xmlns:a="http://schemas.openxmlformats.org/drawingml/2006/main">
            <a:r>
              <a:t/>
            </a:r>
          </a:p>
          <a:p xmlns:a="http://schemas.openxmlformats.org/drawingml/2006/main">
            <a:r>
              <a:t>The next steps should close verification gaps before expanding claims about product readiness.</a:t>
            </a:r>
          </a:p>
          <a:p xmlns:a="http://schemas.openxmlformats.org/drawingml/2006/main">
            <a:r>
              <a:t/>
            </a:r>
          </a:p>
          <a:p xmlns:a="http://schemas.openxmlformats.org/drawingml/2006/main">
            <a:r>
              <a:t>| Priority | Next work | Exit evidence |</a:t>
            </a:r>
          </a:p>
          <a:p xmlns:a="http://schemas.openxmlformats.org/drawingml/2006/main">
            <a:r>
              <a:t>| --- | --- | --- |</a:t>
            </a:r>
          </a:p>
          <a:p xmlns:a="http://schemas.openxmlformats.org/drawingml/2006/main">
            <a:r>
              <a:t>| 1 | Align owners, review status, effective decisions, and feature scope | A reviewed specification baseline |</a:t>
            </a:r>
          </a:p>
          <a:p xmlns:a="http://schemas.openxmlformats.org/drawingml/2006/main">
            <a:r>
              <a:t>| 2 | Complete F04 migration, API, lifecycle, and E2E checks | Reproducible results with pass/fail/skip states |</a:t>
            </a:r>
          </a:p>
          <a:p xmlns:a="http://schemas.openxmlformats.org/drawingml/2006/main">
            <a:r>
              <a:t>| 3 | Strengthen automated gates and optimization review | Blocking checks and documented algorithm-change evidence |</a:t>
            </a:r>
          </a:p>
          <a:p xmlns:a="http://schemas.openxmlformats.org/drawingml/2006/main">
            <a:r>
              <a:t>| 4 | Verify F11 ownership, retries, timeout, invalid output, and deletion | Contract, integration, concurrency, and recovery results |</a:t>
            </a:r>
          </a:p>
          <a:p xmlns:a="http://schemas.openxmlformats.org/drawingml/2006/main">
            <a:r>
              <a:t>| 5 | Evaluate learning quality and operational behavior | Domain-review findings, user feedback, and measurements |</a:t>
            </a:r>
          </a:p>
          <a:p xmlns:a="http://schemas.openxmlformats.org/drawingml/2006/main">
            <a:r>
              <a:t/>
            </a:r>
          </a:p>
          <a:p xmlns:a="http://schemas.openxmlformats.org/drawingml/2006/main">
            <a:r>
              <a:t>**F12 dependency:** Align policy administration and monitoring with the feature map and validated data boundaries.</a:t>
            </a:r>
          </a:p>
          <a:p xmlns:a="http://schemas.openxmlformats.org/drawingml/2006/main">
            <a:r>
              <a:t/>
            </a:r>
          </a:p>
          <a:p xmlns:a="http://schemas.openxmlformats.org/drawingml/2006/main">
            <a:r>
              <a:t>Sequence proposal. Dates and resource commitments are not yet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Qua Schinese, tôi có thể chỉ ra một yêu cầu quan trọng đã được mô tả, đưa vào task, thực thi trong code và kiểm tra ở đâu. Bằng chứng hiện tại hỗ trợ một số hành vi cụ thể. Tôi cũng nhận diện được phần chưa kiểm chứng, từ giao dịch đồng thời đến chất lượng học tập và thuật toán AI sinh. Giá trị của kiểm soát spec nằm ở khả năng đưa ra kết luận có cơ sở và biết cần kiểm chứng thêm điều gì. Những bước tiếp theo sẽ mở rộng bằng chứng theo từng rủi ro.</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Tổng hợp slide 21–31. Kết quả 15 unit test là lần chạy đã ghi ngày 11/09/2026, không phải số đo hoàn thành sản phẩm.</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**8.5. Conclusion**</a:t>
            </a:r>
          </a:p>
          <a:p xmlns:a="http://schemas.openxmlformats.org/drawingml/2006/main">
            <a:r>
              <a:t/>
            </a:r>
          </a:p>
          <a:p xmlns:a="http://schemas.openxmlformats.org/drawingml/2006/main">
            <a:r>
              <a:t>Specification control makes important product decisions explicit, traceable, and open to verification.</a:t>
            </a:r>
          </a:p>
          <a:p xmlns:a="http://schemas.openxmlformats.org/drawingml/2006/main">
            <a:r>
              <a:t/>
            </a:r>
          </a:p>
          <a:p xmlns:a="http://schemas.openxmlformats.org/drawingml/2006/main">
            <a:r>
              <a:t>**What Schinese demonstrates**</a:t>
            </a:r>
          </a:p>
          <a:p xmlns:a="http://schemas.openxmlformats.org/drawingml/2006/main">
            <a:r>
              <a:t/>
            </a:r>
          </a:p>
          <a:p xmlns:a="http://schemas.openxmlformats.org/drawingml/2006/main">
            <a:r>
              <a:t>- F04 connects publication requirements to tasks, implementation, and selected tests.</a:t>
            </a:r>
          </a:p>
          <a:p xmlns:a="http://schemas.openxmlformats.org/drawingml/2006/main">
            <a:r>
              <a:t>- The recorded run passed 15 unit tests across publication, media input, and allowance behavior.</a:t>
            </a:r>
          </a:p>
          <a:p xmlns:a="http://schemas.openxmlformats.org/drawingml/2006/main">
            <a:r>
              <a:t>- Architecture assigns responsibility for access, product state, and AI processing.</a:t>
            </a:r>
          </a:p>
          <a:p xmlns:a="http://schemas.openxmlformats.org/drawingml/2006/main">
            <a:r>
              <a:t/>
            </a:r>
          </a:p>
          <a:p xmlns:a="http://schemas.openxmlformats.org/drawingml/2006/main">
            <a:r>
              <a:t>**What still requires evidence**</a:t>
            </a:r>
          </a:p>
          <a:p xmlns:a="http://schemas.openxmlformats.org/drawingml/2006/main">
            <a:r>
              <a:t/>
            </a:r>
          </a:p>
          <a:p xmlns:a="http://schemas.openxmlformats.org/drawingml/2006/main">
            <a:r>
              <a:t>- Complete integrated journeys, concurrent behavior, and operational readiness.</a:t>
            </a:r>
          </a:p>
          <a:p xmlns:a="http://schemas.openxmlformats.org/drawingml/2006/main">
            <a:r>
              <a:t>- The correctness and performance of significant AI-generated algorithm changes.</a:t>
            </a:r>
          </a:p>
          <a:p xmlns:a="http://schemas.openxmlformats.org/drawingml/2006/main">
            <a:r>
              <a:t>- The usefulness and learning impact of the product.</a:t>
            </a:r>
          </a:p>
          <a:p xmlns:a="http://schemas.openxmlformats.org/drawingml/2006/main">
            <a:r>
              <a:t/>
            </a:r>
          </a:p>
          <a:p xmlns:a="http://schemas.openxmlformats.org/drawingml/2006/main">
            <a:r>
              <a:t>**Final claim**  </a:t>
            </a:r>
          </a:p>
          <a:p xmlns:a="http://schemas.openxmlformats.org/drawingml/2006/main">
            <a:r>
              <a:t>The project demonstrates selected, reviewable control mechanisms. Further verification is needed to support broader quality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Bộ spec cần giải quyết đủ các nhóm câu hỏi này, nhưng không bắt buộc nhét tất cả vào một file. Trong Schinese, spec.md tập trung vào hành vi và nghiệm thu. Data model, API contract và plan bổ sung các quyết định kỹ thuật. Nếu hội đồng hỏi vì sao không đặc tả mọi helper, tôi sẽ giải thích rằng chi tiết nội bộ thuộc thiết kế, còn hành vi và ràng buộc có ảnh hưởng sản phẩm cần được làm rõ và kiểm chứng.</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§5.2 và cấu trúc [F04](D:/schinese/specs/F04-content-administration/spec.md). Tám nhóm là diễn giải từ sách, các ví dụ được chọn từ phạm vi dự án.</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**A1. What a Specification Package Must Explain**</a:t>
            </a:r>
          </a:p>
          <a:p xmlns:a="http://schemas.openxmlformats.org/drawingml/2006/main">
            <a:r>
              <a:t/>
            </a:r>
          </a:p>
          <a:p xmlns:a="http://schemas.openxmlformats.org/drawingml/2006/main">
            <a:r>
              <a:t>Each content group should resolve a concrete product or verification question.</a:t>
            </a:r>
          </a:p>
          <a:p xmlns:a="http://schemas.openxmlformats.org/drawingml/2006/main">
            <a:r>
              <a:t/>
            </a:r>
          </a:p>
          <a:p xmlns:a="http://schemas.openxmlformats.org/drawingml/2006/main">
            <a:r>
              <a:t>| Content group | Question | Schinese example |</a:t>
            </a:r>
          </a:p>
          <a:p xmlns:a="http://schemas.openxmlformats.org/drawingml/2006/main">
            <a:r>
              <a:t>| --- | --- | --- |</a:t>
            </a:r>
          </a:p>
          <a:p xmlns:a="http://schemas.openxmlformats.org/drawingml/2006/main">
            <a:r>
              <a:t>| Context and goal | Why does this feature exist? | Prepare usable Chinese-learning lessons |</a:t>
            </a:r>
          </a:p>
          <a:p xmlns:a="http://schemas.openxmlformats.org/drawingml/2006/main">
            <a:r>
              <a:t>| Actors and roles | Who can perform the action? | Only an authorized ADMIN publishes content |</a:t>
            </a:r>
          </a:p>
          <a:p xmlns:a="http://schemas.openxmlformats.org/drawingml/2006/main">
            <a:r>
              <a:t>| Functional requirements | What must the system do? | Check every publication prerequisite |</a:t>
            </a:r>
          </a:p>
          <a:p xmlns:a="http://schemas.openxmlformats.org/drawingml/2006/main">
            <a:r>
              <a:t>| Quality requirements | How well must it behave? | Bounded responses and safe failure handling |</a:t>
            </a:r>
          </a:p>
          <a:p xmlns:a="http://schemas.openxmlformats.org/drawingml/2006/main">
            <a:r>
              <a:t>| Data and invariants | What must remain consistent? | Published segments reference approved media |</a:t>
            </a:r>
          </a:p>
          <a:p xmlns:a="http://schemas.openxmlformats.org/drawingml/2006/main">
            <a:r>
              <a:t>| Error handling | What happens when conditions fail? | Reject stale edits and preserve current state |</a:t>
            </a:r>
          </a:p>
          <a:p xmlns:a="http://schemas.openxmlformats.org/drawingml/2006/main">
            <a:r>
              <a:t>| Acceptance criteria | How is completion assessed? | Execute valid and invalid publication scenarios |</a:t>
            </a:r>
          </a:p>
          <a:p xmlns:a="http://schemas.openxmlformats.org/drawingml/2006/main">
            <a:r>
              <a:t>| Out of scope | What is deferred? | Paid Premium activation in the current MVP map |</a:t>
            </a:r>
          </a:p>
          <a:p xmlns:a="http://schemas.openxmlformats.org/drawingml/2006/main">
            <a:r>
              <a:t/>
            </a:r>
          </a:p>
          <a:p xmlns:a="http://schemas.openxmlformats.org/drawingml/2006/main">
            <a:r>
              <a:t>These groups may span linked files. A feature spec describes behavior, while design and contract files provide implementation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Ba hàng đầu có unit case trong lần chạy chọn lọc. Với parent, media và version, tôi đã xem điều kiện kiểm tra trong code nhưng không vì thế nói test case tương ứng đã chạy. Quyền ADMIN cần kiểm tra ở đường đi có authorization. Đồng thời cần database thật vì mock repository không cho biết lock và transaction hoạt động thế nào. Bảng này cũng chỉ ra bộ test cần bổ sung hoặc chạy tiếp trước khi nghiệm thu toàn F04.</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[Publication service](D:/schinese/backend/src/main/java/net/pchinese/content/application/ContentPublicationService.java:143), [unit tests](D:/schinese/backend/src/test/java/net/pchinese/content/ContentPublicationServiceTest.java), [F04 quickstart](D:/schinese/specs/F04-content-administration/quickstart.md). Phạm vi là bộ test chọn lọc đã ghi ngày 11/09/2026, không phải khẳng định repo không có test khác.</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**A2. Publication Verification Matrix**</a:t>
            </a:r>
          </a:p>
          <a:p xmlns:a="http://schemas.openxmlformats.org/drawingml/2006/main">
            <a:r>
              <a:t/>
            </a:r>
          </a:p>
          <a:p xmlns:a="http://schemas.openxmlformats.org/drawingml/2006/main">
            <a:r>
              <a:t>Evidence is recorded per scenario rather than inferred from the suite's overall result.</a:t>
            </a:r>
          </a:p>
          <a:p xmlns:a="http://schemas.openxmlformats.org/drawingml/2006/main">
            <a:r>
              <a:t/>
            </a:r>
          </a:p>
          <a:p xmlns:a="http://schemas.openxmlformats.org/drawingml/2006/main">
            <a:r>
              <a:t>| Scenario | Expected result | Evidence in the selected run |</a:t>
            </a:r>
          </a:p>
          <a:p xmlns:a="http://schemas.openxmlformats.org/drawingml/2006/main">
            <a:r>
              <a:t>| --- | --- | --- |</a:t>
            </a:r>
          </a:p>
          <a:p xmlns:a="http://schemas.openxmlformats.org/drawingml/2006/main">
            <a:r>
              <a:t>| All prerequisites hold | Publish successfully | Unit case passed |</a:t>
            </a:r>
          </a:p>
          <a:p xmlns:a="http://schemas.openxmlformats.org/drawingml/2006/main">
            <a:r>
              <a:t>| No segments | Reject publication | Unit case passed |</a:t>
            </a:r>
          </a:p>
          <a:p xmlns:a="http://schemas.openxmlformats.org/drawingml/2006/main">
            <a:r>
              <a:t>| A segment remains DRAFT | Reject publication | Unit case passed |</a:t>
            </a:r>
          </a:p>
          <a:p xmlns:a="http://schemas.openxmlformats.org/drawingml/2006/main">
            <a:r>
              <a:t>| Parent topic is not PUBLISHED | Reject publication | Guard inspected, case not run in the selected suite |</a:t>
            </a:r>
          </a:p>
          <a:p xmlns:a="http://schemas.openxmlformats.org/drawingml/2006/main">
            <a:r>
              <a:t>| Media is not APPROVED | Reject publication | Guard inspected, case not run in the selected suite |</a:t>
            </a:r>
          </a:p>
          <a:p xmlns:a="http://schemas.openxmlformats.org/drawingml/2006/main">
            <a:r>
              <a:t>| Request version is stale | Return conflict, preserve current data | Guard inspected, API verification still needed |</a:t>
            </a:r>
          </a:p>
          <a:p xmlns:a="http://schemas.openxmlformats.org/drawingml/2006/main">
            <a:r>
              <a:t>| Caller lacks ADMIN authority | Reject access | Authorization integration evidence needed |</a:t>
            </a:r>
          </a:p>
          <a:p xmlns:a="http://schemas.openxmlformats.org/drawingml/2006/main">
            <a:r>
              <a:t>| Concurrent state changes | Preserve the required invariants | Real database verification needed |</a:t>
            </a:r>
          </a:p>
          <a:p xmlns:a="http://schemas.openxmlformats.org/drawingml/2006/main">
            <a:r>
              <a:t/>
            </a:r>
          </a:p>
          <a:p xmlns:a="http://schemas.openxmlformats.org/drawingml/2006/main">
            <a:r>
              <a:t>The selected unit run does not establish complete F04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Với AI Buddy, tôi kiểm tra được cấu trúc bằng máy khá rõ. Nhưng một câu đủ field vẫn có thể sai nghĩa hoặc không hợp tình huống. Vì vậy cần rubric về độ chính xác, cách giải thích và mức phù hợp. Safety cũng cần nhìn cả chặn nhầm yêu cầu hợp lệ lẫn bỏ lọt nội dung không được phép. Các tuyên bố 100% trong spec phải đi kèm phạm vi chính sách và tập kiểm tra. Một bộ test hữu hạn không chứng minh an toàn tuyệt đối cho mọi câu ngôn ngữ tự nhiên.</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[F11 spec](D:/schinese/specs/F11-ai-learning-buddy/spec.md), đặc biệt FR-010–FR-015 và các success criteria. Rubric, bộ dữ liệu và review nội dung là hướng đánh giá đề xuất.</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**A3. Evaluating AI Buddy Responses**</a:t>
            </a:r>
          </a:p>
          <a:p xmlns:a="http://schemas.openxmlformats.org/drawingml/2006/main">
            <a:r>
              <a:t/>
            </a:r>
          </a:p>
          <a:p xmlns:a="http://schemas.openxmlformats.org/drawingml/2006/main">
            <a:r>
              <a:t>A well-formed response can still be inaccurate, unsuitable, or unsafe.</a:t>
            </a:r>
          </a:p>
          <a:p xmlns:a="http://schemas.openxmlformats.org/drawingml/2006/main">
            <a:r>
              <a:t/>
            </a:r>
          </a:p>
          <a:p xmlns:a="http://schemas.openxmlformats.org/drawingml/2006/main">
            <a:r>
              <a:t>| Evaluation area | Check | Suggested evidence |</a:t>
            </a:r>
          </a:p>
          <a:p xmlns:a="http://schemas.openxmlformats.org/drawingml/2006/main">
            <a:r>
              <a:t>| --- | --- | --- |</a:t>
            </a:r>
          </a:p>
          <a:p xmlns:a="http://schemas.openxmlformats.org/drawingml/2006/main">
            <a:r>
              <a:t>| Structure | Required fields, length, and suggestion count | Schema and boundary tests |</a:t>
            </a:r>
          </a:p>
          <a:p xmlns:a="http://schemas.openxmlformats.org/drawingml/2006/main">
            <a:r>
              <a:t>| Activity and context | Matches the selected activity and owned conversation | Controlled conversation cases |</a:t>
            </a:r>
          </a:p>
          <a:p xmlns:a="http://schemas.openxmlformats.org/drawingml/2006/main">
            <a:r>
              <a:t>| Language quality | Accurate Chinese and clear Vietnamese explanation | A defined rubric and competent language reviewers |</a:t>
            </a:r>
          </a:p>
          <a:p xmlns:a="http://schemas.openxmlformats.org/drawingml/2006/main">
            <a:r>
              <a:t>| Safety decisions | Accept permitted requests and reject prohibited ones | Synthetic cases measuring false acceptance and false rejection |</a:t>
            </a:r>
          </a:p>
          <a:p xmlns:a="http://schemas.openxmlformats.org/drawingml/2006/main">
            <a:r>
              <a:t>| Failure behavior | Handle timeout or invalid output without duplicate charges | Provider stubs and integration checks |</a:t>
            </a:r>
          </a:p>
          <a:p xmlns:a="http://schemas.openxmlformats.org/drawingml/2006/main">
            <a:r>
              <a:t/>
            </a:r>
          </a:p>
          <a:p xmlns:a="http://schemas.openxmlformats.org/drawingml/2006/main">
            <a:r>
              <a:t>**Illustrative activity**  </a:t>
            </a:r>
          </a:p>
          <a:p xmlns:a="http://schemas.openxmlformats.org/drawingml/2006/main">
            <a:r>
              <a:t>A learner asks how to greet a teacher. Evaluate meaning, appropriate language, explanation, and next-step usefulness.</a:t>
            </a:r>
          </a:p>
          <a:p xmlns:a="http://schemas.openxmlformats.org/drawingml/2006/main">
            <a:r>
              <a:t/>
            </a:r>
          </a:p>
          <a:p xmlns:a="http://schemas.openxmlformats.org/drawingml/2006/main">
            <a:r>
              <a:t>**Limit:** Passing a finite evaluation set does not establish universal safety or learning effectiveness.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Kịch bản này kéo dài khoảng ba đến bốn phút. Tôi mở FR-004 rồi chỉ ra cùng một điều kiện trong T025 và publishLesson. Sau đó mở test và giải thích dữ liệu đầu vào cùng exception được mong đợi. Nếu môi trường sẵn sàng, chạy lại lệnh chọn lọc. Nếu dùng kết quả ghi sẵn, phải nói rõ ngày chạy và phiên bản được kiểm tra. Cuối demo tôi nêu phần chưa được chứng minh như catalog hoặc concurrency. Đây là demo bằng chứng code và test, không phải demo toàn sản phẩm.</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[FR-004](D:/schinese/specs/F04-content-administration/spec.md:160), [T025](D:/schinese/specs/F04-content-administration/tasks.md:77), [service](D:/schinese/backend/src/main/java/net/pchinese/content/application/ContentPublicationService.java:143), [tests](D:/schinese/backend/src/test/java/net/pchinese/content/ContentPublicationServiceTest.java:44). Lệnh đã dùng: `mvn '-Dtest=ContentPublicationServiceTest,MediaIntakePolicyTest,AiAllowanceServiceTest' test` trong backend.</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**A4. A Reproducible F04 Evidence Demonstration**</a:t>
            </a:r>
          </a:p>
          <a:p xmlns:a="http://schemas.openxmlformats.org/drawingml/2006/main">
            <a:r>
              <a:t/>
            </a:r>
          </a:p>
          <a:p xmlns:a="http://schemas.openxmlformats.org/drawingml/2006/main">
            <a:r>
              <a:t>Demonstrate one requirement through its implementation and recorded verification.</a:t>
            </a:r>
          </a:p>
          <a:p xmlns:a="http://schemas.openxmlformats.org/drawingml/2006/main">
            <a:r>
              <a:t/>
            </a:r>
          </a:p>
          <a:p xmlns:a="http://schemas.openxmlformats.org/drawingml/2006/main">
            <a:r>
              <a:t>| Step | What to show | Point to explain |</a:t>
            </a:r>
          </a:p>
          <a:p xmlns:a="http://schemas.openxmlformats.org/drawingml/2006/main">
            <a:r>
              <a:t>| --- | --- | --- |</a:t>
            </a:r>
          </a:p>
          <a:p xmlns:a="http://schemas.openxmlformats.org/drawingml/2006/main">
            <a:r>
              <a:t>| 1 | F04 FR-004 | A lesson requires at least one segment |</a:t>
            </a:r>
          </a:p>
          <a:p xmlns:a="http://schemas.openxmlformats.org/drawingml/2006/main">
            <a:r>
              <a:t>| 2 | Task T025 | The publication rule has an implementation task |</a:t>
            </a:r>
          </a:p>
          <a:p xmlns:a="http://schemas.openxmlformats.org/drawingml/2006/main">
            <a:r>
              <a:t>| 3 | publishLesson() | The service rejects an empty segment list |</a:t>
            </a:r>
          </a:p>
          <a:p xmlns:a="http://schemas.openxmlformats.org/drawingml/2006/main">
            <a:r>
              <a:t>| 4 | The no-segment and draft-segment unit cases | Invalid content triggers the expected rejection |</a:t>
            </a:r>
          </a:p>
          <a:p xmlns:a="http://schemas.openxmlformats.org/drawingml/2006/main">
            <a:r>
              <a:t>| 5 | Selected test command or recorded output | Identify the result, version context, and remaining limits |</a:t>
            </a:r>
          </a:p>
          <a:p xmlns:a="http://schemas.openxmlformats.org/drawingml/2006/main">
            <a:r>
              <a:t/>
            </a:r>
          </a:p>
          <a:p xmlns:a="http://schemas.openxmlformats.org/drawingml/2006/main">
            <a:r>
              <a:t>**Evidence package**  </a:t>
            </a:r>
          </a:p>
          <a:p xmlns:a="http://schemas.openxmlformats.org/drawingml/2006/main">
            <a:r>
              <a:t>Record the source revision and working-tree changes, test date, environment, results, and unverified cases.</a:t>
            </a:r>
          </a:p>
          <a:p xmlns:a="http://schemas.openxmlformats.org/drawingml/2006/main">
            <a:r>
              <a:t/>
            </a:r>
          </a:p>
          <a:p xmlns:a="http://schemas.openxmlformats.org/drawingml/2006/main">
            <a:r>
              <a:t>**Closing statement**  </a:t>
            </a:r>
          </a:p>
          <a:p xmlns:a="http://schemas.openxmlformats.org/drawingml/2006/main">
            <a:r>
              <a:t>This demonstration supports selected publication behavior. It does not establish full application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Nếu được hỏi ai bảo đảm spec đúng, tôi sẽ nói người chịu trách nhiệm và người hiểu domain phải review theo tình huống, AI chỉ hỗ trợ. Nếu được hỏi SDD có giống Waterfall, tôi nhấn vào phạm vi feature và vòng phản hồi có phiên bản. Test pass có thể vẫn sai vì cùng một giả định sai xuất hiện ở spec, code và test. Vì vậy cần review và tình huống độc lập. Những nguyên lý yêu cầu, traceability và verification đã có trong kỹ nghệ phần mềm; bài này tập trung vào cách vận dụng chúng khi AI tham gia thực thi.</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Sách §8.2, §8.5 và §13.6. Quy trình review trong [Constitution](D:/schinese/CONSTITUTION.md:83). Đây là câu trả lời tổng hợp cho bảo vệ, không phải trích nguyên văn sách.</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**A5. Methodology Questions**</a:t>
            </a:r>
          </a:p>
          <a:p xmlns:a="http://schemas.openxmlformats.org/drawingml/2006/main">
            <a:r>
              <a:t/>
            </a:r>
          </a:p>
          <a:p xmlns:a="http://schemas.openxmlformats.org/drawingml/2006/main">
            <a:r>
              <a:t>Specification control must include human judgment, independent checks, and managed change.</a:t>
            </a:r>
          </a:p>
          <a:p xmlns:a="http://schemas.openxmlformats.org/drawingml/2006/main">
            <a:r>
              <a:t/>
            </a:r>
          </a:p>
          <a:p xmlns:a="http://schemas.openxmlformats.org/drawingml/2006/main">
            <a:r>
              <a:t>| Question | Defensible answer |</a:t>
            </a:r>
          </a:p>
          <a:p xmlns:a="http://schemas.openxmlformats.org/drawingml/2006/main">
            <a:r>
              <a:t>| --- | --- |</a:t>
            </a:r>
          </a:p>
          <a:p xmlns:a="http://schemas.openxmlformats.org/drawingml/2006/main">
            <a:r>
              <a:t>| Who validates the specification? | The requirement owner and domain reviewers, supported by concrete scenarios and user feedback |</a:t>
            </a:r>
          </a:p>
          <a:p xmlns:a="http://schemas.openxmlformats.org/drawingml/2006/main">
            <a:r>
              <a:t>| Does this become Waterfall? | Work in bounded features and revise the baseline through reviewed feedback |</a:t>
            </a:r>
          </a:p>
          <a:p xmlns:a="http://schemas.openxmlformats.org/drawingml/2006/main">
            <a:r>
              <a:t>| Why can passing tests still miss a defect? | Tests may omit a case or share the implementation's mistaken assumption |</a:t>
            </a:r>
          </a:p>
          <a:p xmlns:a="http://schemas.openxmlformats.org/drawingml/2006/main">
            <a:r>
              <a:t>| Is more specification always better? | Choose depth according to risk and include writing and review in the effort cost |</a:t>
            </a:r>
          </a:p>
          <a:p xmlns:a="http://schemas.openxmlformats.org/drawingml/2006/main">
            <a:r>
              <a:t>| What is distinctive about using specs with AI? | Structured context guides agent execution, while traceability and review check its output |</a:t>
            </a:r>
          </a:p>
          <a:p xmlns:a="http://schemas.openxmlformats.org/drawingml/2006/main">
            <a:r>
              <a:t/>
            </a:r>
          </a:p>
          <a:p xmlns:a="http://schemas.openxmlformats.org/drawingml/2006/main">
            <a:r>
              <a:t>A specification organizes decisions. Its quality and enforcement still require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
            </a:r>
          </a:p>
          <a:p xmlns:a="http://schemas.openxmlformats.org/drawingml/2006/main">
            <a:r>
              <a:t>Dự án đang làm dở vẫn cung cấp được bằng chứng về cách kiểm soát và một số hành vi đã kiểm tra. Tôi không chuyển điều đó thành tuyên bố toàn dự án đúng 100%. Khi AI viết cả code và test, reviewer cần tiêu chí độc lập, có thể bổ sung mutation test trong thử nghiệm phù hợp để xem test phát hiện sai lệch không. Helper mới không tự chứng minh mất kiểm soát, nhưng cần rà soát mục đích và tác dụng phụ. Tối ưu cần phép đo. ai-service là ngoại lệ hỗ trợ được Constitution cho phép, song vẫn phải kiểm chứng ranh giới thực tế.</a:t>
            </a:r>
          </a:p>
          <a:p xmlns:a="http://schemas.openxmlformats.org/drawingml/2006/main">
            <a:r>
              <a:t/>
            </a:r>
          </a:p>
          <a:p xmlns:a="http://schemas.openxmlformats.org/drawingml/2006/main">
            <a:r>
              <a:t>NGUỒN VÀ PHẠM VI BẰNG CHỨNG</a:t>
            </a:r>
          </a:p>
          <a:p xmlns:a="http://schemas.openxmlformats.org/drawingml/2006/main">
            <a:r>
              <a:t/>
            </a:r>
          </a:p>
          <a:p xmlns:a="http://schemas.openxmlformats.org/drawingml/2006/main">
            <a:r>
              <a:t>[Constitution](D:/schinese/CONSTITUTION.md), [AI boundary](D:/schinese/CLAUDE.md:180), kết quả test lịch sử tại slide 22 và giới hạn đề xuất ở slide 26–27. Chưa thực hiện mutation testing hoặc benchmark trong đợt chuẩn bị này.</a:t>
            </a:r>
          </a:p>
          <a:p xmlns:a="http://schemas.openxmlformats.org/drawingml/2006/main">
            <a:r>
              <a:t/>
            </a:r>
          </a:p>
          <a:p xmlns:a="http://schemas.openxmlformats.org/drawingml/2006/main">
            <a:r>
              <a:t>NỘI DUNG THAM CHIẾU</a:t>
            </a:r>
          </a:p>
          <a:p xmlns:a="http://schemas.openxmlformats.org/drawingml/2006/main">
            <a:r>
              <a:t/>
            </a:r>
          </a:p>
          <a:p xmlns:a="http://schemas.openxmlformats.org/drawingml/2006/main">
            <a:r>
              <a:t>**A6. Questions About Schinese Evidence**</a:t>
            </a:r>
          </a:p>
          <a:p xmlns:a="http://schemas.openxmlformats.org/drawingml/2006/main">
            <a:r>
              <a:t/>
            </a:r>
          </a:p>
          <a:p xmlns:a="http://schemas.openxmlformats.org/drawingml/2006/main">
            <a:r>
              <a:t>Each answer should distinguish the observed result from the work still needed.</a:t>
            </a:r>
          </a:p>
          <a:p xmlns:a="http://schemas.openxmlformats.org/drawingml/2006/main">
            <a:r>
              <a:t/>
            </a:r>
          </a:p>
          <a:p xmlns:a="http://schemas.openxmlformats.org/drawingml/2006/main">
            <a:r>
              <a:t>| Question | Evidence-based answer |</a:t>
            </a:r>
          </a:p>
          <a:p xmlns:a="http://schemas.openxmlformats.org/drawingml/2006/main">
            <a:r>
              <a:t>| --- | --- |</a:t>
            </a:r>
          </a:p>
          <a:p xmlns:a="http://schemas.openxmlformats.org/drawingml/2006/main">
            <a:r>
              <a:t>| What can an unfinished project demonstrate? | Selected requirement/code/test traces and recorded results |</a:t>
            </a:r>
          </a:p>
          <a:p xmlns:a="http://schemas.openxmlformats.org/drawingml/2006/main">
            <a:r>
              <a:t>| Is specification correctness 100%? | Claims require a defined scope, baseline, and evaluation method |</a:t>
            </a:r>
          </a:p>
          <a:p xmlns:a="http://schemas.openxmlformats.org/drawingml/2006/main">
            <a:r>
              <a:t>| What if AI writes both code and tests? | Review against independent criteria and add challenging cases |</a:t>
            </a:r>
          </a:p>
          <a:p xmlns:a="http://schemas.openxmlformats.org/drawingml/2006/main">
            <a:r>
              <a:t>| Do extra AI-generated helpers mean loss of control? | Review their purpose, callers, assumptions, and side effects |</a:t>
            </a:r>
          </a:p>
          <a:p xmlns:a="http://schemas.openxmlformats.org/drawingml/2006/main">
            <a:r>
              <a:t>| How is optimization proven? | Preserve required behavior and measure against a baseline |</a:t>
            </a:r>
          </a:p>
          <a:p xmlns:a="http://schemas.openxmlformats.org/drawingml/2006/main">
            <a:r>
              <a:t>| Does a private ai-service violate the architecture? | The Constitution permits this supporting service while the backend retains product authority |</a:t>
            </a:r>
          </a:p>
          <a:p xmlns:a="http://schemas.openxmlformats.org/drawingml/2006/main">
            <a:r>
              <a:t/>
            </a:r>
          </a:p>
          <a:p xmlns:a="http://schemas.openxmlformats.org/drawingml/2006/main">
            <a:r>
              <a:t>Full release readiness and learning impact remain separate claims requiring additional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dadda502724b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15038bce544d1c" /><Relationship Type="http://schemas.openxmlformats.org/officeDocument/2006/relationships/slideLayout" Target="/ppt/slideLayouts/slideLayout1.xml" Id="R4f84d3b58c7b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84d3b58c7b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ce551f41b4414b" /><Relationship Type="http://schemas.openxmlformats.org/officeDocument/2006/relationships/notesSlide" Target="/ppt/notesSlides/notesSlide1.xml" Id="Rebf246ce9a5c47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168bd3af6e47ae" /><Relationship Type="http://schemas.openxmlformats.org/officeDocument/2006/relationships/notesSlide" Target="/ppt/notesSlides/notesSlide2.xml" Id="Rc7c9af580b3a46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ae66ab615544c1" /><Relationship Type="http://schemas.openxmlformats.org/officeDocument/2006/relationships/notesSlide" Target="/ppt/notesSlides/notesSlide3.xml" Id="R997782d500c34e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e2a59fb8674a28" /><Relationship Type="http://schemas.openxmlformats.org/officeDocument/2006/relationships/notesSlide" Target="/ppt/notesSlides/notesSlide4.xml" Id="R5897127024344d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8cdc5e612444c6" /><Relationship Type="http://schemas.openxmlformats.org/officeDocument/2006/relationships/notesSlide" Target="/ppt/notesSlides/notesSlide5.xml" Id="R10cce0cdd4d94f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465b42f2ac463b" /><Relationship Type="http://schemas.openxmlformats.org/officeDocument/2006/relationships/notesSlide" Target="/ppt/notesSlides/notesSlide6.xml" Id="R11afada779ee42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3108b69d504724" /><Relationship Type="http://schemas.openxmlformats.org/officeDocument/2006/relationships/notesSlide" Target="/ppt/notesSlides/notesSlide7.xml" Id="Rd5f989d68b7448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637a5d4fe64939" /><Relationship Type="http://schemas.openxmlformats.org/officeDocument/2006/relationships/notesSlide" Target="/ppt/notesSlides/notesSlide8.xml" Id="Rf8c92b59c12440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57d64922274f60" /><Relationship Type="http://schemas.openxmlformats.org/officeDocument/2006/relationships/notesSlide" Target="/ppt/notesSlides/notesSlide9.xml" Id="R634173edf43641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992ebfadb44ad0" /><Relationship Type="http://schemas.openxmlformats.org/officeDocument/2006/relationships/notesSlide" Target="/ppt/notesSlides/notesSlide10.xml" Id="R67dae9b2e81042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f922d8f820412b" /><Relationship Type="http://schemas.openxmlformats.org/officeDocument/2006/relationships/notesSlide" Target="/ppt/notesSlides/notesSlide11.xml" Id="R8aa1c85da1c74b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ce9ff55ef944e9" /><Relationship Type="http://schemas.openxmlformats.org/officeDocument/2006/relationships/notesSlide" Target="/ppt/notesSlides/notesSlide12.xml" Id="R687f350231e14f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4bed2616514cee" /><Relationship Type="http://schemas.openxmlformats.org/officeDocument/2006/relationships/notesSlide" Target="/ppt/notesSlides/notesSlide13.xml" Id="Rc0b3707c06044a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bbf524ab7841c4" /><Relationship Type="http://schemas.openxmlformats.org/officeDocument/2006/relationships/notesSlide" Target="/ppt/notesSlides/notesSlide14.xml" Id="R3d548844941e45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ef81c9b18e4b55" /><Relationship Type="http://schemas.openxmlformats.org/officeDocument/2006/relationships/notesSlide" Target="/ppt/notesSlides/notesSlide15.xml" Id="Re41e76c5e6ec45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013b75b33f4b5d" /><Relationship Type="http://schemas.openxmlformats.org/officeDocument/2006/relationships/notesSlide" Target="/ppt/notesSlides/notesSlide16.xml" Id="Re83886c7d3b643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2d4f75b48b7492d" /><Relationship Type="http://schemas.openxmlformats.org/officeDocument/2006/relationships/notesSlide" Target="/ppt/notesSlides/notesSlide17.xml" Id="Rb5e1ad26ac374e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eaa93435bf41fd" /><Relationship Type="http://schemas.openxmlformats.org/officeDocument/2006/relationships/notesSlide" Target="/ppt/notesSlides/notesSlide18.xml" Id="R3b9a194538b440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5081a7a3ea455b" /><Relationship Type="http://schemas.openxmlformats.org/officeDocument/2006/relationships/notesSlide" Target="/ppt/notesSlides/notesSlide19.xml" Id="R88c0b219d64949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21c44141d904e68" /><Relationship Type="http://schemas.openxmlformats.org/officeDocument/2006/relationships/notesSlide" Target="/ppt/notesSlides/notesSlide20.xml" Id="R6d09d41dd6204d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2b3c20103249c1" /><Relationship Type="http://schemas.openxmlformats.org/officeDocument/2006/relationships/notesSlide" Target="/ppt/notesSlides/notesSlide21.xml" Id="Ref4619dcdbc04ee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a2071781de458b" /><Relationship Type="http://schemas.openxmlformats.org/officeDocument/2006/relationships/notesSlide" Target="/ppt/notesSlides/notesSlide22.xml" Id="Ra2f6dbf6897a4db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a8947b6911443f" /><Relationship Type="http://schemas.openxmlformats.org/officeDocument/2006/relationships/notesSlide" Target="/ppt/notesSlides/notesSlide23.xml" Id="R4a9dad63748c45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dba0b7555448c7" /><Relationship Type="http://schemas.openxmlformats.org/officeDocument/2006/relationships/notesSlide" Target="/ppt/notesSlides/notesSlide24.xml" Id="R9d766a2801524b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e4a1ec91838406b" /><Relationship Type="http://schemas.openxmlformats.org/officeDocument/2006/relationships/notesSlide" Target="/ppt/notesSlides/notesSlide25.xml" Id="Reafd133c14b047c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619d8c7a5344ca7" /><Relationship Type="http://schemas.openxmlformats.org/officeDocument/2006/relationships/notesSlide" Target="/ppt/notesSlides/notesSlide26.xml" Id="Re38a6430b55f4ae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6761e9875964580" /><Relationship Type="http://schemas.openxmlformats.org/officeDocument/2006/relationships/notesSlide" Target="/ppt/notesSlides/notesSlide27.xml" Id="R5e2c599057b5491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3940ec6c2294271" /><Relationship Type="http://schemas.openxmlformats.org/officeDocument/2006/relationships/notesSlide" Target="/ppt/notesSlides/notesSlide28.xml" Id="Rbad36a6c656547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b2e11bfa22e4082" /><Relationship Type="http://schemas.openxmlformats.org/officeDocument/2006/relationships/notesSlide" Target="/ppt/notesSlides/notesSlide29.xml" Id="R6fc1d48acdb347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b6b781d171943bc" /><Relationship Type="http://schemas.openxmlformats.org/officeDocument/2006/relationships/notesSlide" Target="/ppt/notesSlides/notesSlide30.xml" Id="Rb14d2fc595a342e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523346d57ed42c6" /><Relationship Type="http://schemas.openxmlformats.org/officeDocument/2006/relationships/notesSlide" Target="/ppt/notesSlides/notesSlide31.xml" Id="R09b8aa60c7fc4b4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5ab12b1f9474ff5" /><Relationship Type="http://schemas.openxmlformats.org/officeDocument/2006/relationships/notesSlide" Target="/ppt/notesSlides/notesSlide32.xml" Id="Rdb1d272c862c4fa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6c035c7bcd24ba4" /><Relationship Type="http://schemas.openxmlformats.org/officeDocument/2006/relationships/notesSlide" Target="/ppt/notesSlides/notesSlide33.xml" Id="Rb1df51b404e04af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0b3b00b7275451c" /><Relationship Type="http://schemas.openxmlformats.org/officeDocument/2006/relationships/notesSlide" Target="/ppt/notesSlides/notesSlide34.xml" Id="R54ba562f38d2498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697c025fc8f498f" /><Relationship Type="http://schemas.openxmlformats.org/officeDocument/2006/relationships/notesSlide" Target="/ppt/notesSlides/notesSlide35.xml" Id="R200dc827da1c45d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f211a9391c44b67" /><Relationship Type="http://schemas.openxmlformats.org/officeDocument/2006/relationships/notesSlide" Target="/ppt/notesSlides/notesSlide36.xml" Id="Rb6b5dec4d1054e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8ac5ca5d3e9445f" /><Relationship Type="http://schemas.openxmlformats.org/officeDocument/2006/relationships/notesSlide" Target="/ppt/notesSlides/notesSlide37.xml" Id="Rf68d492d9d8046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b5c68066508430b" /><Relationship Type="http://schemas.openxmlformats.org/officeDocument/2006/relationships/notesSlide" Target="/ppt/notesSlides/notesSlide38.xml" Id="Rf9c6c75d75694d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2846B4-646A-419C-A032-ECF47FE9F6D2}"/>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2" name="">
            <a:extLst xmlns:a="http://schemas.openxmlformats.org/drawingml/2006/main">
              <a:ext uri="{FF2B5EF4-FFF2-40B4-BE49-F238E27FC236}">
                <a16:creationId xmlns:a16="http://schemas.microsoft.com/office/drawing/2014/main" id="{4670BDA2-C1E2-4451-878E-43E346E77A2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3" name="text">
            <a:extLst xmlns:a="http://schemas.openxmlformats.org/drawingml/2006/main">
              <a:ext uri="{FF2B5EF4-FFF2-40B4-BE49-F238E27FC236}">
                <a16:creationId xmlns:a16="http://schemas.microsoft.com/office/drawing/2014/main" id="{0A8EFBC7-7386-49C2-9E8D-BC2309030D7E}"/>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MVP feature map</a:t>
            </a:r>
          </a:p>
        </p:txBody>
      </p:sp>
      <p:sp>
        <p:nvSpPr>
          <p:cNvPr id="4" name="text">
            <a:extLst xmlns:a="http://schemas.openxmlformats.org/drawingml/2006/main">
              <a:ext uri="{FF2B5EF4-FFF2-40B4-BE49-F238E27FC236}">
                <a16:creationId xmlns:a16="http://schemas.microsoft.com/office/drawing/2014/main" id="{92ECA541-7E49-4F1D-9A1D-0EE440B9E40C}"/>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 / 32</a:t>
            </a:r>
          </a:p>
        </p:txBody>
      </p:sp>
      <p:sp>
        <p:nvSpPr>
          <p:cNvPr id="5" name="text">
            <a:extLst xmlns:a="http://schemas.openxmlformats.org/drawingml/2006/main">
              <a:ext uri="{FF2B5EF4-FFF2-40B4-BE49-F238E27FC236}">
                <a16:creationId xmlns:a16="http://schemas.microsoft.com/office/drawing/2014/main" id="{42AC0CAD-158C-4C20-9934-A56E89B8FE78}"/>
              </a:ext>
            </a:extLst>
          </p:cNvPr>
          <p:cNvSpPr>
            <a:spLocks xmlns:a="http://schemas.openxmlformats.org/drawingml/2006/main" noGrp="1"/>
          </p:cNvSpPr>
          <p:nvPr/>
        </p:nvSpPr>
        <p:spPr>
          <a:xfrm xmlns:a="http://schemas.openxmlformats.org/drawingml/2006/main">
            <a:off x="762000" y="2006600"/>
            <a:ext cx="167640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5800" b="1">
                <a:solidFill>
                  <a:srgbClr val="111827"/>
                </a:solidFill>
                <a:latin typeface="Calibri"/>
                <a:ea typeface="Calibri"/>
                <a:cs typeface="Calibri"/>
              </a:defRPr>
            </a:pPr>
            <a:r>
              <a:rPr sz="5800" b="1">
                <a:solidFill>
                  <a:srgbClr val="111827"/>
                </a:solidFill>
                <a:latin typeface="Calibri"/>
                <a:ea typeface="Calibri"/>
                <a:cs typeface="Calibri"/>
              </a:rPr>
              <a:t>Schinese</a:t>
            </a:r>
          </a:p>
        </p:txBody>
      </p:sp>
      <p:sp>
        <p:nvSpPr>
          <p:cNvPr id="6" name="text">
            <a:extLst xmlns:a="http://schemas.openxmlformats.org/drawingml/2006/main">
              <a:ext uri="{FF2B5EF4-FFF2-40B4-BE49-F238E27FC236}">
                <a16:creationId xmlns:a16="http://schemas.microsoft.com/office/drawing/2014/main" id="{FDBFBCCC-974E-4964-A828-0A81358FA835}"/>
              </a:ext>
            </a:extLst>
          </p:cNvPr>
          <p:cNvSpPr>
            <a:spLocks xmlns:a="http://schemas.openxmlformats.org/drawingml/2006/main" noGrp="1"/>
          </p:cNvSpPr>
          <p:nvPr/>
        </p:nvSpPr>
        <p:spPr>
          <a:xfrm xmlns:a="http://schemas.openxmlformats.org/drawingml/2006/main">
            <a:off x="1714500" y="3073400"/>
            <a:ext cx="14859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600" b="1">
                <a:solidFill>
                  <a:srgbClr val="111827"/>
                </a:solidFill>
                <a:latin typeface="Calibri"/>
                <a:ea typeface="Calibri"/>
                <a:cs typeface="Calibri"/>
              </a:defRPr>
            </a:pPr>
            <a:r>
              <a:rPr sz="4600" b="1">
                <a:solidFill>
                  <a:srgbClr val="111827"/>
                </a:solidFill>
                <a:latin typeface="Calibri"/>
                <a:ea typeface="Calibri"/>
                <a:cs typeface="Calibri"/>
              </a:rPr>
              <a:t>Specification Control in</a:t>
            </a:r>
          </a:p>
          <a:p xmlns:a="http://schemas.openxmlformats.org/drawingml/2006/main">
            <a:pPr algn="ctr">
              <a:defRPr sz="4600" b="1">
                <a:solidFill>
                  <a:srgbClr val="111827"/>
                </a:solidFill>
                <a:latin typeface="Calibri"/>
                <a:ea typeface="Calibri"/>
                <a:cs typeface="Calibri"/>
              </a:defRPr>
            </a:pPr>
            <a:r>
              <a:rPr sz="4600" b="1">
                <a:solidFill>
                  <a:srgbClr val="111827"/>
                </a:solidFill>
                <a:latin typeface="Calibri"/>
                <a:ea typeface="Calibri"/>
                <a:cs typeface="Calibri"/>
              </a:rPr>
              <a:t>AI-Assisted Development</a:t>
            </a:r>
          </a:p>
        </p:txBody>
      </p:sp>
      <p:sp>
        <p:nvSpPr>
          <p:cNvPr id="7" name="text">
            <a:extLst xmlns:a="http://schemas.openxmlformats.org/drawingml/2006/main">
              <a:ext uri="{FF2B5EF4-FFF2-40B4-BE49-F238E27FC236}">
                <a16:creationId xmlns:a16="http://schemas.microsoft.com/office/drawing/2014/main" id="{6DE704D8-6960-40B4-8C8D-BB12BAB77B1E}"/>
              </a:ext>
            </a:extLst>
          </p:cNvPr>
          <p:cNvSpPr>
            <a:spLocks xmlns:a="http://schemas.openxmlformats.org/drawingml/2006/main" noGrp="1"/>
          </p:cNvSpPr>
          <p:nvPr/>
        </p:nvSpPr>
        <p:spPr>
          <a:xfrm xmlns:a="http://schemas.openxmlformats.org/drawingml/2006/main">
            <a:off x="1841500" y="4699000"/>
            <a:ext cx="14605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0">
                <a:solidFill>
                  <a:srgbClr val="64748B"/>
                </a:solidFill>
                <a:latin typeface="Calibri"/>
                <a:ea typeface="Calibri"/>
                <a:cs typeface="Calibri"/>
              </a:defRPr>
            </a:pPr>
            <a:r>
              <a:rPr sz="2700" b="0">
                <a:solidFill>
                  <a:srgbClr val="64748B"/>
                </a:solidFill>
                <a:latin typeface="Calibri"/>
                <a:ea typeface="Calibri"/>
                <a:cs typeface="Calibri"/>
              </a:rPr>
              <a:t>A case study of Schinese, a Chinese-learning web application for Vietnamese learners.</a:t>
            </a:r>
          </a:p>
        </p:txBody>
      </p:sp>
      <p:sp>
        <p:nvSpPr>
          <p:cNvPr id="8" name="text">
            <a:extLst xmlns:a="http://schemas.openxmlformats.org/drawingml/2006/main">
              <a:ext uri="{FF2B5EF4-FFF2-40B4-BE49-F238E27FC236}">
                <a16:creationId xmlns:a16="http://schemas.microsoft.com/office/drawing/2014/main" id="{BC4BD8AB-9469-40D1-83BC-ECDC1A90A520}"/>
              </a:ext>
            </a:extLst>
          </p:cNvPr>
          <p:cNvSpPr>
            <a:spLocks xmlns:a="http://schemas.openxmlformats.org/drawingml/2006/main" noGrp="1"/>
          </p:cNvSpPr>
          <p:nvPr/>
        </p:nvSpPr>
        <p:spPr>
          <a:xfrm xmlns:a="http://schemas.openxmlformats.org/drawingml/2006/main">
            <a:off x="762000" y="5943600"/>
            <a:ext cx="958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Product context</a:t>
            </a:r>
          </a:p>
        </p:txBody>
      </p:sp>
      <p:sp>
        <p:nvSpPr>
          <p:cNvPr id="9" name="text">
            <a:extLst xmlns:a="http://schemas.openxmlformats.org/drawingml/2006/main">
              <a:ext uri="{FF2B5EF4-FFF2-40B4-BE49-F238E27FC236}">
                <a16:creationId xmlns:a16="http://schemas.microsoft.com/office/drawing/2014/main" id="{113EAFD9-7611-410D-BB2A-F8EDBAC81201}"/>
              </a:ext>
            </a:extLst>
          </p:cNvPr>
          <p:cNvSpPr>
            <a:spLocks xmlns:a="http://schemas.openxmlformats.org/drawingml/2006/main" noGrp="1"/>
          </p:cNvSpPr>
          <p:nvPr/>
        </p:nvSpPr>
        <p:spPr>
          <a:xfrm xmlns:a="http://schemas.openxmlformats.org/drawingml/2006/main">
            <a:off x="762000" y="6388100"/>
            <a:ext cx="95885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Administrators prepare learning content. Learners practise with video</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lessons, vocabulary review, and guided AI conversations.</a:t>
            </a:r>
          </a:p>
        </p:txBody>
      </p:sp>
      <p:sp>
        <p:nvSpPr>
          <p:cNvPr id="10" name="text">
            <a:extLst xmlns:a="http://schemas.openxmlformats.org/drawingml/2006/main">
              <a:ext uri="{FF2B5EF4-FFF2-40B4-BE49-F238E27FC236}">
                <a16:creationId xmlns:a16="http://schemas.microsoft.com/office/drawing/2014/main" id="{972DA02F-BEB0-424D-91D4-A04BCB44EB2B}"/>
              </a:ext>
            </a:extLst>
          </p:cNvPr>
          <p:cNvSpPr>
            <a:spLocks xmlns:a="http://schemas.openxmlformats.org/drawingml/2006/main" noGrp="1"/>
          </p:cNvSpPr>
          <p:nvPr/>
        </p:nvSpPr>
        <p:spPr>
          <a:xfrm xmlns:a="http://schemas.openxmlformats.org/drawingml/2006/main">
            <a:off x="762000" y="764540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Research question</a:t>
            </a:r>
          </a:p>
        </p:txBody>
      </p:sp>
      <p:sp>
        <p:nvSpPr>
          <p:cNvPr id="11" name="text">
            <a:extLst xmlns:a="http://schemas.openxmlformats.org/drawingml/2006/main">
              <a:ext uri="{FF2B5EF4-FFF2-40B4-BE49-F238E27FC236}">
                <a16:creationId xmlns:a16="http://schemas.microsoft.com/office/drawing/2014/main" id="{156B5518-DE26-4B94-81BD-12059855C63B}"/>
              </a:ext>
            </a:extLst>
          </p:cNvPr>
          <p:cNvSpPr>
            <a:spLocks xmlns:a="http://schemas.openxmlformats.org/drawingml/2006/main" noGrp="1"/>
          </p:cNvSpPr>
          <p:nvPr/>
        </p:nvSpPr>
        <p:spPr>
          <a:xfrm xmlns:a="http://schemas.openxmlformats.org/drawingml/2006/main">
            <a:off x="762000" y="8089900"/>
            <a:ext cx="100965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How can we trace a requirement through design, implementation, and</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verification?</a:t>
            </a:r>
          </a:p>
        </p:txBody>
      </p:sp>
      <p:sp>
        <p:nvSpPr>
          <p:cNvPr id="12" name="Admin">
            <a:extLst xmlns:a="http://schemas.openxmlformats.org/drawingml/2006/main">
              <a:ext uri="{FF2B5EF4-FFF2-40B4-BE49-F238E27FC236}">
                <a16:creationId xmlns:a16="http://schemas.microsoft.com/office/drawing/2014/main" id="{1E3A3E2F-6C87-43EA-8635-55866A210A72}"/>
              </a:ext>
            </a:extLst>
          </p:cNvPr>
          <p:cNvSpPr>
            <a:spLocks xmlns:a="http://schemas.openxmlformats.org/drawingml/2006/main" noGrp="1"/>
          </p:cNvSpPr>
          <p:nvPr/>
        </p:nvSpPr>
        <p:spPr>
          <a:xfrm xmlns:a="http://schemas.openxmlformats.org/drawingml/2006/main">
            <a:off x="11480800" y="6146800"/>
            <a:ext cx="1778000" cy="812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3" name="text">
            <a:extLst xmlns:a="http://schemas.openxmlformats.org/drawingml/2006/main">
              <a:ext uri="{FF2B5EF4-FFF2-40B4-BE49-F238E27FC236}">
                <a16:creationId xmlns:a16="http://schemas.microsoft.com/office/drawing/2014/main" id="{8AA58FA3-7E65-4590-80DB-2A2CB6E5A83F}"/>
              </a:ext>
            </a:extLst>
          </p:cNvPr>
          <p:cNvSpPr>
            <a:spLocks xmlns:a="http://schemas.openxmlformats.org/drawingml/2006/main" noGrp="1"/>
          </p:cNvSpPr>
          <p:nvPr/>
        </p:nvSpPr>
        <p:spPr>
          <a:xfrm xmlns:a="http://schemas.openxmlformats.org/drawingml/2006/main">
            <a:off x="11633200" y="6299200"/>
            <a:ext cx="1473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Admin</a:t>
            </a:r>
          </a:p>
        </p:txBody>
      </p:sp>
      <p:sp>
        <p:nvSpPr>
          <p:cNvPr id="14" name="Lesson">
            <a:extLst xmlns:a="http://schemas.openxmlformats.org/drawingml/2006/main">
              <a:ext uri="{FF2B5EF4-FFF2-40B4-BE49-F238E27FC236}">
                <a16:creationId xmlns:a16="http://schemas.microsoft.com/office/drawing/2014/main" id="{D4684D31-CDD6-4C57-B115-61874EA175DF}"/>
              </a:ext>
            </a:extLst>
          </p:cNvPr>
          <p:cNvSpPr>
            <a:spLocks xmlns:a="http://schemas.openxmlformats.org/drawingml/2006/main" noGrp="1"/>
          </p:cNvSpPr>
          <p:nvPr/>
        </p:nvSpPr>
        <p:spPr>
          <a:xfrm xmlns:a="http://schemas.openxmlformats.org/drawingml/2006/main">
            <a:off x="13716000" y="6146800"/>
            <a:ext cx="1778000" cy="812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5" name="text">
            <a:extLst xmlns:a="http://schemas.openxmlformats.org/drawingml/2006/main">
              <a:ext uri="{FF2B5EF4-FFF2-40B4-BE49-F238E27FC236}">
                <a16:creationId xmlns:a16="http://schemas.microsoft.com/office/drawing/2014/main" id="{703CD781-CE0D-4754-A6E9-ECE2A6019F41}"/>
              </a:ext>
            </a:extLst>
          </p:cNvPr>
          <p:cNvSpPr>
            <a:spLocks xmlns:a="http://schemas.openxmlformats.org/drawingml/2006/main" noGrp="1"/>
          </p:cNvSpPr>
          <p:nvPr/>
        </p:nvSpPr>
        <p:spPr>
          <a:xfrm xmlns:a="http://schemas.openxmlformats.org/drawingml/2006/main">
            <a:off x="13868400" y="6299200"/>
            <a:ext cx="1473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Lesson</a:t>
            </a:r>
          </a:p>
        </p:txBody>
      </p:sp>
      <p:sp>
        <p:nvSpPr>
          <p:cNvPr id="16" name="Learner">
            <a:extLst xmlns:a="http://schemas.openxmlformats.org/drawingml/2006/main">
              <a:ext uri="{FF2B5EF4-FFF2-40B4-BE49-F238E27FC236}">
                <a16:creationId xmlns:a16="http://schemas.microsoft.com/office/drawing/2014/main" id="{4F4BA7DC-0D25-4B75-9B29-853091DAE3E3}"/>
              </a:ext>
            </a:extLst>
          </p:cNvPr>
          <p:cNvSpPr>
            <a:spLocks xmlns:a="http://schemas.openxmlformats.org/drawingml/2006/main" noGrp="1"/>
          </p:cNvSpPr>
          <p:nvPr/>
        </p:nvSpPr>
        <p:spPr>
          <a:xfrm xmlns:a="http://schemas.openxmlformats.org/drawingml/2006/main">
            <a:off x="15951200" y="6146800"/>
            <a:ext cx="1778000" cy="812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7" name="text">
            <a:extLst xmlns:a="http://schemas.openxmlformats.org/drawingml/2006/main">
              <a:ext uri="{FF2B5EF4-FFF2-40B4-BE49-F238E27FC236}">
                <a16:creationId xmlns:a16="http://schemas.microsoft.com/office/drawing/2014/main" id="{4A1ECC38-4D32-4FBB-BCAE-254D0D91AC86}"/>
              </a:ext>
            </a:extLst>
          </p:cNvPr>
          <p:cNvSpPr>
            <a:spLocks xmlns:a="http://schemas.openxmlformats.org/drawingml/2006/main" noGrp="1"/>
          </p:cNvSpPr>
          <p:nvPr/>
        </p:nvSpPr>
        <p:spPr>
          <a:xfrm xmlns:a="http://schemas.openxmlformats.org/drawingml/2006/main">
            <a:off x="16103600" y="6299200"/>
            <a:ext cx="1473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Learner</a:t>
            </a:r>
          </a:p>
        </p:txBody>
      </p:sp>
      <p:cxnSp>
        <p:nvCxnSpPr>
          <p:cNvPr id="38" name=""/>
          <p:cNvCxnSpPr>
            <a:stCxn xmlns:a="http://schemas.openxmlformats.org/drawingml/2006/main" id="12" idx="3"/>
            <a:endCxn xmlns:a="http://schemas.openxmlformats.org/drawingml/2006/main" id="14" idx="1"/>
          </p:cNvCxnSpPr>
          <p:nvPr/>
        </p:nvCxnSpPr>
        <p:spPr>
          <a:xfrm xmlns:a="http://schemas.openxmlformats.org/drawingml/2006/main">
            <a:off x="13258800" y="6553200"/>
            <a:ext cx="4572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39" name=""/>
          <p:cNvCxnSpPr>
            <a:stCxn xmlns:a="http://schemas.openxmlformats.org/drawingml/2006/main" id="14" idx="3"/>
            <a:endCxn xmlns:a="http://schemas.openxmlformats.org/drawingml/2006/main" id="16" idx="1"/>
          </p:cNvCxnSpPr>
          <p:nvPr/>
        </p:nvCxnSpPr>
        <p:spPr>
          <a:xfrm xmlns:a="http://schemas.openxmlformats.org/drawingml/2006/main">
            <a:off x="15494000" y="6553200"/>
            <a:ext cx="457200" cy="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20" name="text">
            <a:extLst xmlns:a="http://schemas.openxmlformats.org/drawingml/2006/main">
              <a:ext uri="{FF2B5EF4-FFF2-40B4-BE49-F238E27FC236}">
                <a16:creationId xmlns:a16="http://schemas.microsoft.com/office/drawing/2014/main" id="{8ED39B7D-A457-4881-8B1F-D8864AA2F8D9}"/>
              </a:ext>
            </a:extLst>
          </p:cNvPr>
          <p:cNvSpPr>
            <a:spLocks xmlns:a="http://schemas.openxmlformats.org/drawingml/2006/main" noGrp="1"/>
          </p:cNvSpPr>
          <p:nvPr/>
        </p:nvSpPr>
        <p:spPr>
          <a:xfrm xmlns:a="http://schemas.openxmlformats.org/drawingml/2006/main">
            <a:off x="11557000" y="7505700"/>
            <a:ext cx="5969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Scope of this presentation</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An ongoing project with selected verification</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evidence.</a:t>
            </a:r>
          </a:p>
        </p:txBody>
      </p:sp>
    </p:spTree>
    <p:extLst>
      <p:ext uri="{BB962C8B-B14F-4D97-AF65-F5344CB8AC3E}">
        <p14:creationId xmlns:p14="http://schemas.microsoft.com/office/powerpoint/2010/main" val="2069126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59EB1B5-F5C0-4160-9817-30531417F147}"/>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Table of Contents</a:t>
            </a:r>
          </a:p>
        </p:txBody>
      </p:sp>
      <p:sp>
        <p:nvSpPr>
          <p:cNvPr id="2" name="">
            <a:extLst xmlns:a="http://schemas.openxmlformats.org/drawingml/2006/main">
              <a:ext uri="{FF2B5EF4-FFF2-40B4-BE49-F238E27FC236}">
                <a16:creationId xmlns:a16="http://schemas.microsoft.com/office/drawing/2014/main" id="{67D5AD24-27E3-4A0F-854D-C5CE7B5569C5}"/>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7049601D-F01D-406B-B41F-1B4B8D24B825}"/>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51296EB4-189E-4BBB-B1D8-FDF910868008}"/>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Presentation content and agreed structure</a:t>
            </a:r>
          </a:p>
        </p:txBody>
      </p:sp>
      <p:sp>
        <p:nvSpPr>
          <p:cNvPr id="5" name="text">
            <a:extLst xmlns:a="http://schemas.openxmlformats.org/drawingml/2006/main">
              <a:ext uri="{FF2B5EF4-FFF2-40B4-BE49-F238E27FC236}">
                <a16:creationId xmlns:a16="http://schemas.microsoft.com/office/drawing/2014/main" id="{FB884B63-93D0-430B-8343-47A04FFE2437}"/>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 / 32</a:t>
            </a:r>
          </a:p>
        </p:txBody>
      </p:sp>
      <p:sp>
        <p:nvSpPr>
          <p:cNvPr id="6" name="text">
            <a:extLst xmlns:a="http://schemas.openxmlformats.org/drawingml/2006/main">
              <a:ext uri="{FF2B5EF4-FFF2-40B4-BE49-F238E27FC236}">
                <a16:creationId xmlns:a16="http://schemas.microsoft.com/office/drawing/2014/main" id="{22BDA5F7-0737-4D84-A256-07D4046E9BCF}"/>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The presentation follows Schinese requirements from definition to verification.</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9220200"/>
                <a:gridCol w="7543800"/>
              </a:tblGrid>
              <a:tr h="671788">
                <a:tc>
                  <a:txBody>
                    <a:bodyPr wrap="square">
                      <a:noAutofit/>
                    </a:bodyPr>
                    <a:lstStyle/>
                    <a:p>
                      <a:r>
                        <a:rPr sz="2150" b="1">
                          <a:solidFill>
                            <a:srgbClr val="111827"/>
                          </a:solidFill>
                          <a:latin typeface="Calibri"/>
                          <a:ea typeface="Calibri"/>
                          <a:cs typeface="Calibri"/>
                        </a:rPr>
                        <a:t>Section</a:t>
                      </a:r>
                    </a:p>
                  </a:txBody>
                  <a:tcPr marL="165100" marR="165100" marT="127000" marB="127000" anchor="ctr">
                    <a:solidFill>
                      <a:srgbClr val="D8EDF4"/>
                    </a:solidFill>
                  </a:tcPr>
                </a:tc>
                <a:tc>
                  <a:txBody>
                    <a:bodyPr wrap="square">
                      <a:noAutofit/>
                    </a:bodyPr>
                    <a:lstStyle/>
                    <a:p>
                      <a:r>
                        <a:rPr sz="2150" b="1">
                          <a:solidFill>
                            <a:srgbClr val="111827"/>
                          </a:solidFill>
                          <a:latin typeface="Calibri"/>
                          <a:ea typeface="Calibri"/>
                          <a:cs typeface="Calibri"/>
                        </a:rPr>
                        <a:t>What this section explains</a:t>
                      </a:r>
                    </a:p>
                  </a:txBody>
                  <a:tcPr marL="165100" marR="165100" marT="127000" marB="127000" anchor="ctr">
                    <a:solidFill>
                      <a:srgbClr val="D8EDF4"/>
                    </a:solidFill>
                  </a:tcPr>
                </a:tc>
              </a:tr>
              <a:tr h="671788">
                <a:tc>
                  <a:txBody>
                    <a:bodyPr wrap="square">
                      <a:noAutofit/>
                    </a:bodyPr>
                    <a:lstStyle/>
                    <a:p>
                      <a:r>
                        <a:rPr sz="2150" b="0">
                          <a:solidFill>
                            <a:srgbClr val="111827"/>
                          </a:solidFill>
                          <a:latin typeface="Calibri"/>
                          <a:ea typeface="Calibri"/>
                          <a:cs typeface="Calibri"/>
                        </a:rPr>
                        <a:t>1. Understanding Specifications and Control Objectives</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What a spec defines and what correctness means</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2. The Scale and Complexity of Schinese</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User journeys and feature dependencies</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3. Input and Output Control</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Readiness criteria and delivery gates</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4. Building Verifiable Specifications</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Requirements, acceptance scenarios, and depth</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5. Architecture for Specification Enforcement</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Where the system enforces each rule</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6. Traceability, Evidence, and Change Control</a:t>
                      </a:r>
                    </a:p>
                  </a:txBody>
                  <a:tcPr marL="165100" marR="165100" marT="127000" marB="127000" anchor="ctr">
                    <a:solidFill>
                      <a:srgbClr val="F3F8FB"/>
                    </a:solidFill>
                  </a:tcPr>
                </a:tc>
                <a:tc>
                  <a:txBody>
                    <a:bodyPr wrap="square">
                      <a:noAutofit/>
                    </a:bodyPr>
                    <a:lstStyle/>
                    <a:p>
                      <a:r>
                        <a:rPr sz="2150" b="1">
                          <a:solidFill>
                            <a:srgbClr val="111827"/>
                          </a:solidFill>
                          <a:latin typeface="Calibri"/>
                          <a:ea typeface="Calibri"/>
                          <a:cs typeface="Calibri"/>
                        </a:rPr>
                        <a:t>F04</a:t>
                      </a:r>
                      <a:r>
                        <a:rPr sz="2150" b="0">
                          <a:solidFill>
                            <a:srgbClr val="111827"/>
                          </a:solidFill>
                          <a:latin typeface="Calibri"/>
                          <a:ea typeface="Calibri"/>
                          <a:cs typeface="Calibri"/>
                        </a:rPr>
                        <a:t> publication rules and selected test results</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7. Limitations</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AI-generated functions and algorithm changes</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8. Evaluation and Next Steps</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Measurements and the implementation roadmap</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74C8B224-104E-46F9-A107-268ABAC4C841}"/>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t/>
            </a:r>
          </a:p>
        </p:txBody>
      </p:sp>
    </p:spTree>
    <p:extLst>
      <p:ext uri="{BB962C8B-B14F-4D97-AF65-F5344CB8AC3E}">
        <p14:creationId xmlns:p14="http://schemas.microsoft.com/office/powerpoint/2010/main" val="1388493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1675EE45-8AC0-438D-B19A-5A12F2B703F2}"/>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1.1. Challenges in AI-Assisted Development</a:t>
            </a:r>
          </a:p>
        </p:txBody>
      </p:sp>
      <p:sp>
        <p:nvSpPr>
          <p:cNvPr id="2" name="">
            <a:extLst xmlns:a="http://schemas.openxmlformats.org/drawingml/2006/main">
              <a:ext uri="{FF2B5EF4-FFF2-40B4-BE49-F238E27FC236}">
                <a16:creationId xmlns:a16="http://schemas.microsoft.com/office/drawing/2014/main" id="{68C3C74B-B0AC-4931-B805-9C43076AD31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0FA4C01-EFD8-43E9-9C1F-8F054CE6E584}"/>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ED461E3E-63DA-439B-AADD-3BAD94671E0B}"/>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§5.1, §8.5; F04 spec</a:t>
            </a:r>
          </a:p>
        </p:txBody>
      </p:sp>
      <p:sp>
        <p:nvSpPr>
          <p:cNvPr id="5" name="text">
            <a:extLst xmlns:a="http://schemas.openxmlformats.org/drawingml/2006/main">
              <a:ext uri="{FF2B5EF4-FFF2-40B4-BE49-F238E27FC236}">
                <a16:creationId xmlns:a16="http://schemas.microsoft.com/office/drawing/2014/main" id="{5AF7FE45-4C57-41D6-8DD8-9FD94BB604E4}"/>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3 / 32</a:t>
            </a:r>
          </a:p>
        </p:txBody>
      </p:sp>
      <p:sp>
        <p:nvSpPr>
          <p:cNvPr id="6" name="text">
            <a:extLst xmlns:a="http://schemas.openxmlformats.org/drawingml/2006/main">
              <a:ext uri="{FF2B5EF4-FFF2-40B4-BE49-F238E27FC236}">
                <a16:creationId xmlns:a16="http://schemas.microsoft.com/office/drawing/2014/main" id="{FB038DC9-2F8E-45AD-8471-8ECC798AC8C9}"/>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An ambiguous requirement leaves important product decisions unresolved.</a:t>
            </a:r>
          </a:p>
        </p:txBody>
      </p:sp>
      <p:sp>
        <p:nvSpPr>
          <p:cNvPr id="7" name="text">
            <a:extLst xmlns:a="http://schemas.openxmlformats.org/drawingml/2006/main">
              <a:ext uri="{FF2B5EF4-FFF2-40B4-BE49-F238E27FC236}">
                <a16:creationId xmlns:a16="http://schemas.microsoft.com/office/drawing/2014/main" id="{D74D7285-D4E3-4D4C-925F-3843499BA3EC}"/>
              </a:ext>
            </a:extLst>
          </p:cNvPr>
          <p:cNvSpPr>
            <a:spLocks xmlns:a="http://schemas.openxmlformats.org/drawingml/2006/main" noGrp="1"/>
          </p:cNvSpPr>
          <p:nvPr/>
        </p:nvSpPr>
        <p:spPr>
          <a:xfrm xmlns:a="http://schemas.openxmlformats.org/drawingml/2006/main">
            <a:off x="762000" y="2346325"/>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1">
                <a:latin typeface="Calibri"/>
                <a:ea typeface="Calibri"/>
                <a:cs typeface="Calibri"/>
              </a:rPr>
              <a:t>Initial request: “Allow administrators to publish a lesson.”</a:t>
            </a:r>
          </a:p>
        </p:txBody>
      </p:sp>
      <p:graphicFrame>
        <p:nvGraphicFramePr>
          <p:cNvPr id="18" name=""/>
          <p:cNvGraphicFramePr/>
          <p:nvPr/>
        </p:nvGraphicFramePr>
        <p:xfrm>
          <a:off xmlns:a="http://schemas.openxmlformats.org/drawingml/2006/main" x="762000" y="3041650"/>
          <a:ext xmlns:a="http://schemas.openxmlformats.org/drawingml/2006/main" cx="16764000" cy="4157472"/>
        </p:xfrm>
        <a:graphic xmlns:a="http://schemas.openxmlformats.org/drawingml/2006/main">
          <a:graphicData uri="http://schemas.openxmlformats.org/drawingml/2006/table">
            <a:tbl>
              <a:tblPr firstRow="1" bandRow="0"/>
              <a:tblGrid>
                <a:gridCol w="6202680"/>
                <a:gridCol w="10561320"/>
              </a:tblGrid>
              <a:tr h="858012">
                <a:tc>
                  <a:txBody>
                    <a:bodyPr wrap="square">
                      <a:noAutofit/>
                    </a:bodyPr>
                    <a:lstStyle/>
                    <a:p>
                      <a:r>
                        <a:rPr sz="2400" b="1">
                          <a:solidFill>
                            <a:srgbClr val="111827"/>
                          </a:solidFill>
                          <a:latin typeface="Calibri"/>
                          <a:ea typeface="Calibri"/>
                          <a:cs typeface="Calibri"/>
                        </a:rPr>
                        <a:t>Missing decision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Possible product failure</a:t>
                      </a:r>
                    </a:p>
                  </a:txBody>
                  <a:tcPr marL="165100" marR="165100" marT="127000" marB="127000" anchor="ctr">
                    <a:solidFill>
                      <a:srgbClr val="D8EDF4"/>
                    </a:solidFill>
                  </a:tcPr>
                </a:tc>
              </a:tr>
              <a:tr h="858012">
                <a:tc>
                  <a:txBody>
                    <a:bodyPr wrap="square">
                      <a:noAutofit/>
                    </a:bodyPr>
                    <a:lstStyle/>
                    <a:p>
                      <a:r>
                        <a:rPr sz="2400" b="0">
                          <a:solidFill>
                            <a:srgbClr val="111827"/>
                          </a:solidFill>
                          <a:latin typeface="Calibri"/>
                          <a:ea typeface="Calibri"/>
                          <a:cs typeface="Calibri"/>
                        </a:rPr>
                        <a:t>Must the lesson contain segments?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 learner opens an empty lesson.</a:t>
                      </a:r>
                    </a:p>
                  </a:txBody>
                  <a:tcPr marL="165100" marR="165100" marT="127000" marB="127000" anchor="ctr">
                    <a:solidFill>
                      <a:srgbClr val="FFFFFF"/>
                    </a:solidFill>
                  </a:tcPr>
                </a:tc>
              </a:tr>
              <a:tr h="1220724">
                <a:tc>
                  <a:txBody>
                    <a:bodyPr wrap="square">
                      <a:noAutofit/>
                    </a:bodyPr>
                    <a:lstStyle/>
                    <a:p>
                      <a:r>
                        <a:rPr sz="2400" b="0">
                          <a:solidFill>
                            <a:srgbClr val="111827"/>
                          </a:solidFill>
                          <a:latin typeface="Calibri"/>
                          <a:ea typeface="Calibri"/>
                          <a:cs typeface="Calibri"/>
                        </a:rPr>
                        <a:t>Must every segment and media asset be ready?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Incomplete or unapproved content becomes available.</a:t>
                      </a:r>
                    </a:p>
                  </a:txBody>
                  <a:tcPr marL="165100" marR="165100" marT="127000" marB="127000" anchor="ctr">
                    <a:solidFill>
                      <a:srgbClr val="F3F8FB"/>
                    </a:solidFill>
                  </a:tcPr>
                </a:tc>
              </a:tr>
              <a:tr h="1220724">
                <a:tc>
                  <a:txBody>
                    <a:bodyPr wrap="square">
                      <a:noAutofit/>
                    </a:bodyPr>
                    <a:lstStyle/>
                    <a:p>
                      <a:r>
                        <a:rPr sz="2400" b="0">
                          <a:solidFill>
                            <a:srgbClr val="111827"/>
                          </a:solidFill>
                          <a:latin typeface="Calibri"/>
                          <a:ea typeface="Calibri"/>
                          <a:cs typeface="Calibri"/>
                        </a:rPr>
                        <a:t>What happens when two admins update the lesson?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 stale change may overwrite a newer decision.</a:t>
                      </a:r>
                    </a:p>
                  </a:txBody>
                  <a:tcPr marL="165100" marR="165100" marT="127000" marB="127000" anchor="ctr">
                    <a:solidFill>
                      <a:srgbClr val="FFFFFF"/>
                    </a:solidFill>
                  </a:tcPr>
                </a:tc>
              </a:tr>
            </a:tbl>
          </a:graphicData>
        </a:graphic>
      </p:graphicFrame>
      <p:sp>
        <p:nvSpPr>
          <p:cNvPr id="9" name="text">
            <a:extLst xmlns:a="http://schemas.openxmlformats.org/drawingml/2006/main">
              <a:ext uri="{FF2B5EF4-FFF2-40B4-BE49-F238E27FC236}">
                <a16:creationId xmlns:a16="http://schemas.microsoft.com/office/drawing/2014/main" id="{6ABA665F-A144-4F30-90C5-97420686B0B8}"/>
              </a:ext>
            </a:extLst>
          </p:cNvPr>
          <p:cNvSpPr>
            <a:spLocks xmlns:a="http://schemas.openxmlformats.org/drawingml/2006/main" noGrp="1"/>
          </p:cNvSpPr>
          <p:nvPr/>
        </p:nvSpPr>
        <p:spPr>
          <a:xfrm xmlns:a="http://schemas.openxmlformats.org/drawingml/2006/main">
            <a:off x="762000" y="7427722"/>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AI may choose an implementation for these unspecified cases. Working code alone does not demonstrate correct behavior.</a:t>
            </a:r>
          </a:p>
        </p:txBody>
      </p:sp>
      <p:sp>
        <p:nvSpPr>
          <p:cNvPr id="10" name="text">
            <a:extLst xmlns:a="http://schemas.openxmlformats.org/drawingml/2006/main">
              <a:ext uri="{FF2B5EF4-FFF2-40B4-BE49-F238E27FC236}">
                <a16:creationId xmlns:a16="http://schemas.microsoft.com/office/drawing/2014/main" id="{78875215-999B-49DF-A218-5E3F5D688B5D}"/>
              </a:ext>
            </a:extLst>
          </p:cNvPr>
          <p:cNvSpPr>
            <a:spLocks xmlns:a="http://schemas.openxmlformats.org/drawingml/2006/main" noGrp="1"/>
          </p:cNvSpPr>
          <p:nvPr/>
        </p:nvSpPr>
        <p:spPr>
          <a:xfrm xmlns:a="http://schemas.openxmlformats.org/drawingml/2006/main">
            <a:off x="762000" y="7950708"/>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Control requirement:</a:t>
            </a:r>
            <a:r>
              <a:rPr b="0">
                <a:latin typeface="Calibri"/>
                <a:ea typeface="Calibri"/>
                <a:cs typeface="Calibri"/>
              </a:rPr>
              <a:t> Define the conditions, rejected cases, and expected outcomes.</a:t>
            </a:r>
          </a:p>
        </p:txBody>
      </p:sp>
    </p:spTree>
    <p:extLst>
      <p:ext uri="{BB962C8B-B14F-4D97-AF65-F5344CB8AC3E}">
        <p14:creationId xmlns:p14="http://schemas.microsoft.com/office/powerpoint/2010/main" val="16767591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9A99D077-B31F-48A3-8783-962134BD6B98}"/>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1.2. What Is a Specification?</a:t>
            </a:r>
          </a:p>
        </p:txBody>
      </p:sp>
      <p:sp>
        <p:nvSpPr>
          <p:cNvPr id="2" name="">
            <a:extLst xmlns:a="http://schemas.openxmlformats.org/drawingml/2006/main">
              <a:ext uri="{FF2B5EF4-FFF2-40B4-BE49-F238E27FC236}">
                <a16:creationId xmlns:a16="http://schemas.microsoft.com/office/drawing/2014/main" id="{867BF715-1D69-4A1D-BB21-624E281EAB52}"/>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C4AFEF3-E9E1-4AF9-A12B-51B4638AD46D}"/>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6371C3A5-96A0-4078-8168-D1C45AE1D143}"/>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§5.1–5.2; F04 FR-001/004/005</a:t>
            </a:r>
          </a:p>
        </p:txBody>
      </p:sp>
      <p:sp>
        <p:nvSpPr>
          <p:cNvPr id="5" name="text">
            <a:extLst xmlns:a="http://schemas.openxmlformats.org/drawingml/2006/main">
              <a:ext uri="{FF2B5EF4-FFF2-40B4-BE49-F238E27FC236}">
                <a16:creationId xmlns:a16="http://schemas.microsoft.com/office/drawing/2014/main" id="{D9131943-CA56-47BF-B549-62D5CB2AECA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4 / 32</a:t>
            </a:r>
          </a:p>
        </p:txBody>
      </p:sp>
      <p:sp>
        <p:nvSpPr>
          <p:cNvPr id="6" name="text">
            <a:extLst xmlns:a="http://schemas.openxmlformats.org/drawingml/2006/main">
              <a:ext uri="{FF2B5EF4-FFF2-40B4-BE49-F238E27FC236}">
                <a16:creationId xmlns:a16="http://schemas.microsoft.com/office/drawing/2014/main" id="{CC5742CC-99A2-4256-A4AD-447D4A0505B1}"/>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 specification defines the behavior, constraints, and acceptance conditions that stakeholders agree the system must satisfy.</a:t>
            </a:r>
          </a:p>
        </p:txBody>
      </p:sp>
      <p:graphicFrame>
        <p:nvGraphicFramePr>
          <p:cNvPr id="15" name=""/>
          <p:cNvGraphicFramePr/>
          <p:nvPr/>
        </p:nvGraphicFramePr>
        <p:xfrm>
          <a:off xmlns:a="http://schemas.openxmlformats.org/drawingml/2006/main" x="762000" y="2473325"/>
          <a:ext xmlns:a="http://schemas.openxmlformats.org/drawingml/2006/main" cx="16764000" cy="6006084"/>
        </p:xfrm>
        <a:graphic xmlns:a="http://schemas.openxmlformats.org/drawingml/2006/main">
          <a:graphicData uri="http://schemas.openxmlformats.org/drawingml/2006/table">
            <a:tbl>
              <a:tblPr firstRow="1" bandRow="0"/>
              <a:tblGrid>
                <a:gridCol w="3688080"/>
                <a:gridCol w="13075920"/>
              </a:tblGrid>
              <a:tr h="858012">
                <a:tc>
                  <a:txBody>
                    <a:bodyPr wrap="square">
                      <a:noAutofit/>
                    </a:bodyPr>
                    <a:lstStyle/>
                    <a:p>
                      <a:r>
                        <a:rPr sz="2400" b="1">
                          <a:solidFill>
                            <a:srgbClr val="111827"/>
                          </a:solidFill>
                          <a:latin typeface="Calibri"/>
                          <a:ea typeface="Calibri"/>
                          <a:cs typeface="Calibri"/>
                        </a:rPr>
                        <a:t>Element</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Example in Schinese</a:t>
                      </a:r>
                    </a:p>
                  </a:txBody>
                  <a:tcPr marL="165100" marR="165100" marT="127000" marB="127000" anchor="ctr">
                    <a:solidFill>
                      <a:srgbClr val="D8EDF4"/>
                    </a:solidFill>
                  </a:tcPr>
                </a:tc>
              </a:tr>
              <a:tr h="858012">
                <a:tc>
                  <a:txBody>
                    <a:bodyPr wrap="square">
                      <a:noAutofit/>
                    </a:bodyPr>
                    <a:lstStyle/>
                    <a:p>
                      <a:r>
                        <a:rPr sz="2400" b="1">
                          <a:solidFill>
                            <a:srgbClr val="111827"/>
                          </a:solidFill>
                          <a:latin typeface="Calibri"/>
                          <a:ea typeface="Calibri"/>
                          <a:cs typeface="Calibri"/>
                        </a:rPr>
                        <a:t>Actor</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An authorized administrator</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Action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Publish a Free lesson</a:t>
                      </a:r>
                    </a:p>
                  </a:txBody>
                  <a:tcPr marL="165100" marR="165100" marT="127000" marB="127000" anchor="ctr">
                    <a:solidFill>
                      <a:srgbClr val="F3F8FB"/>
                    </a:solidFill>
                  </a:tcPr>
                </a:tc>
              </a:tr>
              <a:tr h="858012">
                <a:tc>
                  <a:txBody>
                    <a:bodyPr wrap="square">
                      <a:noAutofit/>
                    </a:bodyPr>
                    <a:lstStyle/>
                    <a:p>
                      <a:r>
                        <a:rPr sz="2400" b="1">
                          <a:solidFill>
                            <a:srgbClr val="111827"/>
                          </a:solidFill>
                          <a:latin typeface="Calibri"/>
                          <a:ea typeface="Calibri"/>
                          <a:cs typeface="Calibri"/>
                        </a:rPr>
                        <a:t>Preconditions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Published topic, at least one segment, all segments published, all referenced media approved</a:t>
                      </a:r>
                    </a:p>
                  </a:txBody>
                  <a:tcPr marL="165100" marR="165100" marT="127000" marB="127000" anchor="ctr">
                    <a:solidFill>
                      <a:srgbClr val="FFFFFF"/>
                    </a:solidFill>
                  </a:tcPr>
                </a:tc>
              </a:tr>
              <a:tr h="858012">
                <a:tc>
                  <a:txBody>
                    <a:bodyPr wrap="square">
                      <a:noAutofit/>
                    </a:bodyPr>
                    <a:lstStyle/>
                    <a:p>
                      <a:r>
                        <a:rPr sz="2400" b="1">
                          <a:solidFill>
                            <a:srgbClr val="111827"/>
                          </a:solidFill>
                          <a:latin typeface="Calibri"/>
                          <a:ea typeface="Calibri"/>
                          <a:cs typeface="Calibri"/>
                        </a:rPr>
                        <a:t>Expected result</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The lesson becomes published when all conditions hold</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Rejection behavior</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Invalid conditions leave the lesson unpublished</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Acceptance evidence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Scenarios and tests for accepted and rejected publication</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BD086E54-4D13-45E7-BA4A-4CD3A06DF78B}"/>
              </a:ext>
            </a:extLst>
          </p:cNvPr>
          <p:cNvSpPr>
            <a:spLocks xmlns:a="http://schemas.openxmlformats.org/drawingml/2006/main" noGrp="1"/>
          </p:cNvSpPr>
          <p:nvPr/>
        </p:nvSpPr>
        <p:spPr>
          <a:xfrm xmlns:a="http://schemas.openxmlformats.org/drawingml/2006/main">
            <a:off x="762000" y="8708009"/>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 feature specification connects user intent to design and verification. Detailed API and data contracts can live in linked documents.</a:t>
            </a:r>
          </a:p>
        </p:txBody>
      </p:sp>
    </p:spTree>
    <p:extLst>
      <p:ext uri="{BB962C8B-B14F-4D97-AF65-F5344CB8AC3E}">
        <p14:creationId xmlns:p14="http://schemas.microsoft.com/office/powerpoint/2010/main" val="2854881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3AEA3349-8D7F-4B84-AD45-5A8C9C8B7609}"/>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1.3. Three Levels of Correctness</a:t>
            </a:r>
          </a:p>
        </p:txBody>
      </p:sp>
      <p:sp>
        <p:nvSpPr>
          <p:cNvPr id="2" name="">
            <a:extLst xmlns:a="http://schemas.openxmlformats.org/drawingml/2006/main">
              <a:ext uri="{FF2B5EF4-FFF2-40B4-BE49-F238E27FC236}">
                <a16:creationId xmlns:a16="http://schemas.microsoft.com/office/drawing/2014/main" id="{337C5F3A-2766-4E48-A069-9A390F9D54E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B658EA1E-28AC-4903-9CFB-49211CB5C0D2}"/>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B62BB62E-B283-43FC-9C93-393FA16769E7}"/>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§8.5; presentation synthesis</a:t>
            </a:r>
          </a:p>
        </p:txBody>
      </p:sp>
      <p:sp>
        <p:nvSpPr>
          <p:cNvPr id="5" name="text">
            <a:extLst xmlns:a="http://schemas.openxmlformats.org/drawingml/2006/main">
              <a:ext uri="{FF2B5EF4-FFF2-40B4-BE49-F238E27FC236}">
                <a16:creationId xmlns:a16="http://schemas.microsoft.com/office/drawing/2014/main" id="{EA2EC8D3-5C0B-4C25-8E47-5D8752710CAA}"/>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5 / 32</a:t>
            </a:r>
          </a:p>
        </p:txBody>
      </p:sp>
      <p:sp>
        <p:nvSpPr>
          <p:cNvPr id="6" name="text">
            <a:extLst xmlns:a="http://schemas.openxmlformats.org/drawingml/2006/main">
              <a:ext uri="{FF2B5EF4-FFF2-40B4-BE49-F238E27FC236}">
                <a16:creationId xmlns:a16="http://schemas.microsoft.com/office/drawing/2014/main" id="{70D686C6-78E7-49A3-AE4C-0C4276F390EB}"/>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 reliable conclusion about product quality requires evidence at more than one level.</a:t>
            </a:r>
          </a:p>
        </p:txBody>
      </p:sp>
      <p:graphicFrame>
        <p:nvGraphicFramePr>
          <p:cNvPr id="16" name=""/>
          <p:cNvGraphicFramePr/>
          <p:nvPr/>
        </p:nvGraphicFramePr>
        <p:xfrm>
          <a:off xmlns:a="http://schemas.openxmlformats.org/drawingml/2006/main" x="762000" y="2473325"/>
          <a:ext xmlns:a="http://schemas.openxmlformats.org/drawingml/2006/main" cx="16764000" cy="4520184"/>
        </p:xfrm>
        <a:graphic xmlns:a="http://schemas.openxmlformats.org/drawingml/2006/main">
          <a:graphicData uri="http://schemas.openxmlformats.org/drawingml/2006/table">
            <a:tbl>
              <a:tblPr firstRow="1" bandRow="0"/>
              <a:tblGrid>
                <a:gridCol w="4191000"/>
                <a:gridCol w="6370320"/>
                <a:gridCol w="6202680"/>
              </a:tblGrid>
              <a:tr h="858012">
                <a:tc>
                  <a:txBody>
                    <a:bodyPr wrap="square">
                      <a:noAutofit/>
                    </a:bodyPr>
                    <a:lstStyle/>
                    <a:p>
                      <a:r>
                        <a:rPr sz="2400" b="1">
                          <a:solidFill>
                            <a:srgbClr val="111827"/>
                          </a:solidFill>
                          <a:latin typeface="Calibri"/>
                          <a:ea typeface="Calibri"/>
                          <a:cs typeface="Calibri"/>
                        </a:rPr>
                        <a:t>Level</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Schinese question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Required evidence</a:t>
                      </a:r>
                    </a:p>
                  </a:txBody>
                  <a:tcPr marL="165100" marR="165100" marT="127000" marB="127000" anchor="ctr">
                    <a:solidFill>
                      <a:srgbClr val="D8EDF4"/>
                    </a:solidFill>
                  </a:tcPr>
                </a:tc>
              </a:tr>
              <a:tr h="1220724">
                <a:tc>
                  <a:txBody>
                    <a:bodyPr wrap="square">
                      <a:noAutofit/>
                    </a:bodyPr>
                    <a:lstStyle/>
                    <a:p>
                      <a:r>
                        <a:rPr sz="2400" b="0">
                          <a:solidFill>
                            <a:srgbClr val="111827"/>
                          </a:solidFill>
                          <a:latin typeface="Calibri"/>
                          <a:ea typeface="Calibri"/>
                          <a:cs typeface="Calibri"/>
                        </a:rPr>
                        <a:t>Correct need</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Can learners find suitable content and practise effectively?</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User feedback and domain review</a:t>
                      </a:r>
                    </a:p>
                  </a:txBody>
                  <a:tcPr marL="165100" marR="165100" marT="127000" marB="127000" anchor="ctr">
                    <a:solidFill>
                      <a:srgbClr val="FFFFFF"/>
                    </a:solidFill>
                  </a:tcPr>
                </a:tc>
              </a:tr>
              <a:tr h="1220724">
                <a:tc>
                  <a:txBody>
                    <a:bodyPr wrap="square">
                      <a:noAutofit/>
                    </a:bodyPr>
                    <a:lstStyle/>
                    <a:p>
                      <a:r>
                        <a:rPr sz="2400" b="0">
                          <a:solidFill>
                            <a:srgbClr val="111827"/>
                          </a:solidFill>
                          <a:latin typeface="Calibri"/>
                          <a:ea typeface="Calibri"/>
                          <a:cs typeface="Calibri"/>
                        </a:rPr>
                        <a:t>Correct implementation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Does publication reject missing segments and unapproved media?</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Requirement-based review and tests</a:t>
                      </a:r>
                    </a:p>
                  </a:txBody>
                  <a:tcPr marL="165100" marR="165100" marT="127000" marB="127000" anchor="ctr">
                    <a:solidFill>
                      <a:srgbClr val="F3F8FB"/>
                    </a:solidFill>
                  </a:tcPr>
                </a:tc>
              </a:tr>
              <a:tr h="1220724">
                <a:tc>
                  <a:txBody>
                    <a:bodyPr wrap="square">
                      <a:noAutofit/>
                    </a:bodyPr>
                    <a:lstStyle/>
                    <a:p>
                      <a:r>
                        <a:rPr sz="2400" b="0">
                          <a:solidFill>
                            <a:srgbClr val="111827"/>
                          </a:solidFill>
                          <a:latin typeface="Calibri"/>
                          <a:ea typeface="Calibri"/>
                          <a:cs typeface="Calibri"/>
                        </a:rPr>
                        <a:t>Correct operation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Do access and data rules hold during concurrent changes or provider failure?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Integration, concurrency, and operational checks</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3CC445A2-6C6A-4434-91C8-92180D889832}"/>
              </a:ext>
            </a:extLst>
          </p:cNvPr>
          <p:cNvSpPr>
            <a:spLocks xmlns:a="http://schemas.openxmlformats.org/drawingml/2006/main" noGrp="1"/>
          </p:cNvSpPr>
          <p:nvPr/>
        </p:nvSpPr>
        <p:spPr>
          <a:xfrm xmlns:a="http://schemas.openxmlformats.org/drawingml/2006/main">
            <a:off x="762000" y="7222109"/>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 passing publication test supports a defined behavior. It does not measure learning effectiveness or prove the whole product is reliable.</a:t>
            </a:r>
          </a:p>
        </p:txBody>
      </p:sp>
      <p:sp>
        <p:nvSpPr>
          <p:cNvPr id="9" name="text">
            <a:extLst xmlns:a="http://schemas.openxmlformats.org/drawingml/2006/main">
              <a:ext uri="{FF2B5EF4-FFF2-40B4-BE49-F238E27FC236}">
                <a16:creationId xmlns:a16="http://schemas.microsoft.com/office/drawing/2014/main" id="{D69FA967-18F6-4931-8A4B-FFA4CE85AFFE}"/>
              </a:ext>
            </a:extLst>
          </p:cNvPr>
          <p:cNvSpPr>
            <a:spLocks xmlns:a="http://schemas.openxmlformats.org/drawingml/2006/main" noGrp="1"/>
          </p:cNvSpPr>
          <p:nvPr/>
        </p:nvSpPr>
        <p:spPr>
          <a:xfrm xmlns:a="http://schemas.openxmlformats.org/drawingml/2006/main">
            <a:off x="762000" y="7745095"/>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Current focus:</a:t>
            </a:r>
            <a:r>
              <a:rPr b="0">
                <a:latin typeface="Calibri"/>
                <a:ea typeface="Calibri"/>
                <a:cs typeface="Calibri"/>
              </a:rPr>
              <a:t> Traceable implementation and selected verification evidence.</a:t>
            </a:r>
          </a:p>
        </p:txBody>
      </p:sp>
    </p:spTree>
    <p:extLst>
      <p:ext uri="{BB962C8B-B14F-4D97-AF65-F5344CB8AC3E}">
        <p14:creationId xmlns:p14="http://schemas.microsoft.com/office/powerpoint/2010/main" val="7143725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451BD59E-B6A4-4501-A650-38B710DEEE25}"/>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2.1. Schinese Product Scope</a:t>
            </a:r>
          </a:p>
        </p:txBody>
      </p:sp>
      <p:sp>
        <p:nvSpPr>
          <p:cNvPr id="2" name="">
            <a:extLst xmlns:a="http://schemas.openxmlformats.org/drawingml/2006/main">
              <a:ext uri="{FF2B5EF4-FFF2-40B4-BE49-F238E27FC236}">
                <a16:creationId xmlns:a16="http://schemas.microsoft.com/office/drawing/2014/main" id="{FC28C1D8-1D05-4B8C-8FA7-033D2DDF4F88}"/>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4773CDA9-A324-44A8-AFE8-6E97601C0393}"/>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C9E24C8C-4F88-4269-8B95-20ACADC7F4D3}"/>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MVP feature map, F04–F11</a:t>
            </a:r>
          </a:p>
        </p:txBody>
      </p:sp>
      <p:sp>
        <p:nvSpPr>
          <p:cNvPr id="5" name="text">
            <a:extLst xmlns:a="http://schemas.openxmlformats.org/drawingml/2006/main">
              <a:ext uri="{FF2B5EF4-FFF2-40B4-BE49-F238E27FC236}">
                <a16:creationId xmlns:a16="http://schemas.microsoft.com/office/drawing/2014/main" id="{00E6CECA-0E34-4A3A-86B7-B321CBE6143E}"/>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6 / 32</a:t>
            </a:r>
          </a:p>
        </p:txBody>
      </p:sp>
      <p:sp>
        <p:nvSpPr>
          <p:cNvPr id="6" name="text">
            <a:extLst xmlns:a="http://schemas.openxmlformats.org/drawingml/2006/main">
              <a:ext uri="{FF2B5EF4-FFF2-40B4-BE49-F238E27FC236}">
                <a16:creationId xmlns:a16="http://schemas.microsoft.com/office/drawing/2014/main" id="{57EDB18D-D97E-4A9F-B57A-FFCE11BD8183}"/>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Schinese turns curated Chinese content into practice activities for Vietnamese learners.</a:t>
            </a:r>
          </a:p>
        </p:txBody>
      </p:sp>
      <p:graphicFrame>
        <p:nvGraphicFramePr>
          <p:cNvPr id="16" name=""/>
          <p:cNvGraphicFramePr/>
          <p:nvPr/>
        </p:nvGraphicFramePr>
        <p:xfrm>
          <a:off xmlns:a="http://schemas.openxmlformats.org/drawingml/2006/main" x="762000" y="2473325"/>
          <a:ext xmlns:a="http://schemas.openxmlformats.org/drawingml/2006/main" cx="16764000" cy="5510784"/>
        </p:xfrm>
        <a:graphic xmlns:a="http://schemas.openxmlformats.org/drawingml/2006/main">
          <a:graphicData uri="http://schemas.openxmlformats.org/drawingml/2006/table">
            <a:tbl>
              <a:tblPr firstRow="1" bandRow="0"/>
              <a:tblGrid>
                <a:gridCol w="3688080"/>
                <a:gridCol w="11064240"/>
                <a:gridCol w="2011680"/>
              </a:tblGrid>
              <a:tr h="858012">
                <a:tc>
                  <a:txBody>
                    <a:bodyPr wrap="square">
                      <a:noAutofit/>
                    </a:bodyPr>
                    <a:lstStyle/>
                    <a:p>
                      <a:r>
                        <a:rPr sz="2400" b="1">
                          <a:solidFill>
                            <a:srgbClr val="111827"/>
                          </a:solidFill>
                          <a:latin typeface="Calibri"/>
                          <a:ea typeface="Calibri"/>
                          <a:cs typeface="Calibri"/>
                        </a:rPr>
                        <a:t>User journey</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Product behavior</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Feature</a:t>
                      </a:r>
                    </a:p>
                  </a:txBody>
                  <a:tcPr marL="165100" marR="165100" marT="127000" marB="127000" anchor="ctr">
                    <a:solidFill>
                      <a:srgbClr val="D8EDF4"/>
                    </a:solidFill>
                  </a:tcPr>
                </a:tc>
              </a:tr>
              <a:tr h="858012">
                <a:tc>
                  <a:txBody>
                    <a:bodyPr wrap="square">
                      <a:noAutofit/>
                    </a:bodyPr>
                    <a:lstStyle/>
                    <a:p>
                      <a:r>
                        <a:rPr sz="2400" b="0">
                          <a:solidFill>
                            <a:srgbClr val="111827"/>
                          </a:solidFill>
                          <a:latin typeface="Calibri"/>
                          <a:ea typeface="Calibri"/>
                          <a:cs typeface="Calibri"/>
                        </a:rPr>
                        <a:t>Prepare content</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Admin organizes topics, lessons, segments, and approved YouTube references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F04</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Find and study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 visitor browses eligible Free lessons; a learner keeps personal progress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F05–F06</a:t>
                      </a:r>
                    </a:p>
                  </a:txBody>
                  <a:tcPr marL="165100" marR="165100" marT="127000" marB="127000" anchor="ctr">
                    <a:solidFill>
                      <a:srgbClr val="F3F8FB"/>
                    </a:solidFill>
                  </a:tcPr>
                </a:tc>
              </a:tr>
              <a:tr h="1220724">
                <a:tc>
                  <a:txBody>
                    <a:bodyPr wrap="square">
                      <a:noAutofit/>
                    </a:bodyPr>
                    <a:lstStyle/>
                    <a:p>
                      <a:r>
                        <a:rPr sz="2400" b="0">
                          <a:solidFill>
                            <a:srgbClr val="111827"/>
                          </a:solidFill>
                          <a:latin typeface="Calibri"/>
                          <a:ea typeface="Calibri"/>
                          <a:cs typeface="Calibri"/>
                        </a:rPr>
                        <a:t>Practise listening and speaking</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Dictation runs inside the player; shadowing opens a dedicated practice screen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F07–F08</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Build vocabulary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 learner saves words and reviews them on a schedule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F09–F10</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Practise conversation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AI Buddy supports guided, private Chinese-learning activities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F11</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04D018A6-B669-4E7F-8E35-ECF0AD815906}"/>
              </a:ext>
            </a:extLst>
          </p:cNvPr>
          <p:cNvSpPr>
            <a:spLocks xmlns:a="http://schemas.openxmlformats.org/drawingml/2006/main" noGrp="1"/>
          </p:cNvSpPr>
          <p:nvPr/>
        </p:nvSpPr>
        <p:spPr>
          <a:xfrm xmlns:a="http://schemas.openxmlformats.org/drawingml/2006/main">
            <a:off x="762000" y="8212709"/>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Supporting features:</a:t>
            </a:r>
            <a:r>
              <a:rPr b="0">
                <a:latin typeface="Calibri"/>
                <a:ea typeface="Calibri"/>
                <a:cs typeface="Calibri"/>
              </a:rPr>
              <a:t> Identity, profile preferences, and Free AI allowance (F01–F03).</a:t>
            </a:r>
          </a:p>
        </p:txBody>
      </p:sp>
      <p:sp>
        <p:nvSpPr>
          <p:cNvPr id="9" name="text">
            <a:extLst xmlns:a="http://schemas.openxmlformats.org/drawingml/2006/main">
              <a:ext uri="{FF2B5EF4-FFF2-40B4-BE49-F238E27FC236}">
                <a16:creationId xmlns:a16="http://schemas.microsoft.com/office/drawing/2014/main" id="{52183BCF-BB14-4D4F-9B92-27011857AF35}"/>
              </a:ext>
            </a:extLst>
          </p:cNvPr>
          <p:cNvSpPr>
            <a:spLocks xmlns:a="http://schemas.openxmlformats.org/drawingml/2006/main" noGrp="1"/>
          </p:cNvSpPr>
          <p:nvPr/>
        </p:nvSpPr>
        <p:spPr>
          <a:xfrm xmlns:a="http://schemas.openxmlformats.org/drawingml/2006/main">
            <a:off x="762000" y="8735695"/>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Scope status:</a:t>
            </a:r>
            <a:r>
              <a:rPr b="0">
                <a:latin typeface="Calibri"/>
                <a:ea typeface="Calibri"/>
                <a:cs typeface="Calibri"/>
              </a:rPr>
              <a:t> Planned product behavior. Paid Premium activation is deferred in the MVP map.</a:t>
            </a:r>
          </a:p>
        </p:txBody>
      </p:sp>
    </p:spTree>
    <p:extLst>
      <p:ext uri="{BB962C8B-B14F-4D97-AF65-F5344CB8AC3E}">
        <p14:creationId xmlns:p14="http://schemas.microsoft.com/office/powerpoint/2010/main" val="12207515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5D9CB20D-A9C6-460A-A06A-8108085710D6}"/>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2.2. Feature Dependencies</a:t>
            </a:r>
          </a:p>
        </p:txBody>
      </p:sp>
      <p:sp>
        <p:nvSpPr>
          <p:cNvPr id="2" name="">
            <a:extLst xmlns:a="http://schemas.openxmlformats.org/drawingml/2006/main">
              <a:ext uri="{FF2B5EF4-FFF2-40B4-BE49-F238E27FC236}">
                <a16:creationId xmlns:a16="http://schemas.microsoft.com/office/drawing/2014/main" id="{EEDA5583-3035-47A8-A25B-547622F35AEB}"/>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40CF7CF6-D6ED-4098-9C0E-5B569BD652AD}"/>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0553455A-E2CC-4DB8-8FB6-6E0201E5C697}"/>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MVP feature map, selected dependencies</a:t>
            </a:r>
          </a:p>
        </p:txBody>
      </p:sp>
      <p:sp>
        <p:nvSpPr>
          <p:cNvPr id="5" name="text">
            <a:extLst xmlns:a="http://schemas.openxmlformats.org/drawingml/2006/main">
              <a:ext uri="{FF2B5EF4-FFF2-40B4-BE49-F238E27FC236}">
                <a16:creationId xmlns:a16="http://schemas.microsoft.com/office/drawing/2014/main" id="{80BB7479-F651-4197-8395-0DF5AC7316C1}"/>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7 / 32</a:t>
            </a:r>
          </a:p>
        </p:txBody>
      </p:sp>
      <p:sp>
        <p:nvSpPr>
          <p:cNvPr id="6" name="text">
            <a:extLst xmlns:a="http://schemas.openxmlformats.org/drawingml/2006/main">
              <a:ext uri="{FF2B5EF4-FFF2-40B4-BE49-F238E27FC236}">
                <a16:creationId xmlns:a16="http://schemas.microsoft.com/office/drawing/2014/main" id="{F04EBB47-39B2-4DAD-A993-7AC117AC2512}"/>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Shared rules connect content preparation, learning access, and private learner activities.</a:t>
            </a:r>
          </a:p>
        </p:txBody>
      </p:sp>
      <p:graphicFrame>
        <p:nvGraphicFramePr>
          <p:cNvPr id="16" name=""/>
          <p:cNvGraphicFramePr/>
          <p:nvPr/>
        </p:nvGraphicFramePr>
        <p:xfrm>
          <a:off xmlns:a="http://schemas.openxmlformats.org/drawingml/2006/main" x="762000" y="2473325"/>
          <a:ext xmlns:a="http://schemas.openxmlformats.org/drawingml/2006/main" cx="16764000" cy="5510784"/>
        </p:xfrm>
        <a:graphic xmlns:a="http://schemas.openxmlformats.org/drawingml/2006/main">
          <a:graphicData uri="http://schemas.openxmlformats.org/drawingml/2006/table">
            <a:tbl>
              <a:tblPr firstRow="1" bandRow="0"/>
              <a:tblGrid>
                <a:gridCol w="8046720"/>
                <a:gridCol w="8717280"/>
              </a:tblGrid>
              <a:tr h="858012">
                <a:tc>
                  <a:txBody>
                    <a:bodyPr wrap="square">
                      <a:noAutofit/>
                    </a:bodyPr>
                    <a:lstStyle/>
                    <a:p>
                      <a:r>
                        <a:rPr sz="2400" b="1">
                          <a:solidFill>
                            <a:srgbClr val="111827"/>
                          </a:solidFill>
                          <a:latin typeface="Calibri"/>
                          <a:ea typeface="Calibri"/>
                          <a:cs typeface="Calibri"/>
                        </a:rPr>
                        <a:t>Dependency chain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Why it matters</a:t>
                      </a:r>
                    </a:p>
                  </a:txBody>
                  <a:tcPr marL="165100" marR="165100" marT="127000" marB="127000" anchor="ctr">
                    <a:solidFill>
                      <a:srgbClr val="D8EDF4"/>
                    </a:solidFill>
                  </a:tcPr>
                </a:tc>
              </a:tr>
              <a:tr h="1220724">
                <a:tc>
                  <a:txBody>
                    <a:bodyPr wrap="square">
                      <a:noAutofit/>
                    </a:bodyPr>
                    <a:lstStyle/>
                    <a:p>
                      <a:r>
                        <a:rPr sz="2400" b="0">
                          <a:solidFill>
                            <a:srgbClr val="111827"/>
                          </a:solidFill>
                          <a:latin typeface="Calibri"/>
                          <a:ea typeface="Calibri"/>
                          <a:cs typeface="Calibri"/>
                        </a:rPr>
                        <a:t>F01 identity + F03 allowance support F11 AI Buddy</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 reply requires an authenticated owner and an available allowance.</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F03 access + F04 content support F05 catalog</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Only eligible, published Free content belongs in the MVP catalog.</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F01 + F05 support F06 learning and progress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 signed-in learner resumes an accessible lesson.</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F06 provides lesson context for F07 and F08</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Practice must stay linked to the selected lesson and segment.</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F09 saved vocabulary supports F10 review</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Scheduling depends on words that belong to the learner.</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DA079CA2-961D-43F4-A6D7-0E9BEC6EEA13}"/>
              </a:ext>
            </a:extLst>
          </p:cNvPr>
          <p:cNvSpPr>
            <a:spLocks xmlns:a="http://schemas.openxmlformats.org/drawingml/2006/main" noGrp="1"/>
          </p:cNvSpPr>
          <p:nvPr/>
        </p:nvSpPr>
        <p:spPr>
          <a:xfrm xmlns:a="http://schemas.openxmlformats.org/drawingml/2006/main">
            <a:off x="762000" y="8212709"/>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Example impact:</a:t>
            </a:r>
            <a:r>
              <a:rPr b="0">
                <a:latin typeface="Calibri"/>
                <a:ea typeface="Calibri"/>
                <a:cs typeface="Calibri"/>
              </a:rPr>
              <a:t> Withdrawing unsafe media affects publication, catalog visibility, and lesson access.</a:t>
            </a:r>
          </a:p>
        </p:txBody>
      </p:sp>
      <p:sp>
        <p:nvSpPr>
          <p:cNvPr id="9" name="text">
            <a:extLst xmlns:a="http://schemas.openxmlformats.org/drawingml/2006/main">
              <a:ext uri="{FF2B5EF4-FFF2-40B4-BE49-F238E27FC236}">
                <a16:creationId xmlns:a16="http://schemas.microsoft.com/office/drawing/2014/main" id="{DBAB2DFA-995B-44EA-8B8E-CC50B6BEB955}"/>
              </a:ext>
            </a:extLst>
          </p:cNvPr>
          <p:cNvSpPr>
            <a:spLocks xmlns:a="http://schemas.openxmlformats.org/drawingml/2006/main" noGrp="1"/>
          </p:cNvSpPr>
          <p:nvPr/>
        </p:nvSpPr>
        <p:spPr>
          <a:xfrm xmlns:a="http://schemas.openxmlformats.org/drawingml/2006/main">
            <a:off x="762000" y="8735695"/>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Selected dependencies only. No production-scale load claim is made.</a:t>
            </a:r>
          </a:p>
        </p:txBody>
      </p:sp>
    </p:spTree>
    <p:extLst>
      <p:ext uri="{BB962C8B-B14F-4D97-AF65-F5344CB8AC3E}">
        <p14:creationId xmlns:p14="http://schemas.microsoft.com/office/powerpoint/2010/main" val="10907026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DF33B3D4-F9C8-49F6-82D9-BF821B0696B7}"/>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2.3. Complexity Behind One AI Buddy Message</a:t>
            </a:r>
          </a:p>
        </p:txBody>
      </p:sp>
      <p:sp>
        <p:nvSpPr>
          <p:cNvPr id="2" name="">
            <a:extLst xmlns:a="http://schemas.openxmlformats.org/drawingml/2006/main">
              <a:ext uri="{FF2B5EF4-FFF2-40B4-BE49-F238E27FC236}">
                <a16:creationId xmlns:a16="http://schemas.microsoft.com/office/drawing/2014/main" id="{6F1AFE48-6697-4F66-85E1-9E7DEE7F37EE}"/>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34765C3-BCE5-4BDC-9EAD-CCA1A325DF7B}"/>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0EBCAAE-1B9B-4AE9-A7CC-8A412223ADC9}"/>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F11 FR-003/004/007/009/015</a:t>
            </a:r>
          </a:p>
        </p:txBody>
      </p:sp>
      <p:sp>
        <p:nvSpPr>
          <p:cNvPr id="5" name="text">
            <a:extLst xmlns:a="http://schemas.openxmlformats.org/drawingml/2006/main">
              <a:ext uri="{FF2B5EF4-FFF2-40B4-BE49-F238E27FC236}">
                <a16:creationId xmlns:a16="http://schemas.microsoft.com/office/drawing/2014/main" id="{3028F75A-5F86-456A-83E1-82A82E14088E}"/>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8 / 32</a:t>
            </a:r>
          </a:p>
        </p:txBody>
      </p:sp>
      <p:sp>
        <p:nvSpPr>
          <p:cNvPr id="6" name="text">
            <a:extLst xmlns:a="http://schemas.openxmlformats.org/drawingml/2006/main">
              <a:ext uri="{FF2B5EF4-FFF2-40B4-BE49-F238E27FC236}">
                <a16:creationId xmlns:a16="http://schemas.microsoft.com/office/drawing/2014/main" id="{B59DA988-A656-4ED2-8015-2132CC4E49BC}"/>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 learner expects one useful reply. The system must coordinate ownership, allowance, retries, and failures.</a:t>
            </a:r>
          </a:p>
        </p:txBody>
      </p:sp>
      <p:sp>
        <p:nvSpPr>
          <p:cNvPr id="7" name="text">
            <a:extLst xmlns:a="http://schemas.openxmlformats.org/drawingml/2006/main">
              <a:ext uri="{FF2B5EF4-FFF2-40B4-BE49-F238E27FC236}">
                <a16:creationId xmlns:a16="http://schemas.microsoft.com/office/drawing/2014/main" id="{DB44AA35-BCB8-4894-A443-CAD743B4C804}"/>
              </a:ext>
            </a:extLst>
          </p:cNvPr>
          <p:cNvSpPr>
            <a:spLocks xmlns:a="http://schemas.openxmlformats.org/drawingml/2006/main" noGrp="1"/>
          </p:cNvSpPr>
          <p:nvPr/>
        </p:nvSpPr>
        <p:spPr>
          <a:xfrm xmlns:a="http://schemas.openxmlformats.org/drawingml/2006/main">
            <a:off x="762000" y="2346325"/>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1">
                <a:latin typeface="Calibri"/>
                <a:ea typeface="Calibri"/>
                <a:cs typeface="Calibri"/>
              </a:rPr>
              <a:t>Illustrative request:</a:t>
            </a:r>
            <a:r>
              <a:rPr b="0">
                <a:latin typeface="Calibri"/>
                <a:ea typeface="Calibri"/>
                <a:cs typeface="Calibri"/>
              </a:rPr>
              <a:t> “Help me practise greeting someone in Chinese.”</a:t>
            </a:r>
          </a:p>
        </p:txBody>
      </p:sp>
      <p:graphicFrame>
        <p:nvGraphicFramePr>
          <p:cNvPr id="18" name=""/>
          <p:cNvGraphicFramePr/>
          <p:nvPr/>
        </p:nvGraphicFramePr>
        <p:xfrm>
          <a:off xmlns:a="http://schemas.openxmlformats.org/drawingml/2006/main" x="762000" y="3041650"/>
          <a:ext xmlns:a="http://schemas.openxmlformats.org/drawingml/2006/main" cx="16764000" cy="4954778"/>
        </p:xfrm>
        <a:graphic xmlns:a="http://schemas.openxmlformats.org/drawingml/2006/main">
          <a:graphicData uri="http://schemas.openxmlformats.org/drawingml/2006/table">
            <a:tbl>
              <a:tblPr firstRow="1" bandRow="0"/>
              <a:tblGrid>
                <a:gridCol w="6202680"/>
                <a:gridCol w="10561320"/>
              </a:tblGrid>
              <a:tr h="765344">
                <a:tc>
                  <a:txBody>
                    <a:bodyPr wrap="square">
                      <a:noAutofit/>
                    </a:bodyPr>
                    <a:lstStyle/>
                    <a:p>
                      <a:r>
                        <a:rPr sz="2400" b="1">
                          <a:solidFill>
                            <a:srgbClr val="111827"/>
                          </a:solidFill>
                          <a:latin typeface="Calibri"/>
                          <a:ea typeface="Calibri"/>
                          <a:cs typeface="Calibri"/>
                        </a:rPr>
                        <a:t>Situation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Required behavior</a:t>
                      </a:r>
                    </a:p>
                  </a:txBody>
                  <a:tcPr marL="165100" marR="165100" marT="127000" marB="127000" anchor="ctr">
                    <a:solidFill>
                      <a:srgbClr val="D8EDF4"/>
                    </a:solidFill>
                  </a:tcPr>
                </a:tc>
              </a:tr>
              <a:tr h="1128056">
                <a:tc>
                  <a:txBody>
                    <a:bodyPr wrap="square">
                      <a:noAutofit/>
                    </a:bodyPr>
                    <a:lstStyle/>
                    <a:p>
                      <a:r>
                        <a:rPr sz="2400" b="0">
                          <a:solidFill>
                            <a:srgbClr val="111827"/>
                          </a:solidFill>
                          <a:latin typeface="Calibri"/>
                          <a:ea typeface="Calibri"/>
                          <a:cs typeface="Calibri"/>
                        </a:rPr>
                        <a:t>Valid message in the learner's active conversation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Return a valid reply and consume one allowance unit</a:t>
                      </a:r>
                    </a:p>
                  </a:txBody>
                  <a:tcPr marL="165100" marR="165100" marT="127000" marB="127000" anchor="ctr">
                    <a:solidFill>
                      <a:srgbClr val="FFFFFF"/>
                    </a:solidFill>
                  </a:tcPr>
                </a:tc>
              </a:tr>
              <a:tr h="765344">
                <a:tc>
                  <a:txBody>
                    <a:bodyPr wrap="square">
                      <a:noAutofit/>
                    </a:bodyPr>
                    <a:lstStyle/>
                    <a:p>
                      <a:r>
                        <a:rPr sz="2400" b="0">
                          <a:solidFill>
                            <a:srgbClr val="111827"/>
                          </a:solidFill>
                          <a:latin typeface="Calibri"/>
                          <a:ea typeface="Calibri"/>
                          <a:cs typeface="Calibri"/>
                        </a:rPr>
                        <a:t>Another user's conversation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Reject access</a:t>
                      </a:r>
                    </a:p>
                  </a:txBody>
                  <a:tcPr marL="165100" marR="165100" marT="127000" marB="127000" anchor="ctr">
                    <a:solidFill>
                      <a:srgbClr val="F3F8FB"/>
                    </a:solidFill>
                  </a:tcPr>
                </a:tc>
              </a:tr>
              <a:tr h="765344">
                <a:tc>
                  <a:txBody>
                    <a:bodyPr wrap="square">
                      <a:noAutofit/>
                    </a:bodyPr>
                    <a:lstStyle/>
                    <a:p>
                      <a:r>
                        <a:rPr sz="2400" b="0">
                          <a:solidFill>
                            <a:srgbClr val="111827"/>
                          </a:solidFill>
                          <a:latin typeface="Calibri"/>
                          <a:ea typeface="Calibri"/>
                          <a:cs typeface="Calibri"/>
                        </a:rPr>
                        <a:t>No remaining allowance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Stop before provider processing</a:t>
                      </a:r>
                    </a:p>
                  </a:txBody>
                  <a:tcPr marL="165100" marR="165100" marT="127000" marB="127000" anchor="ctr">
                    <a:solidFill>
                      <a:srgbClr val="FFFFFF"/>
                    </a:solidFill>
                  </a:tcPr>
                </a:tc>
              </a:tr>
              <a:tr h="765344">
                <a:tc>
                  <a:txBody>
                    <a:bodyPr wrap="square">
                      <a:noAutofit/>
                    </a:bodyPr>
                    <a:lstStyle/>
                    <a:p>
                      <a:r>
                        <a:rPr sz="2400" b="0">
                          <a:solidFill>
                            <a:srgbClr val="111827"/>
                          </a:solidFill>
                          <a:latin typeface="Calibri"/>
                          <a:ea typeface="Calibri"/>
                          <a:cs typeface="Calibri"/>
                        </a:rPr>
                        <a:t>Same logical message sent again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Prevent a second charge and duplicate reply</a:t>
                      </a:r>
                    </a:p>
                  </a:txBody>
                  <a:tcPr marL="165100" marR="165100" marT="127000" marB="127000" anchor="ctr">
                    <a:solidFill>
                      <a:srgbClr val="F3F8FB"/>
                    </a:solidFill>
                  </a:tcPr>
                </a:tc>
              </a:tr>
              <a:tr h="765344">
                <a:tc>
                  <a:txBody>
                    <a:bodyPr wrap="square">
                      <a:noAutofit/>
                    </a:bodyPr>
                    <a:lstStyle/>
                    <a:p>
                      <a:r>
                        <a:rPr sz="2400" b="0">
                          <a:solidFill>
                            <a:srgbClr val="111827"/>
                          </a:solidFill>
                          <a:latin typeface="Calibri"/>
                          <a:ea typeface="Calibri"/>
                          <a:cs typeface="Calibri"/>
                        </a:rPr>
                        <a:t>Provider timeout or invalid output</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Return a safe final result and restore reserved allowance exactly once</a:t>
                      </a:r>
                    </a:p>
                  </a:txBody>
                  <a:tcPr marL="165100" marR="165100" marT="127000" marB="127000" anchor="ctr">
                    <a:solidFill>
                      <a:srgbClr val="FFFFFF"/>
                    </a:solidFill>
                  </a:tcPr>
                </a:tc>
              </a:tr>
            </a:tbl>
          </a:graphicData>
        </a:graphic>
      </p:graphicFrame>
      <p:sp>
        <p:nvSpPr>
          <p:cNvPr id="9" name="text">
            <a:extLst xmlns:a="http://schemas.openxmlformats.org/drawingml/2006/main">
              <a:ext uri="{FF2B5EF4-FFF2-40B4-BE49-F238E27FC236}">
                <a16:creationId xmlns:a16="http://schemas.microsoft.com/office/drawing/2014/main" id="{BDEA5769-D460-4C90-A120-DCE140AE2345}"/>
              </a:ext>
            </a:extLst>
          </p:cNvPr>
          <p:cNvSpPr>
            <a:spLocks xmlns:a="http://schemas.openxmlformats.org/drawingml/2006/main" noGrp="1"/>
          </p:cNvSpPr>
          <p:nvPr/>
        </p:nvSpPr>
        <p:spPr>
          <a:xfrm xmlns:a="http://schemas.openxmlformats.org/drawingml/2006/main">
            <a:off x="762000" y="8225028"/>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Hard case:</a:t>
            </a:r>
            <a:r>
              <a:rPr b="0">
                <a:latin typeface="Calibri"/>
                <a:ea typeface="Calibri"/>
                <a:cs typeface="Calibri"/>
              </a:rPr>
              <a:t> Concurrent retries must preserve these rules while sharing the original request's deadline.</a:t>
            </a:r>
          </a:p>
        </p:txBody>
      </p:sp>
      <p:sp>
        <p:nvSpPr>
          <p:cNvPr id="10" name="text">
            <a:extLst xmlns:a="http://schemas.openxmlformats.org/drawingml/2006/main">
              <a:ext uri="{FF2B5EF4-FFF2-40B4-BE49-F238E27FC236}">
                <a16:creationId xmlns:a16="http://schemas.microsoft.com/office/drawing/2014/main" id="{CA13F6F2-68E2-473C-AC44-AB37EC13C322}"/>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Design requirements from F11, not a completed E2E demonstration.</a:t>
            </a:r>
          </a:p>
        </p:txBody>
      </p:sp>
    </p:spTree>
    <p:extLst>
      <p:ext uri="{BB962C8B-B14F-4D97-AF65-F5344CB8AC3E}">
        <p14:creationId xmlns:p14="http://schemas.microsoft.com/office/powerpoint/2010/main" val="4890954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82FDA82A-314F-4E7E-8B9E-B612652411E5}"/>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3.1. Controlling Development Inputs</a:t>
            </a:r>
          </a:p>
        </p:txBody>
      </p:sp>
      <p:sp>
        <p:nvSpPr>
          <p:cNvPr id="2" name="">
            <a:extLst xmlns:a="http://schemas.openxmlformats.org/drawingml/2006/main">
              <a:ext uri="{FF2B5EF4-FFF2-40B4-BE49-F238E27FC236}">
                <a16:creationId xmlns:a16="http://schemas.microsoft.com/office/drawing/2014/main" id="{D9F4EDD1-DA67-438B-B673-5609B3044233}"/>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59695146-9CF4-4887-A2C3-F9BC8F1EA5B5}"/>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A7056BCF-A712-4EDC-B669-1565D16B1F1E}"/>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spec; Constitution; API.md; DATA_short.md</a:t>
            </a:r>
          </a:p>
        </p:txBody>
      </p:sp>
      <p:sp>
        <p:nvSpPr>
          <p:cNvPr id="5" name="text">
            <a:extLst xmlns:a="http://schemas.openxmlformats.org/drawingml/2006/main">
              <a:ext uri="{FF2B5EF4-FFF2-40B4-BE49-F238E27FC236}">
                <a16:creationId xmlns:a16="http://schemas.microsoft.com/office/drawing/2014/main" id="{98A8090D-7ED2-4A5B-A5F1-924B9AF2E61F}"/>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9 / 32</a:t>
            </a:r>
          </a:p>
        </p:txBody>
      </p:sp>
      <p:sp>
        <p:nvSpPr>
          <p:cNvPr id="6" name="text">
            <a:extLst xmlns:a="http://schemas.openxmlformats.org/drawingml/2006/main">
              <a:ext uri="{FF2B5EF4-FFF2-40B4-BE49-F238E27FC236}">
                <a16:creationId xmlns:a16="http://schemas.microsoft.com/office/drawing/2014/main" id="{8C6C5335-C028-471F-B7B7-D30E8D5BB382}"/>
              </a:ext>
            </a:extLst>
          </p:cNvPr>
          <p:cNvSpPr>
            <a:spLocks xmlns:a="http://schemas.openxmlformats.org/drawingml/2006/main" noGrp="1"/>
          </p:cNvSpPr>
          <p:nvPr/>
        </p:nvSpPr>
        <p:spPr>
          <a:xfrm xmlns:a="http://schemas.openxmlformats.org/drawingml/2006/main">
            <a:off x="762000" y="1790700"/>
            <a:ext cx="1676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Implementation depends on the quality and consistency of the context supplied to the developer or AI agent.</a:t>
            </a:r>
          </a:p>
        </p:txBody>
      </p:sp>
      <p:sp>
        <p:nvSpPr>
          <p:cNvPr id="7" name="text">
            <a:extLst xmlns:a="http://schemas.openxmlformats.org/drawingml/2006/main">
              <a:ext uri="{FF2B5EF4-FFF2-40B4-BE49-F238E27FC236}">
                <a16:creationId xmlns:a16="http://schemas.microsoft.com/office/drawing/2014/main" id="{22BEE22C-A10A-4125-87AA-8EF351F1EFEE}"/>
              </a:ext>
            </a:extLst>
          </p:cNvPr>
          <p:cNvSpPr>
            <a:spLocks xmlns:a="http://schemas.openxmlformats.org/drawingml/2006/main" noGrp="1"/>
          </p:cNvSpPr>
          <p:nvPr/>
        </p:nvSpPr>
        <p:spPr>
          <a:xfrm xmlns:a="http://schemas.openxmlformats.org/drawingml/2006/main">
            <a:off x="762000" y="2755900"/>
            <a:ext cx="11430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111827"/>
                </a:solidFill>
                <a:latin typeface="Calibri"/>
                <a:ea typeface="Calibri"/>
                <a:cs typeface="Calibri"/>
              </a:defRPr>
            </a:pPr>
            <a:r>
              <a:rPr sz="2600" b="1">
                <a:solidFill>
                  <a:srgbClr val="111827"/>
                </a:solidFill>
                <a:latin typeface="Calibri"/>
                <a:ea typeface="Calibri"/>
                <a:cs typeface="Calibri"/>
              </a:rPr>
              <a:t>For F04 content administration, the input package includes:</a:t>
            </a:r>
          </a:p>
        </p:txBody>
      </p:sp>
      <p:sp>
        <p:nvSpPr>
          <p:cNvPr id="8" name="text">
            <a:extLst xmlns:a="http://schemas.openxmlformats.org/drawingml/2006/main">
              <a:ext uri="{FF2B5EF4-FFF2-40B4-BE49-F238E27FC236}">
                <a16:creationId xmlns:a16="http://schemas.microsoft.com/office/drawing/2014/main" id="{7A300C65-8E79-42D7-973C-6D43E3488C40}"/>
              </a:ext>
            </a:extLst>
          </p:cNvPr>
          <p:cNvSpPr>
            <a:spLocks xmlns:a="http://schemas.openxmlformats.org/drawingml/2006/main" noGrp="1"/>
          </p:cNvSpPr>
          <p:nvPr/>
        </p:nvSpPr>
        <p:spPr>
          <a:xfrm xmlns:a="http://schemas.openxmlformats.org/drawingml/2006/main">
            <a:off x="762000" y="3390900"/>
            <a:ext cx="32385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1. User outcome</a:t>
            </a:r>
          </a:p>
        </p:txBody>
      </p:sp>
      <p:sp>
        <p:nvSpPr>
          <p:cNvPr id="9" name="text">
            <a:extLst xmlns:a="http://schemas.openxmlformats.org/drawingml/2006/main">
              <a:ext uri="{FF2B5EF4-FFF2-40B4-BE49-F238E27FC236}">
                <a16:creationId xmlns:a16="http://schemas.microsoft.com/office/drawing/2014/main" id="{100F547E-A9F8-4DBA-9E0E-A908E6343B9B}"/>
              </a:ext>
            </a:extLst>
          </p:cNvPr>
          <p:cNvSpPr>
            <a:spLocks xmlns:a="http://schemas.openxmlformats.org/drawingml/2006/main" noGrp="1"/>
          </p:cNvSpPr>
          <p:nvPr/>
        </p:nvSpPr>
        <p:spPr>
          <a:xfrm xmlns:a="http://schemas.openxmlformats.org/drawingml/2006/main">
            <a:off x="3937000" y="3390900"/>
            <a:ext cx="78105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Administrators can prepare and publish eligible</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Chinese-learning content.</a:t>
            </a:r>
          </a:p>
        </p:txBody>
      </p:sp>
      <p:sp>
        <p:nvSpPr>
          <p:cNvPr id="10" name="text">
            <a:extLst xmlns:a="http://schemas.openxmlformats.org/drawingml/2006/main">
              <a:ext uri="{FF2B5EF4-FFF2-40B4-BE49-F238E27FC236}">
                <a16:creationId xmlns:a16="http://schemas.microsoft.com/office/drawing/2014/main" id="{5ADF4D5A-38CB-414C-A2FB-2FB04981F240}"/>
              </a:ext>
            </a:extLst>
          </p:cNvPr>
          <p:cNvSpPr>
            <a:spLocks xmlns:a="http://schemas.openxmlformats.org/drawingml/2006/main" noGrp="1"/>
          </p:cNvSpPr>
          <p:nvPr/>
        </p:nvSpPr>
        <p:spPr>
          <a:xfrm xmlns:a="http://schemas.openxmlformats.org/drawingml/2006/main">
            <a:off x="762000" y="4305300"/>
            <a:ext cx="32385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2. Scope</a:t>
            </a:r>
          </a:p>
        </p:txBody>
      </p:sp>
      <p:sp>
        <p:nvSpPr>
          <p:cNvPr id="11" name="text">
            <a:extLst xmlns:a="http://schemas.openxmlformats.org/drawingml/2006/main">
              <a:ext uri="{FF2B5EF4-FFF2-40B4-BE49-F238E27FC236}">
                <a16:creationId xmlns:a16="http://schemas.microsoft.com/office/drawing/2014/main" id="{C0D110E4-979E-484D-B6BF-116B86E56D74}"/>
              </a:ext>
            </a:extLst>
          </p:cNvPr>
          <p:cNvSpPr>
            <a:spLocks xmlns:a="http://schemas.openxmlformats.org/drawingml/2006/main" noGrp="1"/>
          </p:cNvSpPr>
          <p:nvPr/>
        </p:nvSpPr>
        <p:spPr>
          <a:xfrm xmlns:a="http://schemas.openxmlformats.org/drawingml/2006/main">
            <a:off x="3937000" y="4305300"/>
            <a:ext cx="78105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MVP lessons use Free access and supported YouTube video</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references.</a:t>
            </a:r>
          </a:p>
        </p:txBody>
      </p:sp>
      <p:sp>
        <p:nvSpPr>
          <p:cNvPr id="12" name="text">
            <a:extLst xmlns:a="http://schemas.openxmlformats.org/drawingml/2006/main">
              <a:ext uri="{FF2B5EF4-FFF2-40B4-BE49-F238E27FC236}">
                <a16:creationId xmlns:a16="http://schemas.microsoft.com/office/drawing/2014/main" id="{A547D08F-BD1A-4132-9E27-8A4B3B985BC3}"/>
              </a:ext>
            </a:extLst>
          </p:cNvPr>
          <p:cNvSpPr>
            <a:spLocks xmlns:a="http://schemas.openxmlformats.org/drawingml/2006/main" noGrp="1"/>
          </p:cNvSpPr>
          <p:nvPr/>
        </p:nvSpPr>
        <p:spPr>
          <a:xfrm xmlns:a="http://schemas.openxmlformats.org/drawingml/2006/main">
            <a:off x="762000" y="5219700"/>
            <a:ext cx="32385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3. Authority</a:t>
            </a:r>
          </a:p>
        </p:txBody>
      </p:sp>
      <p:sp>
        <p:nvSpPr>
          <p:cNvPr id="13" name="text">
            <a:extLst xmlns:a="http://schemas.openxmlformats.org/drawingml/2006/main">
              <a:ext uri="{FF2B5EF4-FFF2-40B4-BE49-F238E27FC236}">
                <a16:creationId xmlns:a16="http://schemas.microsoft.com/office/drawing/2014/main" id="{413AD101-AEF0-4749-AE19-C7CB409BE80C}"/>
              </a:ext>
            </a:extLst>
          </p:cNvPr>
          <p:cNvSpPr>
            <a:spLocks xmlns:a="http://schemas.openxmlformats.org/drawingml/2006/main" noGrp="1"/>
          </p:cNvSpPr>
          <p:nvPr/>
        </p:nvSpPr>
        <p:spPr>
          <a:xfrm xmlns:a="http://schemas.openxmlformats.org/drawingml/2006/main">
            <a:off x="3937000" y="5219700"/>
            <a:ext cx="78105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The backend enforces ADMIN permissions and publication</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conditions.</a:t>
            </a:r>
          </a:p>
        </p:txBody>
      </p:sp>
      <p:sp>
        <p:nvSpPr>
          <p:cNvPr id="14" name="text">
            <a:extLst xmlns:a="http://schemas.openxmlformats.org/drawingml/2006/main">
              <a:ext uri="{FF2B5EF4-FFF2-40B4-BE49-F238E27FC236}">
                <a16:creationId xmlns:a16="http://schemas.microsoft.com/office/drawing/2014/main" id="{AD439CB0-D553-4D86-8B81-F7B4AC3DBAC6}"/>
              </a:ext>
            </a:extLst>
          </p:cNvPr>
          <p:cNvSpPr>
            <a:spLocks xmlns:a="http://schemas.openxmlformats.org/drawingml/2006/main" noGrp="1"/>
          </p:cNvSpPr>
          <p:nvPr/>
        </p:nvSpPr>
        <p:spPr>
          <a:xfrm xmlns:a="http://schemas.openxmlformats.org/drawingml/2006/main">
            <a:off x="762000" y="6134100"/>
            <a:ext cx="32385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4. Existing contracts</a:t>
            </a:r>
          </a:p>
        </p:txBody>
      </p:sp>
      <p:sp>
        <p:nvSpPr>
          <p:cNvPr id="15" name="text">
            <a:extLst xmlns:a="http://schemas.openxmlformats.org/drawingml/2006/main">
              <a:ext uri="{FF2B5EF4-FFF2-40B4-BE49-F238E27FC236}">
                <a16:creationId xmlns:a16="http://schemas.microsoft.com/office/drawing/2014/main" id="{0CBF8324-F00A-45D3-A1C6-2EB3E075824E}"/>
              </a:ext>
            </a:extLst>
          </p:cNvPr>
          <p:cNvSpPr>
            <a:spLocks xmlns:a="http://schemas.openxmlformats.org/drawingml/2006/main" noGrp="1"/>
          </p:cNvSpPr>
          <p:nvPr/>
        </p:nvSpPr>
        <p:spPr>
          <a:xfrm xmlns:a="http://schemas.openxmlformats.org/drawingml/2006/main">
            <a:off x="3937000" y="6134100"/>
            <a:ext cx="78105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API responses, canonical data definitions, and lifecycle states.</a:t>
            </a:r>
          </a:p>
        </p:txBody>
      </p:sp>
      <p:sp>
        <p:nvSpPr>
          <p:cNvPr id="16" name="text">
            <a:extLst xmlns:a="http://schemas.openxmlformats.org/drawingml/2006/main">
              <a:ext uri="{FF2B5EF4-FFF2-40B4-BE49-F238E27FC236}">
                <a16:creationId xmlns:a16="http://schemas.microsoft.com/office/drawing/2014/main" id="{0EA11E1C-4522-438C-9E5E-CC14ABAC3985}"/>
              </a:ext>
            </a:extLst>
          </p:cNvPr>
          <p:cNvSpPr>
            <a:spLocks xmlns:a="http://schemas.openxmlformats.org/drawingml/2006/main" noGrp="1"/>
          </p:cNvSpPr>
          <p:nvPr/>
        </p:nvSpPr>
        <p:spPr>
          <a:xfrm xmlns:a="http://schemas.openxmlformats.org/drawingml/2006/main">
            <a:off x="762000" y="7048500"/>
            <a:ext cx="32385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5. Open decisions</a:t>
            </a:r>
          </a:p>
        </p:txBody>
      </p:sp>
      <p:sp>
        <p:nvSpPr>
          <p:cNvPr id="17" name="text">
            <a:extLst xmlns:a="http://schemas.openxmlformats.org/drawingml/2006/main">
              <a:ext uri="{FF2B5EF4-FFF2-40B4-BE49-F238E27FC236}">
                <a16:creationId xmlns:a16="http://schemas.microsoft.com/office/drawing/2014/main" id="{4425D124-8C74-4A33-99EA-52FCC2A17247}"/>
              </a:ext>
            </a:extLst>
          </p:cNvPr>
          <p:cNvSpPr>
            <a:spLocks xmlns:a="http://schemas.openxmlformats.org/drawingml/2006/main" noGrp="1"/>
          </p:cNvSpPr>
          <p:nvPr/>
        </p:nvSpPr>
        <p:spPr>
          <a:xfrm xmlns:a="http://schemas.openxmlformats.org/drawingml/2006/main">
            <a:off x="3937000" y="7048500"/>
            <a:ext cx="78105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Behavior when content changes, media is withdrawn, or an</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update uses an old version.</a:t>
            </a:r>
          </a:p>
        </p:txBody>
      </p:sp>
      <p:sp>
        <p:nvSpPr>
          <p:cNvPr id="18" name="F04 specification package">
            <a:extLst xmlns:a="http://schemas.openxmlformats.org/drawingml/2006/main">
              <a:ext uri="{FF2B5EF4-FFF2-40B4-BE49-F238E27FC236}">
                <a16:creationId xmlns:a16="http://schemas.microsoft.com/office/drawing/2014/main" id="{CAEC8AC7-FE22-4E81-BB3C-6061B750F9C2}"/>
              </a:ext>
            </a:extLst>
          </p:cNvPr>
          <p:cNvSpPr>
            <a:spLocks xmlns:a="http://schemas.openxmlformats.org/drawingml/2006/main" noGrp="1"/>
          </p:cNvSpPr>
          <p:nvPr/>
        </p:nvSpPr>
        <p:spPr>
          <a:xfrm xmlns:a="http://schemas.openxmlformats.org/drawingml/2006/main">
            <a:off x="12573000" y="3467100"/>
            <a:ext cx="4572000" cy="40513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19" name="heading">
            <a:extLst xmlns:a="http://schemas.openxmlformats.org/drawingml/2006/main">
              <a:ext uri="{FF2B5EF4-FFF2-40B4-BE49-F238E27FC236}">
                <a16:creationId xmlns:a16="http://schemas.microsoft.com/office/drawing/2014/main" id="{8138770C-CC87-4B7B-ADBE-C0CF478C7A38}"/>
              </a:ext>
            </a:extLst>
          </p:cNvPr>
          <p:cNvSpPr>
            <a:spLocks xmlns:a="http://schemas.openxmlformats.org/drawingml/2006/main" noGrp="1"/>
          </p:cNvSpPr>
          <p:nvPr/>
        </p:nvSpPr>
        <p:spPr>
          <a:xfrm xmlns:a="http://schemas.openxmlformats.org/drawingml/2006/main">
            <a:off x="12573000" y="3467100"/>
            <a:ext cx="45720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E5EE288E-21AC-4DA4-B828-A76431ADCF50}"/>
              </a:ext>
            </a:extLst>
          </p:cNvPr>
          <p:cNvSpPr>
            <a:spLocks xmlns:a="http://schemas.openxmlformats.org/drawingml/2006/main" noGrp="1"/>
          </p:cNvSpPr>
          <p:nvPr/>
        </p:nvSpPr>
        <p:spPr>
          <a:xfrm xmlns:a="http://schemas.openxmlformats.org/drawingml/2006/main">
            <a:off x="12725400" y="354330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FFFFFF"/>
                </a:solidFill>
                <a:latin typeface="Calibri"/>
                <a:ea typeface="Calibri"/>
                <a:cs typeface="Calibri"/>
              </a:defRPr>
            </a:pPr>
            <a:r>
              <a:rPr sz="2600" b="1">
                <a:solidFill>
                  <a:srgbClr val="FFFFFF"/>
                </a:solidFill>
                <a:latin typeface="Calibri"/>
                <a:ea typeface="Calibri"/>
                <a:cs typeface="Calibri"/>
              </a:rPr>
              <a:t>F04 specification package</a:t>
            </a:r>
          </a:p>
        </p:txBody>
      </p:sp>
      <p:sp>
        <p:nvSpPr>
          <p:cNvPr id="21" name="text">
            <a:extLst xmlns:a="http://schemas.openxmlformats.org/drawingml/2006/main">
              <a:ext uri="{FF2B5EF4-FFF2-40B4-BE49-F238E27FC236}">
                <a16:creationId xmlns:a16="http://schemas.microsoft.com/office/drawing/2014/main" id="{67C28FF0-7AD9-4DFE-9D63-BAADF9C729BB}"/>
              </a:ext>
            </a:extLst>
          </p:cNvPr>
          <p:cNvSpPr>
            <a:spLocks xmlns:a="http://schemas.openxmlformats.org/drawingml/2006/main" noGrp="1"/>
          </p:cNvSpPr>
          <p:nvPr/>
        </p:nvSpPr>
        <p:spPr>
          <a:xfrm xmlns:a="http://schemas.openxmlformats.org/drawingml/2006/main">
            <a:off x="12750800" y="4140200"/>
            <a:ext cx="4216400" cy="330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spec.md</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plan.md</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contracts/</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data-model.md</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tasks.md</a:t>
            </a:r>
          </a:p>
        </p:txBody>
      </p:sp>
      <p:sp>
        <p:nvSpPr>
          <p:cNvPr id="22" name="text">
            <a:extLst xmlns:a="http://schemas.openxmlformats.org/drawingml/2006/main">
              <a:ext uri="{FF2B5EF4-FFF2-40B4-BE49-F238E27FC236}">
                <a16:creationId xmlns:a16="http://schemas.microsoft.com/office/drawing/2014/main" id="{D44699DE-5A25-40F4-BE5B-507DEB6FA7D5}"/>
              </a:ext>
            </a:extLst>
          </p:cNvPr>
          <p:cNvSpPr>
            <a:spLocks xmlns:a="http://schemas.openxmlformats.org/drawingml/2006/main" noGrp="1"/>
          </p:cNvSpPr>
          <p:nvPr/>
        </p:nvSpPr>
        <p:spPr>
          <a:xfrm xmlns:a="http://schemas.openxmlformats.org/drawingml/2006/main">
            <a:off x="762000" y="8229600"/>
            <a:ext cx="16764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0070C0"/>
                </a:solidFill>
                <a:latin typeface="Calibri"/>
                <a:ea typeface="Calibri"/>
                <a:cs typeface="Calibri"/>
              </a:defRPr>
            </a:pPr>
            <a:r>
              <a:rPr sz="2300" b="1">
                <a:solidFill>
                  <a:srgbClr val="0070C0"/>
                </a:solidFill>
                <a:latin typeface="Calibri"/>
                <a:ea typeface="Calibri"/>
                <a:cs typeface="Calibri"/>
              </a:rPr>
              <a:t>Expected output of this stage</a:t>
            </a:r>
          </a:p>
        </p:txBody>
      </p:sp>
      <p:sp>
        <p:nvSpPr>
          <p:cNvPr id="23" name="text">
            <a:extLst xmlns:a="http://schemas.openxmlformats.org/drawingml/2006/main">
              <a:ext uri="{FF2B5EF4-FFF2-40B4-BE49-F238E27FC236}">
                <a16:creationId xmlns:a16="http://schemas.microsoft.com/office/drawing/2014/main" id="{2C26E4EA-A512-47D8-BF62-8EE87853C07D}"/>
              </a:ext>
            </a:extLst>
          </p:cNvPr>
          <p:cNvSpPr>
            <a:spLocks xmlns:a="http://schemas.openxmlformats.org/drawingml/2006/main" noGrp="1"/>
          </p:cNvSpPr>
          <p:nvPr/>
        </p:nvSpPr>
        <p:spPr>
          <a:xfrm xmlns:a="http://schemas.openxmlformats.org/drawingml/2006/main">
            <a:off x="762000" y="8674100"/>
            <a:ext cx="16764000" cy="411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sz="2300" b="0">
                <a:solidFill>
                  <a:srgbClr val="111827"/>
                </a:solidFill>
                <a:latin typeface="Calibri"/>
                <a:ea typeface="Calibri"/>
                <a:cs typeface="Calibri"/>
              </a:rPr>
              <a:t>A versioned feature definition with resolved critical decisions.</a:t>
            </a:r>
          </a:p>
        </p:txBody>
      </p:sp>
      <p:sp>
        <p:nvSpPr>
          <p:cNvPr id="24" name="text">
            <a:extLst xmlns:a="http://schemas.openxmlformats.org/drawingml/2006/main">
              <a:ext uri="{FF2B5EF4-FFF2-40B4-BE49-F238E27FC236}">
                <a16:creationId xmlns:a16="http://schemas.microsoft.com/office/drawing/2014/main" id="{C1DE3BC5-D355-45DD-8DED-2CDC1CD66415}"/>
              </a:ext>
            </a:extLst>
          </p:cNvPr>
          <p:cNvSpPr>
            <a:spLocks xmlns:a="http://schemas.openxmlformats.org/drawingml/2006/main" noGrp="1"/>
          </p:cNvSpPr>
          <p:nvPr/>
        </p:nvSpPr>
        <p:spPr>
          <a:xfrm xmlns:a="http://schemas.openxmlformats.org/drawingml/2006/main">
            <a:off x="762000" y="9156700"/>
            <a:ext cx="16764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64748B"/>
                </a:solidFill>
                <a:latin typeface="Calibri"/>
                <a:ea typeface="Calibri"/>
                <a:cs typeface="Calibri"/>
              </a:defRPr>
            </a:pPr>
            <a:r>
              <a:rPr sz="2000" b="0">
                <a:solidFill>
                  <a:srgbClr val="64748B"/>
                </a:solidFill>
                <a:latin typeface="Calibri"/>
                <a:ea typeface="Calibri"/>
                <a:cs typeface="Calibri"/>
              </a:rPr>
              <a:t>These are development inputs. Runtime request validation is covered in section 5.3.</a:t>
            </a:r>
          </a:p>
        </p:txBody>
      </p:sp>
    </p:spTree>
    <p:extLst>
      <p:ext uri="{BB962C8B-B14F-4D97-AF65-F5344CB8AC3E}">
        <p14:creationId xmlns:p14="http://schemas.microsoft.com/office/powerpoint/2010/main" val="3516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F78A6AF5-09E3-4354-8AB5-68BA4453464B}"/>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3.2. Specification Readiness Criteria</a:t>
            </a:r>
          </a:p>
        </p:txBody>
      </p:sp>
      <p:sp>
        <p:nvSpPr>
          <p:cNvPr id="2" name="">
            <a:extLst xmlns:a="http://schemas.openxmlformats.org/drawingml/2006/main">
              <a:ext uri="{FF2B5EF4-FFF2-40B4-BE49-F238E27FC236}">
                <a16:creationId xmlns:a16="http://schemas.microsoft.com/office/drawing/2014/main" id="{B115939F-2D1B-47EB-A082-08C69FA7C814}"/>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C4E0AE5B-61A1-4C05-A549-BF024801B11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C69FFB49-2E68-4F83-815B-6207A20D9FA1}"/>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MVP map clarifications; F04 requirements checklist</a:t>
            </a:r>
          </a:p>
        </p:txBody>
      </p:sp>
      <p:sp>
        <p:nvSpPr>
          <p:cNvPr id="5" name="text">
            <a:extLst xmlns:a="http://schemas.openxmlformats.org/drawingml/2006/main">
              <a:ext uri="{FF2B5EF4-FFF2-40B4-BE49-F238E27FC236}">
                <a16:creationId xmlns:a16="http://schemas.microsoft.com/office/drawing/2014/main" id="{15DD14DB-9D58-4843-BBB3-9E59A06DD68B}"/>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10 / 32</a:t>
            </a:r>
          </a:p>
        </p:txBody>
      </p:sp>
      <p:sp>
        <p:nvSpPr>
          <p:cNvPr id="6" name="text">
            <a:extLst xmlns:a="http://schemas.openxmlformats.org/drawingml/2006/main">
              <a:ext uri="{FF2B5EF4-FFF2-40B4-BE49-F238E27FC236}">
                <a16:creationId xmlns:a16="http://schemas.microsoft.com/office/drawing/2014/main" id="{8159EEBF-EC1D-4520-A0A6-53295AAC6314}"/>
              </a:ext>
            </a:extLst>
          </p:cNvPr>
          <p:cNvSpPr>
            <a:spLocks xmlns:a="http://schemas.openxmlformats.org/drawingml/2006/main" noGrp="1"/>
          </p:cNvSpPr>
          <p:nvPr/>
        </p:nvSpPr>
        <p:spPr>
          <a:xfrm xmlns:a="http://schemas.openxmlformats.org/drawingml/2006/main">
            <a:off x="762000" y="1790700"/>
            <a:ext cx="1676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feature is ready to implement when its important decisions and acceptance conditions are clear.</a:t>
            </a:r>
          </a:p>
        </p:txBody>
      </p:sp>
      <p:sp>
        <p:nvSpPr>
          <p:cNvPr id="7" name="text">
            <a:extLst xmlns:a="http://schemas.openxmlformats.org/drawingml/2006/main">
              <a:ext uri="{FF2B5EF4-FFF2-40B4-BE49-F238E27FC236}">
                <a16:creationId xmlns:a16="http://schemas.microsoft.com/office/drawing/2014/main" id="{1A436A69-9CE7-46F2-9AC4-2CB5D4B83577}"/>
              </a:ext>
            </a:extLst>
          </p:cNvPr>
          <p:cNvSpPr>
            <a:spLocks xmlns:a="http://schemas.openxmlformats.org/drawingml/2006/main" noGrp="1"/>
          </p:cNvSpPr>
          <p:nvPr/>
        </p:nvSpPr>
        <p:spPr>
          <a:xfrm xmlns:a="http://schemas.openxmlformats.org/drawingml/2006/main">
            <a:off x="762000" y="2857500"/>
            <a:ext cx="8763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0070C0"/>
                </a:solidFill>
                <a:latin typeface="Calibri"/>
                <a:ea typeface="Calibri"/>
                <a:cs typeface="Calibri"/>
              </a:defRPr>
            </a:pPr>
            <a:r>
              <a:rPr sz="2800" b="1">
                <a:solidFill>
                  <a:srgbClr val="0070C0"/>
                </a:solidFill>
                <a:latin typeface="Calibri"/>
                <a:ea typeface="Calibri"/>
                <a:cs typeface="Calibri"/>
              </a:rPr>
              <a:t>Readiness questions</a:t>
            </a:r>
          </a:p>
        </p:txBody>
      </p:sp>
      <p:sp>
        <p:nvSpPr>
          <p:cNvPr id="8" name="text">
            <a:extLst xmlns:a="http://schemas.openxmlformats.org/drawingml/2006/main">
              <a:ext uri="{FF2B5EF4-FFF2-40B4-BE49-F238E27FC236}">
                <a16:creationId xmlns:a16="http://schemas.microsoft.com/office/drawing/2014/main" id="{8089AF61-AE14-4787-93A6-EF533A404862}"/>
              </a:ext>
            </a:extLst>
          </p:cNvPr>
          <p:cNvSpPr>
            <a:spLocks xmlns:a="http://schemas.openxmlformats.org/drawingml/2006/main" noGrp="1"/>
          </p:cNvSpPr>
          <p:nvPr/>
        </p:nvSpPr>
        <p:spPr>
          <a:xfrm xmlns:a="http://schemas.openxmlformats.org/drawingml/2006/main">
            <a:off x="762000" y="3644900"/>
            <a:ext cx="444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1</a:t>
            </a:r>
          </a:p>
        </p:txBody>
      </p:sp>
      <p:sp>
        <p:nvSpPr>
          <p:cNvPr id="9" name="text">
            <a:extLst xmlns:a="http://schemas.openxmlformats.org/drawingml/2006/main">
              <a:ext uri="{FF2B5EF4-FFF2-40B4-BE49-F238E27FC236}">
                <a16:creationId xmlns:a16="http://schemas.microsoft.com/office/drawing/2014/main" id="{303DC039-1D61-4887-8095-5F6A0DD1B509}"/>
              </a:ext>
            </a:extLst>
          </p:cNvPr>
          <p:cNvSpPr>
            <a:spLocks xmlns:a="http://schemas.openxmlformats.org/drawingml/2006/main" noGrp="1"/>
          </p:cNvSpPr>
          <p:nvPr/>
        </p:nvSpPr>
        <p:spPr>
          <a:xfrm xmlns:a="http://schemas.openxmlformats.org/drawingml/2006/main">
            <a:off x="1333500" y="3632200"/>
            <a:ext cx="793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Who owns the requirement and reviews changes?</a:t>
            </a:r>
          </a:p>
        </p:txBody>
      </p:sp>
      <p:sp>
        <p:nvSpPr>
          <p:cNvPr id="10" name="text">
            <a:extLst xmlns:a="http://schemas.openxmlformats.org/drawingml/2006/main">
              <a:ext uri="{FF2B5EF4-FFF2-40B4-BE49-F238E27FC236}">
                <a16:creationId xmlns:a16="http://schemas.microsoft.com/office/drawing/2014/main" id="{F0FFCBBB-77A3-40B9-B13E-22165FF08EBF}"/>
              </a:ext>
            </a:extLst>
          </p:cNvPr>
          <p:cNvSpPr>
            <a:spLocks xmlns:a="http://schemas.openxmlformats.org/drawingml/2006/main" noGrp="1"/>
          </p:cNvSpPr>
          <p:nvPr/>
        </p:nvSpPr>
        <p:spPr>
          <a:xfrm xmlns:a="http://schemas.openxmlformats.org/drawingml/2006/main">
            <a:off x="762000" y="4686300"/>
            <a:ext cx="444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2</a:t>
            </a:r>
          </a:p>
        </p:txBody>
      </p:sp>
      <p:sp>
        <p:nvSpPr>
          <p:cNvPr id="11" name="text">
            <a:extLst xmlns:a="http://schemas.openxmlformats.org/drawingml/2006/main">
              <a:ext uri="{FF2B5EF4-FFF2-40B4-BE49-F238E27FC236}">
                <a16:creationId xmlns:a16="http://schemas.microsoft.com/office/drawing/2014/main" id="{ED3EBC49-2859-4B79-82B0-224C190294E9}"/>
              </a:ext>
            </a:extLst>
          </p:cNvPr>
          <p:cNvSpPr>
            <a:spLocks xmlns:a="http://schemas.openxmlformats.org/drawingml/2006/main" noGrp="1"/>
          </p:cNvSpPr>
          <p:nvPr/>
        </p:nvSpPr>
        <p:spPr>
          <a:xfrm xmlns:a="http://schemas.openxmlformats.org/drawingml/2006/main">
            <a:off x="1333500" y="4673600"/>
            <a:ext cx="793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Are actors, permissions, scope, and exclusions explicit?</a:t>
            </a:r>
          </a:p>
        </p:txBody>
      </p:sp>
      <p:sp>
        <p:nvSpPr>
          <p:cNvPr id="12" name="text">
            <a:extLst xmlns:a="http://schemas.openxmlformats.org/drawingml/2006/main">
              <a:ext uri="{FF2B5EF4-FFF2-40B4-BE49-F238E27FC236}">
                <a16:creationId xmlns:a16="http://schemas.microsoft.com/office/drawing/2014/main" id="{6B94BF74-A801-4F20-9930-36015F10269F}"/>
              </a:ext>
            </a:extLst>
          </p:cNvPr>
          <p:cNvSpPr>
            <a:spLocks xmlns:a="http://schemas.openxmlformats.org/drawingml/2006/main" noGrp="1"/>
          </p:cNvSpPr>
          <p:nvPr/>
        </p:nvSpPr>
        <p:spPr>
          <a:xfrm xmlns:a="http://schemas.openxmlformats.org/drawingml/2006/main">
            <a:off x="762000" y="5727700"/>
            <a:ext cx="444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3</a:t>
            </a:r>
          </a:p>
        </p:txBody>
      </p:sp>
      <p:sp>
        <p:nvSpPr>
          <p:cNvPr id="13" name="text">
            <a:extLst xmlns:a="http://schemas.openxmlformats.org/drawingml/2006/main">
              <a:ext uri="{FF2B5EF4-FFF2-40B4-BE49-F238E27FC236}">
                <a16:creationId xmlns:a16="http://schemas.microsoft.com/office/drawing/2014/main" id="{7D1FA515-CDB4-4A46-BABD-0D8B4C841146}"/>
              </a:ext>
            </a:extLst>
          </p:cNvPr>
          <p:cNvSpPr>
            <a:spLocks xmlns:a="http://schemas.openxmlformats.org/drawingml/2006/main" noGrp="1"/>
          </p:cNvSpPr>
          <p:nvPr/>
        </p:nvSpPr>
        <p:spPr>
          <a:xfrm xmlns:a="http://schemas.openxmlformats.org/drawingml/2006/main">
            <a:off x="1333500" y="5715000"/>
            <a:ext cx="793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Are failure cases and acceptance scenarios defined?</a:t>
            </a:r>
          </a:p>
        </p:txBody>
      </p:sp>
      <p:sp>
        <p:nvSpPr>
          <p:cNvPr id="14" name="text">
            <a:extLst xmlns:a="http://schemas.openxmlformats.org/drawingml/2006/main">
              <a:ext uri="{FF2B5EF4-FFF2-40B4-BE49-F238E27FC236}">
                <a16:creationId xmlns:a16="http://schemas.microsoft.com/office/drawing/2014/main" id="{A64B3661-43AE-4556-BB8A-196FA8818C46}"/>
              </a:ext>
            </a:extLst>
          </p:cNvPr>
          <p:cNvSpPr>
            <a:spLocks xmlns:a="http://schemas.openxmlformats.org/drawingml/2006/main" noGrp="1"/>
          </p:cNvSpPr>
          <p:nvPr/>
        </p:nvSpPr>
        <p:spPr>
          <a:xfrm xmlns:a="http://schemas.openxmlformats.org/drawingml/2006/main">
            <a:off x="762000" y="6769100"/>
            <a:ext cx="444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4</a:t>
            </a:r>
          </a:p>
        </p:txBody>
      </p:sp>
      <p:sp>
        <p:nvSpPr>
          <p:cNvPr id="15" name="text">
            <a:extLst xmlns:a="http://schemas.openxmlformats.org/drawingml/2006/main">
              <a:ext uri="{FF2B5EF4-FFF2-40B4-BE49-F238E27FC236}">
                <a16:creationId xmlns:a16="http://schemas.microsoft.com/office/drawing/2014/main" id="{1A398592-2646-4FC8-99CC-998EC8F98107}"/>
              </a:ext>
            </a:extLst>
          </p:cNvPr>
          <p:cNvSpPr>
            <a:spLocks xmlns:a="http://schemas.openxmlformats.org/drawingml/2006/main" noGrp="1"/>
          </p:cNvSpPr>
          <p:nvPr/>
        </p:nvSpPr>
        <p:spPr>
          <a:xfrm xmlns:a="http://schemas.openxmlformats.org/drawingml/2006/main">
            <a:off x="1333500" y="6756400"/>
            <a:ext cx="793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Does the feature agree with architecture, API, and data</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contracts?</a:t>
            </a:r>
          </a:p>
        </p:txBody>
      </p:sp>
      <p:sp>
        <p:nvSpPr>
          <p:cNvPr id="16" name="text">
            <a:extLst xmlns:a="http://schemas.openxmlformats.org/drawingml/2006/main">
              <a:ext uri="{FF2B5EF4-FFF2-40B4-BE49-F238E27FC236}">
                <a16:creationId xmlns:a16="http://schemas.microsoft.com/office/drawing/2014/main" id="{D6ABEC4E-3A4C-4A76-9B5E-FD52F18662C4}"/>
              </a:ext>
            </a:extLst>
          </p:cNvPr>
          <p:cNvSpPr>
            <a:spLocks xmlns:a="http://schemas.openxmlformats.org/drawingml/2006/main" noGrp="1"/>
          </p:cNvSpPr>
          <p:nvPr/>
        </p:nvSpPr>
        <p:spPr>
          <a:xfrm xmlns:a="http://schemas.openxmlformats.org/drawingml/2006/main">
            <a:off x="762000" y="7810500"/>
            <a:ext cx="444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5</a:t>
            </a:r>
          </a:p>
        </p:txBody>
      </p:sp>
      <p:sp>
        <p:nvSpPr>
          <p:cNvPr id="17" name="text">
            <a:extLst xmlns:a="http://schemas.openxmlformats.org/drawingml/2006/main">
              <a:ext uri="{FF2B5EF4-FFF2-40B4-BE49-F238E27FC236}">
                <a16:creationId xmlns:a16="http://schemas.microsoft.com/office/drawing/2014/main" id="{5A1FFB5D-6B57-4396-AB8C-FCD19DE19575}"/>
              </a:ext>
            </a:extLst>
          </p:cNvPr>
          <p:cNvSpPr>
            <a:spLocks xmlns:a="http://schemas.openxmlformats.org/drawingml/2006/main" noGrp="1"/>
          </p:cNvSpPr>
          <p:nvPr/>
        </p:nvSpPr>
        <p:spPr>
          <a:xfrm xmlns:a="http://schemas.openxmlformats.org/drawingml/2006/main">
            <a:off x="1333500" y="7797800"/>
            <a:ext cx="793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Are dependencies and the effective specification version</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known?</a:t>
            </a:r>
          </a:p>
        </p:txBody>
      </p:sp>
      <p:sp>
        <p:nvSpPr>
          <p:cNvPr id="18" name="">
            <a:extLst xmlns:a="http://schemas.openxmlformats.org/drawingml/2006/main">
              <a:ext uri="{FF2B5EF4-FFF2-40B4-BE49-F238E27FC236}">
                <a16:creationId xmlns:a16="http://schemas.microsoft.com/office/drawing/2014/main" id="{D94AA0A2-71D2-4BDA-90BF-8C61C305AE28}"/>
              </a:ext>
            </a:extLst>
          </p:cNvPr>
          <p:cNvSpPr>
            <a:spLocks xmlns:a="http://schemas.openxmlformats.org/drawingml/2006/main" noGrp="1"/>
          </p:cNvSpPr>
          <p:nvPr/>
        </p:nvSpPr>
        <p:spPr>
          <a:xfrm xmlns:a="http://schemas.openxmlformats.org/drawingml/2006/main" flipH="0" flipV="0">
            <a:off x="9944100" y="2882900"/>
            <a:ext cx="0" cy="596900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9" name="text">
            <a:extLst xmlns:a="http://schemas.openxmlformats.org/drawingml/2006/main">
              <a:ext uri="{FF2B5EF4-FFF2-40B4-BE49-F238E27FC236}">
                <a16:creationId xmlns:a16="http://schemas.microsoft.com/office/drawing/2014/main" id="{B6890CBB-BBBF-4646-BD26-46BB3E352937}"/>
              </a:ext>
            </a:extLst>
          </p:cNvPr>
          <p:cNvSpPr>
            <a:spLocks xmlns:a="http://schemas.openxmlformats.org/drawingml/2006/main" noGrp="1"/>
          </p:cNvSpPr>
          <p:nvPr/>
        </p:nvSpPr>
        <p:spPr>
          <a:xfrm xmlns:a="http://schemas.openxmlformats.org/drawingml/2006/main">
            <a:off x="10541000" y="2921000"/>
            <a:ext cx="698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Recorded Schinese clarification</a:t>
            </a:r>
          </a:p>
        </p:txBody>
      </p:sp>
      <p:sp>
        <p:nvSpPr>
          <p:cNvPr id="20" name="text">
            <a:extLst xmlns:a="http://schemas.openxmlformats.org/drawingml/2006/main">
              <a:ext uri="{FF2B5EF4-FFF2-40B4-BE49-F238E27FC236}">
                <a16:creationId xmlns:a16="http://schemas.microsoft.com/office/drawing/2014/main" id="{A5448E67-7A54-4F52-8014-D04CD247442F}"/>
              </a:ext>
            </a:extLst>
          </p:cNvPr>
          <p:cNvSpPr>
            <a:spLocks xmlns:a="http://schemas.openxmlformats.org/drawingml/2006/main" noGrp="1"/>
          </p:cNvSpPr>
          <p:nvPr/>
        </p:nvSpPr>
        <p:spPr>
          <a:xfrm xmlns:a="http://schemas.openxmlformats.org/drawingml/2006/main">
            <a:off x="10541000" y="3365500"/>
            <a:ext cx="69850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How can learners receive Premium when</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automated billing is outside the MVP?</a:t>
            </a:r>
          </a:p>
        </p:txBody>
      </p:sp>
      <p:sp>
        <p:nvSpPr>
          <p:cNvPr id="21" name="text">
            <a:extLst xmlns:a="http://schemas.openxmlformats.org/drawingml/2006/main">
              <a:ext uri="{FF2B5EF4-FFF2-40B4-BE49-F238E27FC236}">
                <a16:creationId xmlns:a16="http://schemas.microsoft.com/office/drawing/2014/main" id="{843196BB-60C8-48D6-826F-9859B30794C2}"/>
              </a:ext>
            </a:extLst>
          </p:cNvPr>
          <p:cNvSpPr>
            <a:spLocks xmlns:a="http://schemas.openxmlformats.org/drawingml/2006/main" noGrp="1"/>
          </p:cNvSpPr>
          <p:nvPr/>
        </p:nvSpPr>
        <p:spPr>
          <a:xfrm xmlns:a="http://schemas.openxmlformats.org/drawingml/2006/main">
            <a:off x="10541000" y="5054600"/>
            <a:ext cx="698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F47719"/>
                </a:solidFill>
                <a:latin typeface="Calibri"/>
                <a:ea typeface="Calibri"/>
                <a:cs typeface="Calibri"/>
              </a:defRPr>
            </a:pPr>
            <a:r>
              <a:rPr sz="2600" b="1">
                <a:solidFill>
                  <a:srgbClr val="F47719"/>
                </a:solidFill>
                <a:latin typeface="Calibri"/>
                <a:ea typeface="Calibri"/>
                <a:cs typeface="Calibri"/>
              </a:rPr>
              <a:t>Decision</a:t>
            </a:r>
          </a:p>
        </p:txBody>
      </p:sp>
      <p:sp>
        <p:nvSpPr>
          <p:cNvPr id="22" name="text">
            <a:extLst xmlns:a="http://schemas.openxmlformats.org/drawingml/2006/main">
              <a:ext uri="{FF2B5EF4-FFF2-40B4-BE49-F238E27FC236}">
                <a16:creationId xmlns:a16="http://schemas.microsoft.com/office/drawing/2014/main" id="{0C244D9A-DEC1-4D14-897F-08A8281F7AD4}"/>
              </a:ext>
            </a:extLst>
          </p:cNvPr>
          <p:cNvSpPr>
            <a:spLocks xmlns:a="http://schemas.openxmlformats.org/drawingml/2006/main" noGrp="1"/>
          </p:cNvSpPr>
          <p:nvPr/>
        </p:nvSpPr>
        <p:spPr>
          <a:xfrm xmlns:a="http://schemas.openxmlformats.org/drawingml/2006/main">
            <a:off x="10541000" y="5499100"/>
            <a:ext cx="69850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The MVP provides Free access. Paid Premium</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activation and upgrade journeys remain deferred.</a:t>
            </a:r>
          </a:p>
        </p:txBody>
      </p:sp>
      <p:sp>
        <p:nvSpPr>
          <p:cNvPr id="23" name="text">
            <a:extLst xmlns:a="http://schemas.openxmlformats.org/drawingml/2006/main">
              <a:ext uri="{FF2B5EF4-FFF2-40B4-BE49-F238E27FC236}">
                <a16:creationId xmlns:a16="http://schemas.microsoft.com/office/drawing/2014/main" id="{D3B59EDB-3D34-46AA-AE73-CC4B7A56FC2C}"/>
              </a:ext>
            </a:extLst>
          </p:cNvPr>
          <p:cNvSpPr>
            <a:spLocks xmlns:a="http://schemas.openxmlformats.org/drawingml/2006/main" noGrp="1"/>
          </p:cNvSpPr>
          <p:nvPr/>
        </p:nvSpPr>
        <p:spPr>
          <a:xfrm xmlns:a="http://schemas.openxmlformats.org/drawingml/2006/main">
            <a:off x="10541000" y="7391400"/>
            <a:ext cx="698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Effect</a:t>
            </a:r>
          </a:p>
        </p:txBody>
      </p:sp>
      <p:sp>
        <p:nvSpPr>
          <p:cNvPr id="24" name="text">
            <a:extLst xmlns:a="http://schemas.openxmlformats.org/drawingml/2006/main">
              <a:ext uri="{FF2B5EF4-FFF2-40B4-BE49-F238E27FC236}">
                <a16:creationId xmlns:a16="http://schemas.microsoft.com/office/drawing/2014/main" id="{6403C5DC-ED70-468C-BC4C-4C85969642EC}"/>
              </a:ext>
            </a:extLst>
          </p:cNvPr>
          <p:cNvSpPr>
            <a:spLocks xmlns:a="http://schemas.openxmlformats.org/drawingml/2006/main" noGrp="1"/>
          </p:cNvSpPr>
          <p:nvPr/>
        </p:nvSpPr>
        <p:spPr>
          <a:xfrm xmlns:a="http://schemas.openxmlformats.org/drawingml/2006/main">
            <a:off x="10541000" y="7835900"/>
            <a:ext cx="69850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Catalog behavior, content access, and allowance</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rules must follow the same scope.</a:t>
            </a:r>
          </a:p>
        </p:txBody>
      </p:sp>
    </p:spTree>
    <p:extLst>
      <p:ext uri="{BB962C8B-B14F-4D97-AF65-F5344CB8AC3E}">
        <p14:creationId xmlns:p14="http://schemas.microsoft.com/office/powerpoint/2010/main" val="2620534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176980DE-5FB4-4197-B84A-E1DB055D2391}"/>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3.3. Controlling Development Outputs</a:t>
            </a:r>
          </a:p>
        </p:txBody>
      </p:sp>
      <p:sp>
        <p:nvSpPr>
          <p:cNvPr id="2" name="">
            <a:extLst xmlns:a="http://schemas.openxmlformats.org/drawingml/2006/main">
              <a:ext uri="{FF2B5EF4-FFF2-40B4-BE49-F238E27FC236}">
                <a16:creationId xmlns:a16="http://schemas.microsoft.com/office/drawing/2014/main" id="{8DF913DD-9CC4-4E5A-80E9-D55557A89B0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1553692-53D4-404F-A739-0332022ABA1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4C19EA1-C0EB-42C3-86DE-3D187261A969}"/>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Constitution, Articles 5 and 7; Playbook §7.3, §13.3</a:t>
            </a:r>
          </a:p>
        </p:txBody>
      </p:sp>
      <p:sp>
        <p:nvSpPr>
          <p:cNvPr id="5" name="text">
            <a:extLst xmlns:a="http://schemas.openxmlformats.org/drawingml/2006/main">
              <a:ext uri="{FF2B5EF4-FFF2-40B4-BE49-F238E27FC236}">
                <a16:creationId xmlns:a16="http://schemas.microsoft.com/office/drawing/2014/main" id="{6C926E50-3530-4254-B4DA-123B35DECE65}"/>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11 / 32</a:t>
            </a:r>
          </a:p>
        </p:txBody>
      </p:sp>
      <p:sp>
        <p:nvSpPr>
          <p:cNvPr id="6" name="text">
            <a:extLst xmlns:a="http://schemas.openxmlformats.org/drawingml/2006/main">
              <a:ext uri="{FF2B5EF4-FFF2-40B4-BE49-F238E27FC236}">
                <a16:creationId xmlns:a16="http://schemas.microsoft.com/office/drawing/2014/main" id="{0F7D03D1-B964-4C48-BF65-70C955874ED1}"/>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Every handoff should produce an artifact that the next stage can inspect and use.</a:t>
            </a:r>
          </a:p>
        </p:txBody>
      </p:sp>
      <p:graphicFrame>
        <p:nvGraphicFramePr>
          <p:cNvPr id="16" name=""/>
          <p:cNvGraphicFramePr/>
          <p:nvPr/>
        </p:nvGraphicFramePr>
        <p:xfrm>
          <a:off xmlns:a="http://schemas.openxmlformats.org/drawingml/2006/main" x="762000" y="2473325"/>
          <a:ext xmlns:a="http://schemas.openxmlformats.org/drawingml/2006/main" cx="16764000" cy="5190617"/>
        </p:xfrm>
        <a:graphic xmlns:a="http://schemas.openxmlformats.org/drawingml/2006/main">
          <a:graphicData uri="http://schemas.openxmlformats.org/drawingml/2006/table">
            <a:tbl>
              <a:tblPr firstRow="1" bandRow="0"/>
              <a:tblGrid>
                <a:gridCol w="3688080"/>
                <a:gridCol w="5029200"/>
                <a:gridCol w="8046720"/>
              </a:tblGrid>
              <a:tr h="753999">
                <a:tc>
                  <a:txBody>
                    <a:bodyPr wrap="square">
                      <a:noAutofit/>
                    </a:bodyPr>
                    <a:lstStyle/>
                    <a:p>
                      <a:r>
                        <a:rPr sz="2350" b="1">
                          <a:solidFill>
                            <a:srgbClr val="111827"/>
                          </a:solidFill>
                          <a:latin typeface="Calibri"/>
                          <a:ea typeface="Calibri"/>
                          <a:cs typeface="Calibri"/>
                        </a:rPr>
                        <a:t>Handoff</a:t>
                      </a:r>
                    </a:p>
                  </a:txBody>
                  <a:tcPr marL="165100" marR="165100" marT="127000" marB="127000" anchor="ctr">
                    <a:solidFill>
                      <a:srgbClr val="D8EDF4"/>
                    </a:solidFill>
                  </a:tcPr>
                </a:tc>
                <a:tc>
                  <a:txBody>
                    <a:bodyPr wrap="square">
                      <a:noAutofit/>
                    </a:bodyPr>
                    <a:lstStyle/>
                    <a:p>
                      <a:r>
                        <a:rPr sz="2350" b="1">
                          <a:solidFill>
                            <a:srgbClr val="111827"/>
                          </a:solidFill>
                          <a:latin typeface="Calibri"/>
                          <a:ea typeface="Calibri"/>
                          <a:cs typeface="Calibri"/>
                        </a:rPr>
                        <a:t>Expected output</a:t>
                      </a:r>
                    </a:p>
                  </a:txBody>
                  <a:tcPr marL="165100" marR="165100" marT="127000" marB="127000" anchor="ctr">
                    <a:solidFill>
                      <a:srgbClr val="D8EDF4"/>
                    </a:solidFill>
                  </a:tcPr>
                </a:tc>
                <a:tc>
                  <a:txBody>
                    <a:bodyPr wrap="square">
                      <a:noAutofit/>
                    </a:bodyPr>
                    <a:lstStyle/>
                    <a:p>
                      <a:r>
                        <a:rPr sz="2350" b="1">
                          <a:solidFill>
                            <a:srgbClr val="111827"/>
                          </a:solidFill>
                          <a:latin typeface="Calibri"/>
                          <a:ea typeface="Calibri"/>
                          <a:cs typeface="Calibri"/>
                        </a:rPr>
                        <a:t>Review condition</a:t>
                      </a:r>
                    </a:p>
                  </a:txBody>
                  <a:tcPr marL="165100" marR="165100" marT="127000" marB="127000" anchor="ctr">
                    <a:solidFill>
                      <a:srgbClr val="D8EDF4"/>
                    </a:solidFill>
                  </a:tcPr>
                </a:tc>
              </a:tr>
              <a:tr h="1109155">
                <a:tc>
                  <a:txBody>
                    <a:bodyPr wrap="square">
                      <a:noAutofit/>
                    </a:bodyPr>
                    <a:lstStyle/>
                    <a:p>
                      <a:r>
                        <a:rPr sz="2350" b="0">
                          <a:solidFill>
                            <a:srgbClr val="111827"/>
                          </a:solidFill>
                          <a:latin typeface="Calibri"/>
                          <a:ea typeface="Calibri"/>
                          <a:cs typeface="Calibri"/>
                        </a:rPr>
                        <a:t>Specification to design</a:t>
                      </a:r>
                    </a:p>
                  </a:txBody>
                  <a:tcPr marL="165100" marR="165100" marT="127000" marB="127000" anchor="ctr">
                    <a:solidFill>
                      <a:srgbClr val="FFFFFF"/>
                    </a:solidFill>
                  </a:tcPr>
                </a:tc>
                <a:tc>
                  <a:txBody>
                    <a:bodyPr wrap="square">
                      <a:noAutofit/>
                    </a:bodyPr>
                    <a:lstStyle/>
                    <a:p>
                      <a:r>
                        <a:rPr sz="2350" b="0">
                          <a:solidFill>
                            <a:srgbClr val="111827"/>
                          </a:solidFill>
                          <a:latin typeface="Calibri"/>
                          <a:ea typeface="Calibri"/>
                          <a:cs typeface="Calibri"/>
                        </a:rPr>
                        <a:t>Plan, data model, and API contract</a:t>
                      </a:r>
                    </a:p>
                  </a:txBody>
                  <a:tcPr marL="165100" marR="165100" marT="127000" marB="127000" anchor="ctr">
                    <a:solidFill>
                      <a:srgbClr val="FFFFFF"/>
                    </a:solidFill>
                  </a:tcPr>
                </a:tc>
                <a:tc>
                  <a:txBody>
                    <a:bodyPr wrap="square">
                      <a:noAutofit/>
                    </a:bodyPr>
                    <a:lstStyle/>
                    <a:p>
                      <a:r>
                        <a:rPr sz="2350" b="0">
                          <a:solidFill>
                            <a:srgbClr val="111827"/>
                          </a:solidFill>
                          <a:latin typeface="Calibri"/>
                          <a:ea typeface="Calibri"/>
                          <a:cs typeface="Calibri"/>
                        </a:rPr>
                        <a:t>Required behavior has a feasible design within project boundaries</a:t>
                      </a:r>
                    </a:p>
                  </a:txBody>
                  <a:tcPr marL="165100" marR="165100" marT="127000" marB="127000" anchor="ctr">
                    <a:solidFill>
                      <a:srgbClr val="FFFFFF"/>
                    </a:solidFill>
                  </a:tcPr>
                </a:tc>
              </a:tr>
              <a:tr h="1109155">
                <a:tc>
                  <a:txBody>
                    <a:bodyPr wrap="square">
                      <a:noAutofit/>
                    </a:bodyPr>
                    <a:lstStyle/>
                    <a:p>
                      <a:r>
                        <a:rPr sz="2350" b="0">
                          <a:solidFill>
                            <a:srgbClr val="111827"/>
                          </a:solidFill>
                          <a:latin typeface="Calibri"/>
                          <a:ea typeface="Calibri"/>
                          <a:cs typeface="Calibri"/>
                        </a:rPr>
                        <a:t>Design to tasks</a:t>
                      </a:r>
                    </a:p>
                  </a:txBody>
                  <a:tcPr marL="165100" marR="165100" marT="127000" marB="127000" anchor="ctr">
                    <a:solidFill>
                      <a:srgbClr val="F3F8FB"/>
                    </a:solidFill>
                  </a:tcPr>
                </a:tc>
                <a:tc>
                  <a:txBody>
                    <a:bodyPr wrap="square">
                      <a:noAutofit/>
                    </a:bodyPr>
                    <a:lstStyle/>
                    <a:p>
                      <a:r>
                        <a:rPr sz="2350" b="0">
                          <a:solidFill>
                            <a:srgbClr val="111827"/>
                          </a:solidFill>
                          <a:latin typeface="Calibri"/>
                          <a:ea typeface="Calibri"/>
                          <a:cs typeface="Calibri"/>
                        </a:rPr>
                        <a:t>Dependency-ordered implementation and verification tasks</a:t>
                      </a:r>
                    </a:p>
                  </a:txBody>
                  <a:tcPr marL="165100" marR="165100" marT="127000" marB="127000" anchor="ctr">
                    <a:solidFill>
                      <a:srgbClr val="F3F8FB"/>
                    </a:solidFill>
                  </a:tcPr>
                </a:tc>
                <a:tc>
                  <a:txBody>
                    <a:bodyPr wrap="square">
                      <a:noAutofit/>
                    </a:bodyPr>
                    <a:lstStyle/>
                    <a:p>
                      <a:r>
                        <a:rPr sz="2350" b="0">
                          <a:solidFill>
                            <a:srgbClr val="111827"/>
                          </a:solidFill>
                          <a:latin typeface="Calibri"/>
                          <a:ea typeface="Calibri"/>
                          <a:cs typeface="Calibri"/>
                        </a:rPr>
                        <a:t>Each task has a clear purpose and expected result</a:t>
                      </a:r>
                    </a:p>
                  </a:txBody>
                  <a:tcPr marL="165100" marR="165100" marT="127000" marB="127000" anchor="ctr">
                    <a:solidFill>
                      <a:srgbClr val="F3F8FB"/>
                    </a:solidFill>
                  </a:tcPr>
                </a:tc>
              </a:tr>
              <a:tr h="1109155">
                <a:tc>
                  <a:txBody>
                    <a:bodyPr wrap="square">
                      <a:noAutofit/>
                    </a:bodyPr>
                    <a:lstStyle/>
                    <a:p>
                      <a:r>
                        <a:rPr sz="2350" b="0">
                          <a:solidFill>
                            <a:srgbClr val="111827"/>
                          </a:solidFill>
                          <a:latin typeface="Calibri"/>
                          <a:ea typeface="Calibri"/>
                          <a:cs typeface="Calibri"/>
                        </a:rPr>
                        <a:t>Tasks to code</a:t>
                      </a:r>
                    </a:p>
                  </a:txBody>
                  <a:tcPr marL="165100" marR="165100" marT="127000" marB="127000" anchor="ctr">
                    <a:solidFill>
                      <a:srgbClr val="FFFFFF"/>
                    </a:solidFill>
                  </a:tcPr>
                </a:tc>
                <a:tc>
                  <a:txBody>
                    <a:bodyPr wrap="square">
                      <a:noAutofit/>
                    </a:bodyPr>
                    <a:lstStyle/>
                    <a:p>
                      <a:r>
                        <a:rPr sz="2350" b="0">
                          <a:solidFill>
                            <a:srgbClr val="111827"/>
                          </a:solidFill>
                          <a:latin typeface="Calibri"/>
                          <a:ea typeface="Calibri"/>
                          <a:cs typeface="Calibri"/>
                        </a:rPr>
                        <a:t>Source changes and related contract updates</a:t>
                      </a:r>
                    </a:p>
                  </a:txBody>
                  <a:tcPr marL="165100" marR="165100" marT="127000" marB="127000" anchor="ctr">
                    <a:solidFill>
                      <a:srgbClr val="FFFFFF"/>
                    </a:solidFill>
                  </a:tcPr>
                </a:tc>
                <a:tc>
                  <a:txBody>
                    <a:bodyPr wrap="square">
                      <a:noAutofit/>
                    </a:bodyPr>
                    <a:lstStyle/>
                    <a:p>
                      <a:r>
                        <a:rPr sz="2350" b="0">
                          <a:solidFill>
                            <a:srgbClr val="111827"/>
                          </a:solidFill>
                          <a:latin typeface="Calibri"/>
                          <a:ea typeface="Calibri"/>
                          <a:cs typeface="Calibri"/>
                        </a:rPr>
                        <a:t>Review finds the required logic and no unintended scope change</a:t>
                      </a:r>
                    </a:p>
                  </a:txBody>
                  <a:tcPr marL="165100" marR="165100" marT="127000" marB="127000" anchor="ctr">
                    <a:solidFill>
                      <a:srgbClr val="FFFFFF"/>
                    </a:solidFill>
                  </a:tcPr>
                </a:tc>
              </a:tr>
              <a:tr h="1109155">
                <a:tc>
                  <a:txBody>
                    <a:bodyPr wrap="square">
                      <a:noAutofit/>
                    </a:bodyPr>
                    <a:lstStyle/>
                    <a:p>
                      <a:r>
                        <a:rPr sz="2350" b="0">
                          <a:solidFill>
                            <a:srgbClr val="111827"/>
                          </a:solidFill>
                          <a:latin typeface="Calibri"/>
                          <a:ea typeface="Calibri"/>
                          <a:cs typeface="Calibri"/>
                        </a:rPr>
                        <a:t>Code to acceptance</a:t>
                      </a:r>
                    </a:p>
                  </a:txBody>
                  <a:tcPr marL="165100" marR="165100" marT="127000" marB="127000" anchor="ctr">
                    <a:solidFill>
                      <a:srgbClr val="F3F8FB"/>
                    </a:solidFill>
                  </a:tcPr>
                </a:tc>
                <a:tc>
                  <a:txBody>
                    <a:bodyPr wrap="square">
                      <a:noAutofit/>
                    </a:bodyPr>
                    <a:lstStyle/>
                    <a:p>
                      <a:r>
                        <a:rPr sz="2350" b="0">
                          <a:solidFill>
                            <a:srgbClr val="111827"/>
                          </a:solidFill>
                          <a:latin typeface="Calibri"/>
                          <a:ea typeface="Calibri"/>
                          <a:cs typeface="Calibri"/>
                        </a:rPr>
                        <a:t>Test results and reproducible scenarios</a:t>
                      </a:r>
                    </a:p>
                  </a:txBody>
                  <a:tcPr marL="165100" marR="165100" marT="127000" marB="127000" anchor="ctr">
                    <a:solidFill>
                      <a:srgbClr val="F3F8FB"/>
                    </a:solidFill>
                  </a:tcPr>
                </a:tc>
                <a:tc>
                  <a:txBody>
                    <a:bodyPr wrap="square">
                      <a:noAutofit/>
                    </a:bodyPr>
                    <a:lstStyle/>
                    <a:p>
                      <a:r>
                        <a:rPr sz="2350" b="0">
                          <a:solidFill>
                            <a:srgbClr val="111827"/>
                          </a:solidFill>
                          <a:latin typeface="Calibri"/>
                          <a:ea typeface="Calibri"/>
                          <a:cs typeface="Calibri"/>
                        </a:rPr>
                        <a:t>Evidence supports the agreed acceptance conditions</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BC5A01E2-DB66-4AD2-83FB-41259AE0FBB9}"/>
              </a:ext>
            </a:extLst>
          </p:cNvPr>
          <p:cNvSpPr>
            <a:spLocks xmlns:a="http://schemas.openxmlformats.org/drawingml/2006/main" noGrp="1"/>
          </p:cNvSpPr>
          <p:nvPr/>
        </p:nvSpPr>
        <p:spPr>
          <a:xfrm xmlns:a="http://schemas.openxmlformats.org/drawingml/2006/main">
            <a:off x="762000" y="7892542"/>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F04 example:</a:t>
            </a:r>
            <a:r>
              <a:rPr b="0">
                <a:latin typeface="Calibri"/>
                <a:ea typeface="Calibri"/>
                <a:cs typeface="Calibri"/>
              </a:rPr>
              <a:t> A publish button is only one output. Publication rules, safe errors, and rejected scenarios also require implementation and verification.</a:t>
            </a:r>
          </a:p>
        </p:txBody>
      </p:sp>
      <p:sp>
        <p:nvSpPr>
          <p:cNvPr id="9" name="text">
            <a:extLst xmlns:a="http://schemas.openxmlformats.org/drawingml/2006/main">
              <a:ext uri="{FF2B5EF4-FFF2-40B4-BE49-F238E27FC236}">
                <a16:creationId xmlns:a16="http://schemas.microsoft.com/office/drawing/2014/main" id="{3971049A-F1C5-4A4B-B151-494318FFC8FC}"/>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Automation of blocking gates remains a proposed improvement.</a:t>
            </a:r>
          </a:p>
        </p:txBody>
      </p:sp>
    </p:spTree>
    <p:extLst>
      <p:ext uri="{BB962C8B-B14F-4D97-AF65-F5344CB8AC3E}">
        <p14:creationId xmlns:p14="http://schemas.microsoft.com/office/powerpoint/2010/main" val="13483992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
            <a:extLst xmlns:a="http://schemas.openxmlformats.org/drawingml/2006/main">
              <a:ext uri="{FF2B5EF4-FFF2-40B4-BE49-F238E27FC236}">
                <a16:creationId xmlns:a16="http://schemas.microsoft.com/office/drawing/2014/main" id="{0A521E95-6B75-498A-8DEA-9342ADBAF864}"/>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3.4. Levels of Verification Evidence</a:t>
            </a:r>
          </a:p>
        </p:txBody>
      </p:sp>
      <p:sp>
        <p:nvSpPr>
          <p:cNvPr id="2" name="">
            <a:extLst xmlns:a="http://schemas.openxmlformats.org/drawingml/2006/main">
              <a:ext uri="{FF2B5EF4-FFF2-40B4-BE49-F238E27FC236}">
                <a16:creationId xmlns:a16="http://schemas.microsoft.com/office/drawing/2014/main" id="{BF20B36A-BEA4-4AF1-A59A-BA857E39188A}"/>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200B5F02-DEC5-4C55-903C-BECB41E2E5FE}"/>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54CBE9BA-8E95-40CA-A1AE-CC4F691CBC9C}"/>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Proposed framework; F04 tasks; recorded results on slide 22</a:t>
            </a:r>
          </a:p>
        </p:txBody>
      </p:sp>
      <p:sp>
        <p:nvSpPr>
          <p:cNvPr id="5" name="text">
            <a:extLst xmlns:a="http://schemas.openxmlformats.org/drawingml/2006/main">
              <a:ext uri="{FF2B5EF4-FFF2-40B4-BE49-F238E27FC236}">
                <a16:creationId xmlns:a16="http://schemas.microsoft.com/office/drawing/2014/main" id="{E6B31C2C-B56F-4755-8961-90162A1A32A3}"/>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12 / 32</a:t>
            </a:r>
          </a:p>
        </p:txBody>
      </p:sp>
      <p:sp>
        <p:nvSpPr>
          <p:cNvPr id="6" name="text">
            <a:extLst xmlns:a="http://schemas.openxmlformats.org/drawingml/2006/main">
              <a:ext uri="{FF2B5EF4-FFF2-40B4-BE49-F238E27FC236}">
                <a16:creationId xmlns:a16="http://schemas.microsoft.com/office/drawing/2014/main" id="{609EA6A0-5E46-41C7-AD55-20C38ED3410C}"/>
              </a:ext>
            </a:extLst>
          </p:cNvPr>
          <p:cNvSpPr>
            <a:spLocks xmlns:a="http://schemas.openxmlformats.org/drawingml/2006/main" noGrp="1"/>
          </p:cNvSpPr>
          <p:nvPr/>
        </p:nvSpPr>
        <p:spPr>
          <a:xfrm xmlns:a="http://schemas.openxmlformats.org/drawingml/2006/main">
            <a:off x="762000" y="1790700"/>
            <a:ext cx="1676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The strength of a claim depends on the evidence available for that specific requirement.</a:t>
            </a:r>
          </a:p>
        </p:txBody>
      </p:sp>
      <p:sp>
        <p:nvSpPr>
          <p:cNvPr id="7" name="text">
            <a:extLst xmlns:a="http://schemas.openxmlformats.org/drawingml/2006/main">
              <a:ext uri="{FF2B5EF4-FFF2-40B4-BE49-F238E27FC236}">
                <a16:creationId xmlns:a16="http://schemas.microsoft.com/office/drawing/2014/main" id="{F96E1ADC-4EE6-4658-9084-981B69CE520F}"/>
              </a:ext>
            </a:extLst>
          </p:cNvPr>
          <p:cNvSpPr>
            <a:spLocks xmlns:a="http://schemas.openxmlformats.org/drawingml/2006/main" noGrp="1"/>
          </p:cNvSpPr>
          <p:nvPr/>
        </p:nvSpPr>
        <p:spPr>
          <a:xfrm xmlns:a="http://schemas.openxmlformats.org/drawingml/2006/main">
            <a:off x="825500" y="3035300"/>
            <a:ext cx="50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1</a:t>
            </a:r>
          </a:p>
        </p:txBody>
      </p:sp>
      <p:sp>
        <p:nvSpPr>
          <p:cNvPr id="8" name="text">
            <a:extLst xmlns:a="http://schemas.openxmlformats.org/drawingml/2006/main">
              <a:ext uri="{FF2B5EF4-FFF2-40B4-BE49-F238E27FC236}">
                <a16:creationId xmlns:a16="http://schemas.microsoft.com/office/drawing/2014/main" id="{FAFBF2E1-0467-4390-B00E-7D89434E0F8D}"/>
              </a:ext>
            </a:extLst>
          </p:cNvPr>
          <p:cNvSpPr>
            <a:spLocks xmlns:a="http://schemas.openxmlformats.org/drawingml/2006/main" noGrp="1"/>
          </p:cNvSpPr>
          <p:nvPr/>
        </p:nvSpPr>
        <p:spPr>
          <a:xfrm xmlns:a="http://schemas.openxmlformats.org/drawingml/2006/main">
            <a:off x="1460500" y="29718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Specified</a:t>
            </a:r>
          </a:p>
        </p:txBody>
      </p:sp>
      <p:sp>
        <p:nvSpPr>
          <p:cNvPr id="9" name="text">
            <a:extLst xmlns:a="http://schemas.openxmlformats.org/drawingml/2006/main">
              <a:ext uri="{FF2B5EF4-FFF2-40B4-BE49-F238E27FC236}">
                <a16:creationId xmlns:a16="http://schemas.microsoft.com/office/drawing/2014/main" id="{946D44BA-A0C6-4019-A1A9-B3F64F53EBDD}"/>
              </a:ext>
            </a:extLst>
          </p:cNvPr>
          <p:cNvSpPr>
            <a:spLocks xmlns:a="http://schemas.openxmlformats.org/drawingml/2006/main" noGrp="1"/>
          </p:cNvSpPr>
          <p:nvPr/>
        </p:nvSpPr>
        <p:spPr>
          <a:xfrm xmlns:a="http://schemas.openxmlformats.org/drawingml/2006/main">
            <a:off x="4699000" y="2946400"/>
            <a:ext cx="60325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The requirement and acceptance conditions</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exist.</a:t>
            </a:r>
          </a:p>
        </p:txBody>
      </p:sp>
      <p:sp>
        <p:nvSpPr>
          <p:cNvPr id="10" name="">
            <a:extLst xmlns:a="http://schemas.openxmlformats.org/drawingml/2006/main">
              <a:ext uri="{FF2B5EF4-FFF2-40B4-BE49-F238E27FC236}">
                <a16:creationId xmlns:a16="http://schemas.microsoft.com/office/drawing/2014/main" id="{4C2926F2-8966-423B-8986-C24095149A56}"/>
              </a:ext>
            </a:extLst>
          </p:cNvPr>
          <p:cNvSpPr>
            <a:spLocks xmlns:a="http://schemas.openxmlformats.org/drawingml/2006/main" noGrp="1"/>
          </p:cNvSpPr>
          <p:nvPr/>
        </p:nvSpPr>
        <p:spPr>
          <a:xfrm xmlns:a="http://schemas.openxmlformats.org/drawingml/2006/main" flipH="0" flipV="0">
            <a:off x="1460500" y="3987800"/>
            <a:ext cx="9271000" cy="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1" name="text">
            <a:extLst xmlns:a="http://schemas.openxmlformats.org/drawingml/2006/main">
              <a:ext uri="{FF2B5EF4-FFF2-40B4-BE49-F238E27FC236}">
                <a16:creationId xmlns:a16="http://schemas.microsoft.com/office/drawing/2014/main" id="{2DCBC9ED-2D6C-41E7-867D-DA1513D3CBB5}"/>
              </a:ext>
            </a:extLst>
          </p:cNvPr>
          <p:cNvSpPr>
            <a:spLocks xmlns:a="http://schemas.openxmlformats.org/drawingml/2006/main" noGrp="1"/>
          </p:cNvSpPr>
          <p:nvPr/>
        </p:nvSpPr>
        <p:spPr>
          <a:xfrm xmlns:a="http://schemas.openxmlformats.org/drawingml/2006/main">
            <a:off x="825500" y="4178300"/>
            <a:ext cx="50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2</a:t>
            </a:r>
          </a:p>
        </p:txBody>
      </p:sp>
      <p:sp>
        <p:nvSpPr>
          <p:cNvPr id="12" name="text">
            <a:extLst xmlns:a="http://schemas.openxmlformats.org/drawingml/2006/main">
              <a:ext uri="{FF2B5EF4-FFF2-40B4-BE49-F238E27FC236}">
                <a16:creationId xmlns:a16="http://schemas.microsoft.com/office/drawing/2014/main" id="{7E0A3477-3A60-400C-8544-677E5F257947}"/>
              </a:ext>
            </a:extLst>
          </p:cNvPr>
          <p:cNvSpPr>
            <a:spLocks xmlns:a="http://schemas.openxmlformats.org/drawingml/2006/main" noGrp="1"/>
          </p:cNvSpPr>
          <p:nvPr/>
        </p:nvSpPr>
        <p:spPr>
          <a:xfrm xmlns:a="http://schemas.openxmlformats.org/drawingml/2006/main">
            <a:off x="1460500" y="41148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Mapped</a:t>
            </a:r>
          </a:p>
        </p:txBody>
      </p:sp>
      <p:sp>
        <p:nvSpPr>
          <p:cNvPr id="13" name="text">
            <a:extLst xmlns:a="http://schemas.openxmlformats.org/drawingml/2006/main">
              <a:ext uri="{FF2B5EF4-FFF2-40B4-BE49-F238E27FC236}">
                <a16:creationId xmlns:a16="http://schemas.microsoft.com/office/drawing/2014/main" id="{A8FC4366-ACEF-4DD6-BE55-D4DE0968433B}"/>
              </a:ext>
            </a:extLst>
          </p:cNvPr>
          <p:cNvSpPr>
            <a:spLocks xmlns:a="http://schemas.openxmlformats.org/drawingml/2006/main" noGrp="1"/>
          </p:cNvSpPr>
          <p:nvPr/>
        </p:nvSpPr>
        <p:spPr>
          <a:xfrm xmlns:a="http://schemas.openxmlformats.org/drawingml/2006/main">
            <a:off x="4699000" y="4089400"/>
            <a:ext cx="60325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The requirement connects to design, tasks,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implementation.</a:t>
            </a:r>
          </a:p>
        </p:txBody>
      </p:sp>
      <p:sp>
        <p:nvSpPr>
          <p:cNvPr id="14" name="">
            <a:extLst xmlns:a="http://schemas.openxmlformats.org/drawingml/2006/main">
              <a:ext uri="{FF2B5EF4-FFF2-40B4-BE49-F238E27FC236}">
                <a16:creationId xmlns:a16="http://schemas.microsoft.com/office/drawing/2014/main" id="{9B771623-FAA5-4695-AA5D-4202917B6CEF}"/>
              </a:ext>
            </a:extLst>
          </p:cNvPr>
          <p:cNvSpPr>
            <a:spLocks xmlns:a="http://schemas.openxmlformats.org/drawingml/2006/main" noGrp="1"/>
          </p:cNvSpPr>
          <p:nvPr/>
        </p:nvSpPr>
        <p:spPr>
          <a:xfrm xmlns:a="http://schemas.openxmlformats.org/drawingml/2006/main" flipH="0" flipV="0">
            <a:off x="1460500" y="5130800"/>
            <a:ext cx="9271000" cy="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5" name="text">
            <a:extLst xmlns:a="http://schemas.openxmlformats.org/drawingml/2006/main">
              <a:ext uri="{FF2B5EF4-FFF2-40B4-BE49-F238E27FC236}">
                <a16:creationId xmlns:a16="http://schemas.microsoft.com/office/drawing/2014/main" id="{79078B9B-1E7F-464A-A61C-34E438CB73A7}"/>
              </a:ext>
            </a:extLst>
          </p:cNvPr>
          <p:cNvSpPr>
            <a:spLocks xmlns:a="http://schemas.openxmlformats.org/drawingml/2006/main" noGrp="1"/>
          </p:cNvSpPr>
          <p:nvPr/>
        </p:nvSpPr>
        <p:spPr>
          <a:xfrm xmlns:a="http://schemas.openxmlformats.org/drawingml/2006/main">
            <a:off x="825500" y="5321300"/>
            <a:ext cx="50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3</a:t>
            </a:r>
          </a:p>
        </p:txBody>
      </p:sp>
      <p:sp>
        <p:nvSpPr>
          <p:cNvPr id="16" name="text">
            <a:extLst xmlns:a="http://schemas.openxmlformats.org/drawingml/2006/main">
              <a:ext uri="{FF2B5EF4-FFF2-40B4-BE49-F238E27FC236}">
                <a16:creationId xmlns:a16="http://schemas.microsoft.com/office/drawing/2014/main" id="{72929754-D541-4648-8887-5DF7919F70E2}"/>
              </a:ext>
            </a:extLst>
          </p:cNvPr>
          <p:cNvSpPr>
            <a:spLocks xmlns:a="http://schemas.openxmlformats.org/drawingml/2006/main" noGrp="1"/>
          </p:cNvSpPr>
          <p:nvPr/>
        </p:nvSpPr>
        <p:spPr>
          <a:xfrm xmlns:a="http://schemas.openxmlformats.org/drawingml/2006/main">
            <a:off x="1460500" y="52578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Tested</a:t>
            </a:r>
          </a:p>
        </p:txBody>
      </p:sp>
      <p:sp>
        <p:nvSpPr>
          <p:cNvPr id="17" name="text">
            <a:extLst xmlns:a="http://schemas.openxmlformats.org/drawingml/2006/main">
              <a:ext uri="{FF2B5EF4-FFF2-40B4-BE49-F238E27FC236}">
                <a16:creationId xmlns:a16="http://schemas.microsoft.com/office/drawing/2014/main" id="{BDA462E2-7AFD-43DE-9A92-6D519820F306}"/>
              </a:ext>
            </a:extLst>
          </p:cNvPr>
          <p:cNvSpPr>
            <a:spLocks xmlns:a="http://schemas.openxmlformats.org/drawingml/2006/main" noGrp="1"/>
          </p:cNvSpPr>
          <p:nvPr/>
        </p:nvSpPr>
        <p:spPr>
          <a:xfrm xmlns:a="http://schemas.openxmlformats.org/drawingml/2006/main">
            <a:off x="4699000" y="5232400"/>
            <a:ext cx="60325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Relevant tests ran on an identified version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produced recorded results.</a:t>
            </a:r>
          </a:p>
        </p:txBody>
      </p:sp>
      <p:sp>
        <p:nvSpPr>
          <p:cNvPr id="18" name="">
            <a:extLst xmlns:a="http://schemas.openxmlformats.org/drawingml/2006/main">
              <a:ext uri="{FF2B5EF4-FFF2-40B4-BE49-F238E27FC236}">
                <a16:creationId xmlns:a16="http://schemas.microsoft.com/office/drawing/2014/main" id="{2C5F50F0-7263-496F-81B0-A5E4040A2A1E}"/>
              </a:ext>
            </a:extLst>
          </p:cNvPr>
          <p:cNvSpPr>
            <a:spLocks xmlns:a="http://schemas.openxmlformats.org/drawingml/2006/main" noGrp="1"/>
          </p:cNvSpPr>
          <p:nvPr/>
        </p:nvSpPr>
        <p:spPr>
          <a:xfrm xmlns:a="http://schemas.openxmlformats.org/drawingml/2006/main" flipH="0" flipV="0">
            <a:off x="1460500" y="6273800"/>
            <a:ext cx="9271000" cy="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9" name="text">
            <a:extLst xmlns:a="http://schemas.openxmlformats.org/drawingml/2006/main">
              <a:ext uri="{FF2B5EF4-FFF2-40B4-BE49-F238E27FC236}">
                <a16:creationId xmlns:a16="http://schemas.microsoft.com/office/drawing/2014/main" id="{5A70EE4A-8DCC-49B7-A38C-214702B54ACC}"/>
              </a:ext>
            </a:extLst>
          </p:cNvPr>
          <p:cNvSpPr>
            <a:spLocks xmlns:a="http://schemas.openxmlformats.org/drawingml/2006/main" noGrp="1"/>
          </p:cNvSpPr>
          <p:nvPr/>
        </p:nvSpPr>
        <p:spPr>
          <a:xfrm xmlns:a="http://schemas.openxmlformats.org/drawingml/2006/main">
            <a:off x="825500" y="6464300"/>
            <a:ext cx="50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4</a:t>
            </a:r>
          </a:p>
        </p:txBody>
      </p:sp>
      <p:sp>
        <p:nvSpPr>
          <p:cNvPr id="20" name="text">
            <a:extLst xmlns:a="http://schemas.openxmlformats.org/drawingml/2006/main">
              <a:ext uri="{FF2B5EF4-FFF2-40B4-BE49-F238E27FC236}">
                <a16:creationId xmlns:a16="http://schemas.microsoft.com/office/drawing/2014/main" id="{4F399700-ED56-4742-9586-251D1B805685}"/>
              </a:ext>
            </a:extLst>
          </p:cNvPr>
          <p:cNvSpPr>
            <a:spLocks xmlns:a="http://schemas.openxmlformats.org/drawingml/2006/main" noGrp="1"/>
          </p:cNvSpPr>
          <p:nvPr/>
        </p:nvSpPr>
        <p:spPr>
          <a:xfrm xmlns:a="http://schemas.openxmlformats.org/drawingml/2006/main">
            <a:off x="1460500" y="64008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Integrated</a:t>
            </a:r>
          </a:p>
        </p:txBody>
      </p:sp>
      <p:sp>
        <p:nvSpPr>
          <p:cNvPr id="21" name="text">
            <a:extLst xmlns:a="http://schemas.openxmlformats.org/drawingml/2006/main">
              <a:ext uri="{FF2B5EF4-FFF2-40B4-BE49-F238E27FC236}">
                <a16:creationId xmlns:a16="http://schemas.microsoft.com/office/drawing/2014/main" id="{95A300AE-794F-4724-B4D0-37AF28CF24C3}"/>
              </a:ext>
            </a:extLst>
          </p:cNvPr>
          <p:cNvSpPr>
            <a:spLocks xmlns:a="http://schemas.openxmlformats.org/drawingml/2006/main" noGrp="1"/>
          </p:cNvSpPr>
          <p:nvPr/>
        </p:nvSpPr>
        <p:spPr>
          <a:xfrm xmlns:a="http://schemas.openxmlformats.org/drawingml/2006/main">
            <a:off x="4699000" y="6375400"/>
            <a:ext cx="60325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API, database, and user-journey checks verify</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interactions.</a:t>
            </a:r>
          </a:p>
        </p:txBody>
      </p:sp>
      <p:sp>
        <p:nvSpPr>
          <p:cNvPr id="22" name="">
            <a:extLst xmlns:a="http://schemas.openxmlformats.org/drawingml/2006/main">
              <a:ext uri="{FF2B5EF4-FFF2-40B4-BE49-F238E27FC236}">
                <a16:creationId xmlns:a16="http://schemas.microsoft.com/office/drawing/2014/main" id="{75A3F9C2-C7B0-4923-A391-1845F0E9AFD3}"/>
              </a:ext>
            </a:extLst>
          </p:cNvPr>
          <p:cNvSpPr>
            <a:spLocks xmlns:a="http://schemas.openxmlformats.org/drawingml/2006/main" noGrp="1"/>
          </p:cNvSpPr>
          <p:nvPr/>
        </p:nvSpPr>
        <p:spPr>
          <a:xfrm xmlns:a="http://schemas.openxmlformats.org/drawingml/2006/main" flipH="0" flipV="0">
            <a:off x="1460500" y="7416800"/>
            <a:ext cx="9271000" cy="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23" name="text">
            <a:extLst xmlns:a="http://schemas.openxmlformats.org/drawingml/2006/main">
              <a:ext uri="{FF2B5EF4-FFF2-40B4-BE49-F238E27FC236}">
                <a16:creationId xmlns:a16="http://schemas.microsoft.com/office/drawing/2014/main" id="{26772FA8-24D1-44A2-AD67-670846257760}"/>
              </a:ext>
            </a:extLst>
          </p:cNvPr>
          <p:cNvSpPr>
            <a:spLocks xmlns:a="http://schemas.openxmlformats.org/drawingml/2006/main" noGrp="1"/>
          </p:cNvSpPr>
          <p:nvPr/>
        </p:nvSpPr>
        <p:spPr>
          <a:xfrm xmlns:a="http://schemas.openxmlformats.org/drawingml/2006/main">
            <a:off x="825500" y="7607300"/>
            <a:ext cx="50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5</a:t>
            </a:r>
          </a:p>
        </p:txBody>
      </p:sp>
      <p:sp>
        <p:nvSpPr>
          <p:cNvPr id="24" name="text">
            <a:extLst xmlns:a="http://schemas.openxmlformats.org/drawingml/2006/main">
              <a:ext uri="{FF2B5EF4-FFF2-40B4-BE49-F238E27FC236}">
                <a16:creationId xmlns:a16="http://schemas.microsoft.com/office/drawing/2014/main" id="{1E889C0A-A98E-4BEC-AB48-0C28764473A4}"/>
              </a:ext>
            </a:extLst>
          </p:cNvPr>
          <p:cNvSpPr>
            <a:spLocks xmlns:a="http://schemas.openxmlformats.org/drawingml/2006/main" noGrp="1"/>
          </p:cNvSpPr>
          <p:nvPr/>
        </p:nvSpPr>
        <p:spPr>
          <a:xfrm xmlns:a="http://schemas.openxmlformats.org/drawingml/2006/main">
            <a:off x="1460500" y="75438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Evaluated in use</a:t>
            </a:r>
          </a:p>
        </p:txBody>
      </p:sp>
      <p:sp>
        <p:nvSpPr>
          <p:cNvPr id="25" name="text">
            <a:extLst xmlns:a="http://schemas.openxmlformats.org/drawingml/2006/main">
              <a:ext uri="{FF2B5EF4-FFF2-40B4-BE49-F238E27FC236}">
                <a16:creationId xmlns:a16="http://schemas.microsoft.com/office/drawing/2014/main" id="{EAD21619-9219-474C-84B7-0804A785F508}"/>
              </a:ext>
            </a:extLst>
          </p:cNvPr>
          <p:cNvSpPr>
            <a:spLocks xmlns:a="http://schemas.openxmlformats.org/drawingml/2006/main" noGrp="1"/>
          </p:cNvSpPr>
          <p:nvPr/>
        </p:nvSpPr>
        <p:spPr>
          <a:xfrm xmlns:a="http://schemas.openxmlformats.org/drawingml/2006/main">
            <a:off x="4699000" y="7518400"/>
            <a:ext cx="60325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User or operational evidence supports product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outcomes.</a:t>
            </a:r>
          </a:p>
        </p:txBody>
      </p:sp>
      <p:sp>
        <p:nvSpPr>
          <p:cNvPr id="26" name="text">
            <a:extLst xmlns:a="http://schemas.openxmlformats.org/drawingml/2006/main">
              <a:ext uri="{FF2B5EF4-FFF2-40B4-BE49-F238E27FC236}">
                <a16:creationId xmlns:a16="http://schemas.microsoft.com/office/drawing/2014/main" id="{E12A1A6D-5E9B-48EB-9DBC-0940F3F7D814}"/>
              </a:ext>
            </a:extLst>
          </p:cNvPr>
          <p:cNvSpPr>
            <a:spLocks xmlns:a="http://schemas.openxmlformats.org/drawingml/2006/main" noGrp="1"/>
          </p:cNvSpPr>
          <p:nvPr/>
        </p:nvSpPr>
        <p:spPr>
          <a:xfrm xmlns:a="http://schemas.openxmlformats.org/drawingml/2006/main">
            <a:off x="11658600" y="2959100"/>
            <a:ext cx="586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Schinese evidence example</a:t>
            </a:r>
          </a:p>
        </p:txBody>
      </p:sp>
      <p:sp>
        <p:nvSpPr>
          <p:cNvPr id="27" name="text">
            <a:extLst xmlns:a="http://schemas.openxmlformats.org/drawingml/2006/main">
              <a:ext uri="{FF2B5EF4-FFF2-40B4-BE49-F238E27FC236}">
                <a16:creationId xmlns:a16="http://schemas.microsoft.com/office/drawing/2014/main" id="{DEA2A958-244A-474D-B769-F59E524F22D1}"/>
              </a:ext>
            </a:extLst>
          </p:cNvPr>
          <p:cNvSpPr>
            <a:spLocks xmlns:a="http://schemas.openxmlformats.org/drawingml/2006/main" noGrp="1"/>
          </p:cNvSpPr>
          <p:nvPr/>
        </p:nvSpPr>
        <p:spPr>
          <a:xfrm xmlns:a="http://schemas.openxmlformats.org/drawingml/2006/main">
            <a:off x="11658600" y="3403600"/>
            <a:ext cx="58674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Selected F04 publication checks have</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source mappings and passing unit tests.</a:t>
            </a:r>
          </a:p>
        </p:txBody>
      </p:sp>
      <p:sp>
        <p:nvSpPr>
          <p:cNvPr id="28" name="text">
            <a:extLst xmlns:a="http://schemas.openxmlformats.org/drawingml/2006/main">
              <a:ext uri="{FF2B5EF4-FFF2-40B4-BE49-F238E27FC236}">
                <a16:creationId xmlns:a16="http://schemas.microsoft.com/office/drawing/2014/main" id="{E1F374EF-1EBA-4C71-B19C-B97001C0D509}"/>
              </a:ext>
            </a:extLst>
          </p:cNvPr>
          <p:cNvSpPr>
            <a:spLocks xmlns:a="http://schemas.openxmlformats.org/drawingml/2006/main" noGrp="1"/>
          </p:cNvSpPr>
          <p:nvPr/>
        </p:nvSpPr>
        <p:spPr>
          <a:xfrm xmlns:a="http://schemas.openxmlformats.org/drawingml/2006/main">
            <a:off x="11658600" y="5397500"/>
            <a:ext cx="586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F47719"/>
                </a:solidFill>
                <a:latin typeface="Calibri"/>
                <a:ea typeface="Calibri"/>
                <a:cs typeface="Calibri"/>
              </a:defRPr>
            </a:pPr>
            <a:r>
              <a:rPr sz="2600" b="1">
                <a:solidFill>
                  <a:srgbClr val="F47719"/>
                </a:solidFill>
                <a:latin typeface="Calibri"/>
                <a:ea typeface="Calibri"/>
                <a:cs typeface="Calibri"/>
              </a:rPr>
              <a:t>Remaining boundary</a:t>
            </a:r>
          </a:p>
        </p:txBody>
      </p:sp>
      <p:sp>
        <p:nvSpPr>
          <p:cNvPr id="29" name="text">
            <a:extLst xmlns:a="http://schemas.openxmlformats.org/drawingml/2006/main">
              <a:ext uri="{FF2B5EF4-FFF2-40B4-BE49-F238E27FC236}">
                <a16:creationId xmlns:a16="http://schemas.microsoft.com/office/drawing/2014/main" id="{AD34F2AA-0E0A-42B1-96EF-0958D5293CE2}"/>
              </a:ext>
            </a:extLst>
          </p:cNvPr>
          <p:cNvSpPr>
            <a:spLocks xmlns:a="http://schemas.openxmlformats.org/drawingml/2006/main" noGrp="1"/>
          </p:cNvSpPr>
          <p:nvPr/>
        </p:nvSpPr>
        <p:spPr>
          <a:xfrm xmlns:a="http://schemas.openxmlformats.org/drawingml/2006/main">
            <a:off x="11658600" y="5842000"/>
            <a:ext cx="5867400" cy="1242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Those results alone do not establish</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catalog integration, concurrent database</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behavior, or learning effectiveness.</a:t>
            </a:r>
          </a:p>
        </p:txBody>
      </p:sp>
      <p:sp>
        <p:nvSpPr>
          <p:cNvPr id="30" name="text">
            <a:extLst xmlns:a="http://schemas.openxmlformats.org/drawingml/2006/main">
              <a:ext uri="{FF2B5EF4-FFF2-40B4-BE49-F238E27FC236}">
                <a16:creationId xmlns:a16="http://schemas.microsoft.com/office/drawing/2014/main" id="{035E7817-7A2B-45D6-B8A9-F9CC5976BB78}"/>
              </a:ext>
            </a:extLst>
          </p:cNvPr>
          <p:cNvSpPr>
            <a:spLocks xmlns:a="http://schemas.openxmlformats.org/drawingml/2006/main" noGrp="1"/>
          </p:cNvSpPr>
          <p:nvPr/>
        </p:nvSpPr>
        <p:spPr>
          <a:xfrm xmlns:a="http://schemas.openxmlformats.org/drawingml/2006/main">
            <a:off x="762000" y="9042400"/>
            <a:ext cx="1676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748B"/>
                </a:solidFill>
                <a:latin typeface="Calibri"/>
                <a:ea typeface="Calibri"/>
                <a:cs typeface="Calibri"/>
              </a:defRPr>
            </a:pPr>
            <a:r>
              <a:rPr sz="2100" b="0">
                <a:solidFill>
                  <a:srgbClr val="64748B"/>
                </a:solidFill>
                <a:latin typeface="Calibri"/>
                <a:ea typeface="Calibri"/>
                <a:cs typeface="Calibri"/>
              </a:rPr>
              <a:t>This is a proposed reporting framework, not a measured maturity score for the entire project.</a:t>
            </a:r>
          </a:p>
        </p:txBody>
      </p:sp>
    </p:spTree>
    <p:extLst>
      <p:ext uri="{BB962C8B-B14F-4D97-AF65-F5344CB8AC3E}">
        <p14:creationId xmlns:p14="http://schemas.microsoft.com/office/powerpoint/2010/main" val="16012400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501AA83A-7A28-41E9-BCB8-4D20F1B7F8D9}"/>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4.1. Specification Structure</a:t>
            </a:r>
          </a:p>
        </p:txBody>
      </p:sp>
      <p:sp>
        <p:nvSpPr>
          <p:cNvPr id="2" name="">
            <a:extLst xmlns:a="http://schemas.openxmlformats.org/drawingml/2006/main">
              <a:ext uri="{FF2B5EF4-FFF2-40B4-BE49-F238E27FC236}">
                <a16:creationId xmlns:a16="http://schemas.microsoft.com/office/drawing/2014/main" id="{716335BA-4A9B-4712-89B2-1D9B0F6049E6}"/>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4E7B21CA-6401-45FC-A1D5-364DC39D1A47}"/>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7832030F-3686-48CA-8E84-8803FBE2473F}"/>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Root Constitution; project contracts; F04 specification package</a:t>
            </a:r>
          </a:p>
        </p:txBody>
      </p:sp>
      <p:sp>
        <p:nvSpPr>
          <p:cNvPr id="5" name="text">
            <a:extLst xmlns:a="http://schemas.openxmlformats.org/drawingml/2006/main">
              <a:ext uri="{FF2B5EF4-FFF2-40B4-BE49-F238E27FC236}">
                <a16:creationId xmlns:a16="http://schemas.microsoft.com/office/drawing/2014/main" id="{D2FCE601-5326-4E15-8729-3914CD56D190}"/>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13 / 32</a:t>
            </a:r>
          </a:p>
        </p:txBody>
      </p:sp>
      <p:sp>
        <p:nvSpPr>
          <p:cNvPr id="6" name="text">
            <a:extLst xmlns:a="http://schemas.openxmlformats.org/drawingml/2006/main">
              <a:ext uri="{FF2B5EF4-FFF2-40B4-BE49-F238E27FC236}">
                <a16:creationId xmlns:a16="http://schemas.microsoft.com/office/drawing/2014/main" id="{7EFCC53E-5D36-45DB-B858-B533CB500DAB}"/>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Schinese separates project rules, feature behavior, design decisions, and verification instructions.</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4358640"/>
                <a:gridCol w="5532120"/>
                <a:gridCol w="6873240"/>
              </a:tblGrid>
              <a:tr h="755761">
                <a:tc>
                  <a:txBody>
                    <a:bodyPr wrap="square">
                      <a:noAutofit/>
                    </a:bodyPr>
                    <a:lstStyle/>
                    <a:p>
                      <a:r>
                        <a:rPr sz="2200" b="1">
                          <a:solidFill>
                            <a:srgbClr val="111827"/>
                          </a:solidFill>
                          <a:latin typeface="Calibri"/>
                          <a:ea typeface="Calibri"/>
                          <a:cs typeface="Calibri"/>
                        </a:rPr>
                        <a:t>Document layer</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Purpose</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F04 example</a:t>
                      </a:r>
                    </a:p>
                  </a:txBody>
                  <a:tcPr marL="165100" marR="165100" marT="127000" marB="127000" anchor="ctr">
                    <a:solidFill>
                      <a:srgbClr val="D8EDF4"/>
                    </a:solidFill>
                  </a:tcPr>
                </a:tc>
              </a:tr>
              <a:tr h="755761">
                <a:tc>
                  <a:txBody>
                    <a:bodyPr wrap="square">
                      <a:noAutofit/>
                    </a:bodyPr>
                    <a:lstStyle/>
                    <a:p>
                      <a:r>
                        <a:rPr sz="2200" b="0">
                          <a:solidFill>
                            <a:srgbClr val="111827"/>
                          </a:solidFill>
                          <a:latin typeface="Calibri"/>
                          <a:ea typeface="Calibri"/>
                          <a:cs typeface="Calibri"/>
                        </a:rPr>
                        <a:t>CONSTITUTION.md</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Binding project constraints</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Backend authority and required review</a:t>
                      </a:r>
                    </a:p>
                  </a:txBody>
                  <a:tcPr marL="165100" marR="165100" marT="127000" marB="127000" anchor="ctr">
                    <a:solidFill>
                      <a:srgbClr val="FFFFFF"/>
                    </a:solidFill>
                  </a:tcPr>
                </a:tc>
              </a:tr>
              <a:tr h="755761">
                <a:tc>
                  <a:txBody>
                    <a:bodyPr wrap="square">
                      <a:noAutofit/>
                    </a:bodyPr>
                    <a:lstStyle/>
                    <a:p>
                      <a:r>
                        <a:rPr sz="2200" b="0">
                          <a:solidFill>
                            <a:srgbClr val="111827"/>
                          </a:solidFill>
                          <a:latin typeface="Calibri"/>
                          <a:ea typeface="Calibri"/>
                          <a:cs typeface="Calibri"/>
                        </a:rPr>
                        <a:t>AGENT.md, CLAUDE.md</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Development context and architecture</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Module responsibilities and implementation boundaries</a:t>
                      </a:r>
                    </a:p>
                  </a:txBody>
                  <a:tcPr marL="165100" marR="165100" marT="127000" marB="127000" anchor="ctr">
                    <a:solidFill>
                      <a:srgbClr val="F3F8FB"/>
                    </a:solidFill>
                  </a:tcPr>
                </a:tc>
              </a:tr>
              <a:tr h="755761">
                <a:tc>
                  <a:txBody>
                    <a:bodyPr wrap="square">
                      <a:noAutofit/>
                    </a:bodyPr>
                    <a:lstStyle/>
                    <a:p>
                      <a:r>
                        <a:rPr sz="2200" b="0">
                          <a:solidFill>
                            <a:srgbClr val="111827"/>
                          </a:solidFill>
                          <a:latin typeface="Calibri"/>
                          <a:ea typeface="Calibri"/>
                          <a:cs typeface="Calibri"/>
                        </a:rPr>
                        <a:t>API.md, DATA_short.md</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Shared API and MVP data contracts</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Response conventions and canonical data</a:t>
                      </a:r>
                    </a:p>
                  </a:txBody>
                  <a:tcPr marL="165100" marR="165100" marT="127000" marB="127000" anchor="ctr">
                    <a:solidFill>
                      <a:srgbClr val="FFFFFF"/>
                    </a:solidFill>
                  </a:tcPr>
                </a:tc>
              </a:tr>
              <a:tr h="755761">
                <a:tc>
                  <a:txBody>
                    <a:bodyPr wrap="square">
                      <a:noAutofit/>
                    </a:bodyPr>
                    <a:lstStyle/>
                    <a:p>
                      <a:r>
                        <a:rPr sz="2200" b="0">
                          <a:solidFill>
                            <a:srgbClr val="111827"/>
                          </a:solidFill>
                          <a:latin typeface="Calibri"/>
                          <a:ea typeface="Calibri"/>
                          <a:cs typeface="Calibri"/>
                        </a:rPr>
                        <a:t>MVP feature map</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Scope and dependencies</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Content administration supplies learning content</a:t>
                      </a:r>
                    </a:p>
                  </a:txBody>
                  <a:tcPr marL="165100" marR="165100" marT="127000" marB="127000" anchor="ctr">
                    <a:solidFill>
                      <a:srgbClr val="F3F8FB"/>
                    </a:solidFill>
                  </a:tcPr>
                </a:tc>
              </a:tr>
              <a:tr h="755761">
                <a:tc>
                  <a:txBody>
                    <a:bodyPr wrap="square">
                      <a:noAutofit/>
                    </a:bodyPr>
                    <a:lstStyle/>
                    <a:p>
                      <a:r>
                        <a:rPr sz="2200" b="1">
                          <a:solidFill>
                            <a:srgbClr val="111827"/>
                          </a:solidFill>
                          <a:latin typeface="Calibri"/>
                          <a:ea typeface="Calibri"/>
                          <a:cs typeface="Calibri"/>
                        </a:rPr>
                        <a:t>spec.md</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User behavior and acceptance</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Conditions for lesson publication</a:t>
                      </a:r>
                    </a:p>
                  </a:txBody>
                  <a:tcPr marL="165100" marR="165100" marT="127000" marB="127000" anchor="ctr">
                    <a:solidFill>
                      <a:srgbClr val="FFFFFF"/>
                    </a:solidFill>
                  </a:tcPr>
                </a:tc>
              </a:tr>
              <a:tr h="755761">
                <a:tc>
                  <a:txBody>
                    <a:bodyPr wrap="square">
                      <a:noAutofit/>
                    </a:bodyPr>
                    <a:lstStyle/>
                    <a:p>
                      <a:r>
                        <a:rPr sz="2200" b="1">
                          <a:solidFill>
                            <a:srgbClr val="111827"/>
                          </a:solidFill>
                          <a:latin typeface="Calibri"/>
                          <a:ea typeface="Calibri"/>
                          <a:cs typeface="Calibri"/>
                        </a:rPr>
                        <a:t>plan, data-model, contracts</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Technical design</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State rules, version checks, and request/response shapes</a:t>
                      </a:r>
                    </a:p>
                  </a:txBody>
                  <a:tcPr marL="165100" marR="165100" marT="127000" marB="127000" anchor="ctr">
                    <a:solidFill>
                      <a:srgbClr val="F3F8FB"/>
                    </a:solidFill>
                  </a:tcPr>
                </a:tc>
              </a:tr>
              <a:tr h="755761">
                <a:tc>
                  <a:txBody>
                    <a:bodyPr wrap="square">
                      <a:noAutofit/>
                    </a:bodyPr>
                    <a:lstStyle/>
                    <a:p>
                      <a:r>
                        <a:rPr sz="2200" b="0">
                          <a:solidFill>
                            <a:srgbClr val="111827"/>
                          </a:solidFill>
                          <a:latin typeface="Calibri"/>
                          <a:ea typeface="Calibri"/>
                          <a:cs typeface="Calibri"/>
                        </a:rPr>
                        <a:t>tasks.md, quickstart.md</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Execution and verification</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T025 and publication validation scenarios</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1F2F9B86-D806-4AD3-9DD9-E305B476ECE8}"/>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The root Constitution governs conflicts. DATA.md describes future data direction.</a:t>
            </a:r>
          </a:p>
        </p:txBody>
      </p:sp>
    </p:spTree>
    <p:extLst>
      <p:ext uri="{BB962C8B-B14F-4D97-AF65-F5344CB8AC3E}">
        <p14:creationId xmlns:p14="http://schemas.microsoft.com/office/powerpoint/2010/main" val="14762932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ext">
            <a:extLst xmlns:a="http://schemas.openxmlformats.org/drawingml/2006/main">
              <a:ext uri="{FF2B5EF4-FFF2-40B4-BE49-F238E27FC236}">
                <a16:creationId xmlns:a16="http://schemas.microsoft.com/office/drawing/2014/main" id="{244EFE05-A095-4021-B17F-DA6D87D175E0}"/>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4.2. Specification Development Workflow</a:t>
            </a:r>
          </a:p>
        </p:txBody>
      </p:sp>
      <p:sp>
        <p:nvSpPr>
          <p:cNvPr id="2" name="">
            <a:extLst xmlns:a="http://schemas.openxmlformats.org/drawingml/2006/main">
              <a:ext uri="{FF2B5EF4-FFF2-40B4-BE49-F238E27FC236}">
                <a16:creationId xmlns:a16="http://schemas.microsoft.com/office/drawing/2014/main" id="{5FBDEA3D-7E92-41E3-828D-976CF640235F}"/>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4F235E3-B31E-4AF8-B767-BC4EAD9C698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4C75CBB7-C108-4180-84E0-AB21547139D4}"/>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§6, §7.2–7.3, §8.2; F04 Convergence tasks</a:t>
            </a:r>
          </a:p>
        </p:txBody>
      </p:sp>
      <p:sp>
        <p:nvSpPr>
          <p:cNvPr id="5" name="text">
            <a:extLst xmlns:a="http://schemas.openxmlformats.org/drawingml/2006/main">
              <a:ext uri="{FF2B5EF4-FFF2-40B4-BE49-F238E27FC236}">
                <a16:creationId xmlns:a16="http://schemas.microsoft.com/office/drawing/2014/main" id="{679C21A7-A320-4FD2-95C2-E4BD3CC39E0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14 / 32</a:t>
            </a:r>
          </a:p>
        </p:txBody>
      </p:sp>
      <p:sp>
        <p:nvSpPr>
          <p:cNvPr id="6" name="text">
            <a:extLst xmlns:a="http://schemas.openxmlformats.org/drawingml/2006/main">
              <a:ext uri="{FF2B5EF4-FFF2-40B4-BE49-F238E27FC236}">
                <a16:creationId xmlns:a16="http://schemas.microsoft.com/office/drawing/2014/main" id="{2C1288B3-2897-4600-AC2C-6731294E315C}"/>
              </a:ext>
            </a:extLst>
          </p:cNvPr>
          <p:cNvSpPr>
            <a:spLocks xmlns:a="http://schemas.openxmlformats.org/drawingml/2006/main" noGrp="1"/>
          </p:cNvSpPr>
          <p:nvPr/>
        </p:nvSpPr>
        <p:spPr>
          <a:xfrm xmlns:a="http://schemas.openxmlformats.org/drawingml/2006/main">
            <a:off x="762000" y="1790700"/>
            <a:ext cx="16764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Each feature moves through a reviewable cycle with explicit outputs and feedback.</a:t>
            </a:r>
          </a:p>
        </p:txBody>
      </p:sp>
      <p:sp>
        <p:nvSpPr>
          <p:cNvPr id="7" name="Discover and scope">
            <a:extLst xmlns:a="http://schemas.openxmlformats.org/drawingml/2006/main">
              <a:ext uri="{FF2B5EF4-FFF2-40B4-BE49-F238E27FC236}">
                <a16:creationId xmlns:a16="http://schemas.microsoft.com/office/drawing/2014/main" id="{0697EED0-D0B5-49A4-93C5-7AC42ED33A76}"/>
              </a:ext>
            </a:extLst>
          </p:cNvPr>
          <p:cNvSpPr>
            <a:spLocks xmlns:a="http://schemas.openxmlformats.org/drawingml/2006/main" noGrp="1"/>
          </p:cNvSpPr>
          <p:nvPr/>
        </p:nvSpPr>
        <p:spPr>
          <a:xfrm xmlns:a="http://schemas.openxmlformats.org/drawingml/2006/main">
            <a:off x="762000" y="3263900"/>
            <a:ext cx="3098800" cy="38227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8" name="heading">
            <a:extLst xmlns:a="http://schemas.openxmlformats.org/drawingml/2006/main">
              <a:ext uri="{FF2B5EF4-FFF2-40B4-BE49-F238E27FC236}">
                <a16:creationId xmlns:a16="http://schemas.microsoft.com/office/drawing/2014/main" id="{8BAB04B8-0FE1-468A-838C-228E8ACD95A5}"/>
              </a:ext>
            </a:extLst>
          </p:cNvPr>
          <p:cNvSpPr>
            <a:spLocks xmlns:a="http://schemas.openxmlformats.org/drawingml/2006/main" noGrp="1"/>
          </p:cNvSpPr>
          <p:nvPr/>
        </p:nvSpPr>
        <p:spPr>
          <a:xfrm xmlns:a="http://schemas.openxmlformats.org/drawingml/2006/main">
            <a:off x="762000" y="3263900"/>
            <a:ext cx="30988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37C37A0-46AF-424D-A783-A339421D0247}"/>
              </a:ext>
            </a:extLst>
          </p:cNvPr>
          <p:cNvSpPr>
            <a:spLocks xmlns:a="http://schemas.openxmlformats.org/drawingml/2006/main" noGrp="1"/>
          </p:cNvSpPr>
          <p:nvPr/>
        </p:nvSpPr>
        <p:spPr>
          <a:xfrm xmlns:a="http://schemas.openxmlformats.org/drawingml/2006/main">
            <a:off x="914400" y="3340100"/>
            <a:ext cx="279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FFFFFF"/>
                </a:solidFill>
                <a:latin typeface="Calibri"/>
                <a:ea typeface="Calibri"/>
                <a:cs typeface="Calibri"/>
              </a:defRPr>
            </a:pPr>
            <a:r>
              <a:rPr sz="2400" b="1">
                <a:solidFill>
                  <a:srgbClr val="FFFFFF"/>
                </a:solidFill>
                <a:latin typeface="Calibri"/>
                <a:ea typeface="Calibri"/>
                <a:cs typeface="Calibri"/>
              </a:rPr>
              <a:t>Discover and scope</a:t>
            </a:r>
          </a:p>
        </p:txBody>
      </p:sp>
      <p:sp>
        <p:nvSpPr>
          <p:cNvPr id="10" name="text">
            <a:extLst xmlns:a="http://schemas.openxmlformats.org/drawingml/2006/main">
              <a:ext uri="{FF2B5EF4-FFF2-40B4-BE49-F238E27FC236}">
                <a16:creationId xmlns:a16="http://schemas.microsoft.com/office/drawing/2014/main" id="{0F21092C-E0FB-4EC7-B4F0-A97FBA253C1B}"/>
              </a:ext>
            </a:extLst>
          </p:cNvPr>
          <p:cNvSpPr>
            <a:spLocks xmlns:a="http://schemas.openxmlformats.org/drawingml/2006/main" noGrp="1"/>
          </p:cNvSpPr>
          <p:nvPr/>
        </p:nvSpPr>
        <p:spPr>
          <a:xfrm xmlns:a="http://schemas.openxmlformats.org/drawingml/2006/main">
            <a:off x="939800" y="3937000"/>
            <a:ext cx="2743200" cy="307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Inspect the product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and existing</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contracts</a:t>
            </a:r>
          </a:p>
          <a:p xmlns:a="http://schemas.openxmlformats.org/drawingml/2006/main">
            <a:r>
              <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Output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Feature boundary</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and dependencies</a:t>
            </a:r>
          </a:p>
        </p:txBody>
      </p:sp>
      <p:sp>
        <p:nvSpPr>
          <p:cNvPr id="11" name="Specify and clarify">
            <a:extLst xmlns:a="http://schemas.openxmlformats.org/drawingml/2006/main">
              <a:ext uri="{FF2B5EF4-FFF2-40B4-BE49-F238E27FC236}">
                <a16:creationId xmlns:a16="http://schemas.microsoft.com/office/drawing/2014/main" id="{C97A274C-CE38-4826-9034-F784D38610CE}"/>
              </a:ext>
            </a:extLst>
          </p:cNvPr>
          <p:cNvSpPr>
            <a:spLocks xmlns:a="http://schemas.openxmlformats.org/drawingml/2006/main" noGrp="1"/>
          </p:cNvSpPr>
          <p:nvPr/>
        </p:nvSpPr>
        <p:spPr>
          <a:xfrm xmlns:a="http://schemas.openxmlformats.org/drawingml/2006/main">
            <a:off x="4178300" y="3263900"/>
            <a:ext cx="3098800" cy="38227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12" name="heading">
            <a:extLst xmlns:a="http://schemas.openxmlformats.org/drawingml/2006/main">
              <a:ext uri="{FF2B5EF4-FFF2-40B4-BE49-F238E27FC236}">
                <a16:creationId xmlns:a16="http://schemas.microsoft.com/office/drawing/2014/main" id="{540858D2-5577-4AC5-8EF2-0D22522675DB}"/>
              </a:ext>
            </a:extLst>
          </p:cNvPr>
          <p:cNvSpPr>
            <a:spLocks xmlns:a="http://schemas.openxmlformats.org/drawingml/2006/main" noGrp="1"/>
          </p:cNvSpPr>
          <p:nvPr/>
        </p:nvSpPr>
        <p:spPr>
          <a:xfrm xmlns:a="http://schemas.openxmlformats.org/drawingml/2006/main">
            <a:off x="4178300" y="3263900"/>
            <a:ext cx="30988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8FEFB11-267E-4A5C-B58D-E6B7B546140A}"/>
              </a:ext>
            </a:extLst>
          </p:cNvPr>
          <p:cNvSpPr>
            <a:spLocks xmlns:a="http://schemas.openxmlformats.org/drawingml/2006/main" noGrp="1"/>
          </p:cNvSpPr>
          <p:nvPr/>
        </p:nvSpPr>
        <p:spPr>
          <a:xfrm xmlns:a="http://schemas.openxmlformats.org/drawingml/2006/main">
            <a:off x="4330700" y="3340100"/>
            <a:ext cx="279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FFFFFF"/>
                </a:solidFill>
                <a:latin typeface="Calibri"/>
                <a:ea typeface="Calibri"/>
                <a:cs typeface="Calibri"/>
              </a:defRPr>
            </a:pPr>
            <a:r>
              <a:rPr sz="2400" b="1">
                <a:solidFill>
                  <a:srgbClr val="FFFFFF"/>
                </a:solidFill>
                <a:latin typeface="Calibri"/>
                <a:ea typeface="Calibri"/>
                <a:cs typeface="Calibri"/>
              </a:rPr>
              <a:t>Specify and clarify</a:t>
            </a:r>
          </a:p>
        </p:txBody>
      </p:sp>
      <p:sp>
        <p:nvSpPr>
          <p:cNvPr id="14" name="text">
            <a:extLst xmlns:a="http://schemas.openxmlformats.org/drawingml/2006/main">
              <a:ext uri="{FF2B5EF4-FFF2-40B4-BE49-F238E27FC236}">
                <a16:creationId xmlns:a16="http://schemas.microsoft.com/office/drawing/2014/main" id="{9C49012F-3817-4FBE-B024-2632E33CE549}"/>
              </a:ext>
            </a:extLst>
          </p:cNvPr>
          <p:cNvSpPr>
            <a:spLocks xmlns:a="http://schemas.openxmlformats.org/drawingml/2006/main" noGrp="1"/>
          </p:cNvSpPr>
          <p:nvPr/>
        </p:nvSpPr>
        <p:spPr>
          <a:xfrm xmlns:a="http://schemas.openxmlformats.org/drawingml/2006/main">
            <a:off x="4356100" y="3937000"/>
            <a:ext cx="2743200" cy="307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Define behavior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resolve missing</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decisions</a:t>
            </a:r>
          </a:p>
          <a:p xmlns:a="http://schemas.openxmlformats.org/drawingml/2006/main">
            <a:r>
              <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Output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Requirements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acceptance scenarios</a:t>
            </a:r>
          </a:p>
        </p:txBody>
      </p:sp>
      <p:sp>
        <p:nvSpPr>
          <p:cNvPr id="15" name="Design and plan">
            <a:extLst xmlns:a="http://schemas.openxmlformats.org/drawingml/2006/main">
              <a:ext uri="{FF2B5EF4-FFF2-40B4-BE49-F238E27FC236}">
                <a16:creationId xmlns:a16="http://schemas.microsoft.com/office/drawing/2014/main" id="{FC32C4DA-AEEC-42B1-8CDA-C9288EF61690}"/>
              </a:ext>
            </a:extLst>
          </p:cNvPr>
          <p:cNvSpPr>
            <a:spLocks xmlns:a="http://schemas.openxmlformats.org/drawingml/2006/main" noGrp="1"/>
          </p:cNvSpPr>
          <p:nvPr/>
        </p:nvSpPr>
        <p:spPr>
          <a:xfrm xmlns:a="http://schemas.openxmlformats.org/drawingml/2006/main">
            <a:off x="7594600" y="3263900"/>
            <a:ext cx="3098800" cy="38227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16" name="heading">
            <a:extLst xmlns:a="http://schemas.openxmlformats.org/drawingml/2006/main">
              <a:ext uri="{FF2B5EF4-FFF2-40B4-BE49-F238E27FC236}">
                <a16:creationId xmlns:a16="http://schemas.microsoft.com/office/drawing/2014/main" id="{13872232-0414-4B6C-912C-8FA16D9FBCEF}"/>
              </a:ext>
            </a:extLst>
          </p:cNvPr>
          <p:cNvSpPr>
            <a:spLocks xmlns:a="http://schemas.openxmlformats.org/drawingml/2006/main" noGrp="1"/>
          </p:cNvSpPr>
          <p:nvPr/>
        </p:nvSpPr>
        <p:spPr>
          <a:xfrm xmlns:a="http://schemas.openxmlformats.org/drawingml/2006/main">
            <a:off x="7594600" y="3263900"/>
            <a:ext cx="30988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3BA416E-9641-4729-8A5D-F8827AF158C4}"/>
              </a:ext>
            </a:extLst>
          </p:cNvPr>
          <p:cNvSpPr>
            <a:spLocks xmlns:a="http://schemas.openxmlformats.org/drawingml/2006/main" noGrp="1"/>
          </p:cNvSpPr>
          <p:nvPr/>
        </p:nvSpPr>
        <p:spPr>
          <a:xfrm xmlns:a="http://schemas.openxmlformats.org/drawingml/2006/main">
            <a:off x="7747000" y="3340100"/>
            <a:ext cx="279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FFFFFF"/>
                </a:solidFill>
                <a:latin typeface="Calibri"/>
                <a:ea typeface="Calibri"/>
                <a:cs typeface="Calibri"/>
              </a:defRPr>
            </a:pPr>
            <a:r>
              <a:rPr sz="2400" b="1">
                <a:solidFill>
                  <a:srgbClr val="FFFFFF"/>
                </a:solidFill>
                <a:latin typeface="Calibri"/>
                <a:ea typeface="Calibri"/>
                <a:cs typeface="Calibri"/>
              </a:rPr>
              <a:t>Design and plan</a:t>
            </a:r>
          </a:p>
        </p:txBody>
      </p:sp>
      <p:sp>
        <p:nvSpPr>
          <p:cNvPr id="18" name="text">
            <a:extLst xmlns:a="http://schemas.openxmlformats.org/drawingml/2006/main">
              <a:ext uri="{FF2B5EF4-FFF2-40B4-BE49-F238E27FC236}">
                <a16:creationId xmlns:a16="http://schemas.microsoft.com/office/drawing/2014/main" id="{83AD28B1-5536-43E0-B942-01C9516851ED}"/>
              </a:ext>
            </a:extLst>
          </p:cNvPr>
          <p:cNvSpPr>
            <a:spLocks xmlns:a="http://schemas.openxmlformats.org/drawingml/2006/main" noGrp="1"/>
          </p:cNvSpPr>
          <p:nvPr/>
        </p:nvSpPr>
        <p:spPr>
          <a:xfrm xmlns:a="http://schemas.openxmlformats.org/drawingml/2006/main">
            <a:off x="7772400" y="3937000"/>
            <a:ext cx="2743200" cy="307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Select components</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and preserve project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rules</a:t>
            </a:r>
          </a:p>
          <a:p xmlns:a="http://schemas.openxmlformats.org/drawingml/2006/main">
            <a:r>
              <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Output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Plan, data model, API</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contract</a:t>
            </a:r>
          </a:p>
        </p:txBody>
      </p:sp>
      <p:sp>
        <p:nvSpPr>
          <p:cNvPr id="19" name="Break down and analyze">
            <a:extLst xmlns:a="http://schemas.openxmlformats.org/drawingml/2006/main">
              <a:ext uri="{FF2B5EF4-FFF2-40B4-BE49-F238E27FC236}">
                <a16:creationId xmlns:a16="http://schemas.microsoft.com/office/drawing/2014/main" id="{066F0D6F-2E0F-4811-91B3-0697FFD0B3DF}"/>
              </a:ext>
            </a:extLst>
          </p:cNvPr>
          <p:cNvSpPr>
            <a:spLocks xmlns:a="http://schemas.openxmlformats.org/drawingml/2006/main" noGrp="1"/>
          </p:cNvSpPr>
          <p:nvPr/>
        </p:nvSpPr>
        <p:spPr>
          <a:xfrm xmlns:a="http://schemas.openxmlformats.org/drawingml/2006/main">
            <a:off x="11010900" y="3263900"/>
            <a:ext cx="3098800" cy="38227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20" name="heading">
            <a:extLst xmlns:a="http://schemas.openxmlformats.org/drawingml/2006/main">
              <a:ext uri="{FF2B5EF4-FFF2-40B4-BE49-F238E27FC236}">
                <a16:creationId xmlns:a16="http://schemas.microsoft.com/office/drawing/2014/main" id="{F73BC575-1940-45BE-9F08-817501F55986}"/>
              </a:ext>
            </a:extLst>
          </p:cNvPr>
          <p:cNvSpPr>
            <a:spLocks xmlns:a="http://schemas.openxmlformats.org/drawingml/2006/main" noGrp="1"/>
          </p:cNvSpPr>
          <p:nvPr/>
        </p:nvSpPr>
        <p:spPr>
          <a:xfrm xmlns:a="http://schemas.openxmlformats.org/drawingml/2006/main">
            <a:off x="11010900" y="3263900"/>
            <a:ext cx="30988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B812D2B-61A9-4C00-8224-9AE49B9A4D9C}"/>
              </a:ext>
            </a:extLst>
          </p:cNvPr>
          <p:cNvSpPr>
            <a:spLocks xmlns:a="http://schemas.openxmlformats.org/drawingml/2006/main" noGrp="1"/>
          </p:cNvSpPr>
          <p:nvPr/>
        </p:nvSpPr>
        <p:spPr>
          <a:xfrm xmlns:a="http://schemas.openxmlformats.org/drawingml/2006/main">
            <a:off x="11163300" y="3340100"/>
            <a:ext cx="279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46" b="1">
                <a:solidFill>
                  <a:srgbClr val="FFFFFF"/>
                </a:solidFill>
                <a:latin typeface="Calibri"/>
                <a:ea typeface="Calibri"/>
                <a:cs typeface="Calibri"/>
              </a:defRPr>
            </a:pPr>
            <a:r>
              <a:rPr sz="2146" b="1">
                <a:solidFill>
                  <a:srgbClr val="FFFFFF"/>
                </a:solidFill>
                <a:latin typeface="Calibri"/>
                <a:ea typeface="Calibri"/>
                <a:cs typeface="Calibri"/>
              </a:rPr>
              <a:t>Break down and analyze</a:t>
            </a:r>
          </a:p>
        </p:txBody>
      </p:sp>
      <p:sp>
        <p:nvSpPr>
          <p:cNvPr id="22" name="text">
            <a:extLst xmlns:a="http://schemas.openxmlformats.org/drawingml/2006/main">
              <a:ext uri="{FF2B5EF4-FFF2-40B4-BE49-F238E27FC236}">
                <a16:creationId xmlns:a16="http://schemas.microsoft.com/office/drawing/2014/main" id="{43DDEF4E-0765-4FD7-98CF-015DB1B6313C}"/>
              </a:ext>
            </a:extLst>
          </p:cNvPr>
          <p:cNvSpPr>
            <a:spLocks xmlns:a="http://schemas.openxmlformats.org/drawingml/2006/main" noGrp="1"/>
          </p:cNvSpPr>
          <p:nvPr/>
        </p:nvSpPr>
        <p:spPr>
          <a:xfrm xmlns:a="http://schemas.openxmlformats.org/drawingml/2006/main">
            <a:off x="11188700" y="3937000"/>
            <a:ext cx="2743200" cy="307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Organize tasks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check consistency</a:t>
            </a:r>
          </a:p>
          <a:p xmlns:a="http://schemas.openxmlformats.org/drawingml/2006/main">
            <a:r>
              <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Output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Implementation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verification tasks</a:t>
            </a:r>
          </a:p>
        </p:txBody>
      </p:sp>
      <p:sp>
        <p:nvSpPr>
          <p:cNvPr id="23" name="Implement and verify">
            <a:extLst xmlns:a="http://schemas.openxmlformats.org/drawingml/2006/main">
              <a:ext uri="{FF2B5EF4-FFF2-40B4-BE49-F238E27FC236}">
                <a16:creationId xmlns:a16="http://schemas.microsoft.com/office/drawing/2014/main" id="{DBEF60AF-7AB4-4346-A6F4-2FD2009079C1}"/>
              </a:ext>
            </a:extLst>
          </p:cNvPr>
          <p:cNvSpPr>
            <a:spLocks xmlns:a="http://schemas.openxmlformats.org/drawingml/2006/main" noGrp="1"/>
          </p:cNvSpPr>
          <p:nvPr/>
        </p:nvSpPr>
        <p:spPr>
          <a:xfrm xmlns:a="http://schemas.openxmlformats.org/drawingml/2006/main">
            <a:off x="14427200" y="3263900"/>
            <a:ext cx="3098800" cy="38227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24" name="heading">
            <a:extLst xmlns:a="http://schemas.openxmlformats.org/drawingml/2006/main">
              <a:ext uri="{FF2B5EF4-FFF2-40B4-BE49-F238E27FC236}">
                <a16:creationId xmlns:a16="http://schemas.microsoft.com/office/drawing/2014/main" id="{BDDAB140-DC91-4150-9FFD-10626C4F0C12}"/>
              </a:ext>
            </a:extLst>
          </p:cNvPr>
          <p:cNvSpPr>
            <a:spLocks xmlns:a="http://schemas.openxmlformats.org/drawingml/2006/main" noGrp="1"/>
          </p:cNvSpPr>
          <p:nvPr/>
        </p:nvSpPr>
        <p:spPr>
          <a:xfrm xmlns:a="http://schemas.openxmlformats.org/drawingml/2006/main">
            <a:off x="14427200" y="3263900"/>
            <a:ext cx="30988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C4A1B29A-4040-4CE6-8180-C96D26A96F7E}"/>
              </a:ext>
            </a:extLst>
          </p:cNvPr>
          <p:cNvSpPr>
            <a:spLocks xmlns:a="http://schemas.openxmlformats.org/drawingml/2006/main" noGrp="1"/>
          </p:cNvSpPr>
          <p:nvPr/>
        </p:nvSpPr>
        <p:spPr>
          <a:xfrm xmlns:a="http://schemas.openxmlformats.org/drawingml/2006/main">
            <a:off x="14579600" y="3340100"/>
            <a:ext cx="279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FFFFFF"/>
                </a:solidFill>
                <a:latin typeface="Calibri"/>
                <a:ea typeface="Calibri"/>
                <a:cs typeface="Calibri"/>
              </a:defRPr>
            </a:pPr>
            <a:r>
              <a:rPr sz="2400" b="1">
                <a:solidFill>
                  <a:srgbClr val="FFFFFF"/>
                </a:solidFill>
                <a:latin typeface="Calibri"/>
                <a:ea typeface="Calibri"/>
                <a:cs typeface="Calibri"/>
              </a:rPr>
              <a:t>Implement and verify</a:t>
            </a:r>
          </a:p>
        </p:txBody>
      </p:sp>
      <p:sp>
        <p:nvSpPr>
          <p:cNvPr id="26" name="text">
            <a:extLst xmlns:a="http://schemas.openxmlformats.org/drawingml/2006/main">
              <a:ext uri="{FF2B5EF4-FFF2-40B4-BE49-F238E27FC236}">
                <a16:creationId xmlns:a16="http://schemas.microsoft.com/office/drawing/2014/main" id="{E0A21517-7645-42A8-BD71-764F7B88EBFA}"/>
              </a:ext>
            </a:extLst>
          </p:cNvPr>
          <p:cNvSpPr>
            <a:spLocks xmlns:a="http://schemas.openxmlformats.org/drawingml/2006/main" noGrp="1"/>
          </p:cNvSpPr>
          <p:nvPr/>
        </p:nvSpPr>
        <p:spPr>
          <a:xfrm xmlns:a="http://schemas.openxmlformats.org/drawingml/2006/main">
            <a:off x="14605000" y="3937000"/>
            <a:ext cx="2743200" cy="307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Build the feature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test its behavior</a:t>
            </a:r>
          </a:p>
          <a:p xmlns:a="http://schemas.openxmlformats.org/drawingml/2006/main">
            <a:r>
              <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Output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Code, results, and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recorded gaps</a:t>
            </a:r>
          </a:p>
        </p:txBody>
      </p:sp>
      <p:cxnSp>
        <p:nvCxnSpPr>
          <p:cNvPr id="63" name=""/>
          <p:cNvCxnSpPr>
            <a:stCxn xmlns:a="http://schemas.openxmlformats.org/drawingml/2006/main" id="7" idx="3"/>
            <a:endCxn xmlns:a="http://schemas.openxmlformats.org/drawingml/2006/main" id="11" idx="1"/>
          </p:cNvCxnSpPr>
          <p:nvPr/>
        </p:nvCxnSpPr>
        <p:spPr>
          <a:xfrm xmlns:a="http://schemas.openxmlformats.org/drawingml/2006/main">
            <a:off x="3860800" y="51752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4" name=""/>
          <p:cNvCxnSpPr>
            <a:stCxn xmlns:a="http://schemas.openxmlformats.org/drawingml/2006/main" id="11" idx="3"/>
            <a:endCxn xmlns:a="http://schemas.openxmlformats.org/drawingml/2006/main" id="15" idx="1"/>
          </p:cNvCxnSpPr>
          <p:nvPr/>
        </p:nvCxnSpPr>
        <p:spPr>
          <a:xfrm xmlns:a="http://schemas.openxmlformats.org/drawingml/2006/main">
            <a:off x="7277100" y="51752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5" name=""/>
          <p:cNvCxnSpPr>
            <a:stCxn xmlns:a="http://schemas.openxmlformats.org/drawingml/2006/main" id="15" idx="3"/>
            <a:endCxn xmlns:a="http://schemas.openxmlformats.org/drawingml/2006/main" id="19" idx="1"/>
          </p:cNvCxnSpPr>
          <p:nvPr/>
        </p:nvCxnSpPr>
        <p:spPr>
          <a:xfrm xmlns:a="http://schemas.openxmlformats.org/drawingml/2006/main">
            <a:off x="10693400" y="51752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6" name=""/>
          <p:cNvCxnSpPr>
            <a:stCxn xmlns:a="http://schemas.openxmlformats.org/drawingml/2006/main" id="19" idx="3"/>
            <a:endCxn xmlns:a="http://schemas.openxmlformats.org/drawingml/2006/main" id="23" idx="1"/>
          </p:cNvCxnSpPr>
          <p:nvPr/>
        </p:nvCxnSpPr>
        <p:spPr>
          <a:xfrm xmlns:a="http://schemas.openxmlformats.org/drawingml/2006/main">
            <a:off x="14109700" y="51752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31" name="">
            <a:extLst xmlns:a="http://schemas.openxmlformats.org/drawingml/2006/main">
              <a:ext uri="{FF2B5EF4-FFF2-40B4-BE49-F238E27FC236}">
                <a16:creationId xmlns:a16="http://schemas.microsoft.com/office/drawing/2014/main" id="{850D0D17-B99D-4BEC-9C22-751A0EA18887}"/>
              </a:ext>
            </a:extLst>
          </p:cNvPr>
          <p:cNvSpPr>
            <a:spLocks xmlns:a="http://schemas.openxmlformats.org/drawingml/2006/main" noGrp="1"/>
          </p:cNvSpPr>
          <p:nvPr/>
        </p:nvSpPr>
        <p:spPr>
          <a:xfrm xmlns:a="http://schemas.openxmlformats.org/drawingml/2006/main" flipH="0" flipV="0">
            <a:off x="15963900" y="7086600"/>
            <a:ext cx="0" cy="533400"/>
          </a:xfrm>
          <a:prstGeom xmlns:a="http://schemas.openxmlformats.org/drawingml/2006/main" prst="line">
            <a:avLst/>
          </a:prstGeom>
          <a:noFill xmlns:a="http://schemas.openxmlformats.org/drawingml/2006/main"/>
          <a:ln xmlns:a="http://schemas.openxmlformats.org/drawingml/2006/main" w="21590">
            <a:solidFill>
              <a:srgbClr val="F47719"/>
            </a:solidFill>
          </a:ln>
        </p:spPr>
      </p:sp>
      <p:sp>
        <p:nvSpPr>
          <p:cNvPr id="32" name="">
            <a:extLst xmlns:a="http://schemas.openxmlformats.org/drawingml/2006/main">
              <a:ext uri="{FF2B5EF4-FFF2-40B4-BE49-F238E27FC236}">
                <a16:creationId xmlns:a16="http://schemas.microsoft.com/office/drawing/2014/main" id="{B9D22F18-1011-4C72-9A78-C6D0DD5896E7}"/>
              </a:ext>
            </a:extLst>
          </p:cNvPr>
          <p:cNvSpPr>
            <a:spLocks xmlns:a="http://schemas.openxmlformats.org/drawingml/2006/main" noGrp="1"/>
          </p:cNvSpPr>
          <p:nvPr/>
        </p:nvSpPr>
        <p:spPr>
          <a:xfrm xmlns:a="http://schemas.openxmlformats.org/drawingml/2006/main" flipH="0" flipV="0">
            <a:off x="5880100" y="7620000"/>
            <a:ext cx="10083800" cy="0"/>
          </a:xfrm>
          <a:prstGeom xmlns:a="http://schemas.openxmlformats.org/drawingml/2006/main" prst="line">
            <a:avLst/>
          </a:prstGeom>
          <a:noFill xmlns:a="http://schemas.openxmlformats.org/drawingml/2006/main"/>
          <a:ln xmlns:a="http://schemas.openxmlformats.org/drawingml/2006/main" w="21590">
            <a:solidFill>
              <a:srgbClr val="F47719"/>
            </a:solidFill>
          </a:ln>
        </p:spPr>
      </p:sp>
      <p:sp>
        <p:nvSpPr>
          <p:cNvPr id="33" name="">
            <a:extLst xmlns:a="http://schemas.openxmlformats.org/drawingml/2006/main">
              <a:ext uri="{FF2B5EF4-FFF2-40B4-BE49-F238E27FC236}">
                <a16:creationId xmlns:a16="http://schemas.microsoft.com/office/drawing/2014/main" id="{98596509-734D-47A0-AE30-AC9B77AB4769}"/>
              </a:ext>
            </a:extLst>
          </p:cNvPr>
          <p:cNvSpPr>
            <a:spLocks xmlns:a="http://schemas.openxmlformats.org/drawingml/2006/main" noGrp="1"/>
          </p:cNvSpPr>
          <p:nvPr/>
        </p:nvSpPr>
        <p:spPr>
          <a:xfrm xmlns:a="http://schemas.openxmlformats.org/drawingml/2006/main" flipH="0" flipV="1">
            <a:off x="5880100" y="7086600"/>
            <a:ext cx="0" cy="533400"/>
          </a:xfrm>
          <a:prstGeom xmlns:a="http://schemas.openxmlformats.org/drawingml/2006/main" prst="line">
            <a:avLst/>
          </a:prstGeom>
          <a:noFill xmlns:a="http://schemas.openxmlformats.org/drawingml/2006/main"/>
          <a:ln xmlns:a="http://schemas.openxmlformats.org/drawingml/2006/main" w="21590">
            <a:solidFill>
              <a:srgbClr val="F47719"/>
            </a:solidFill>
          </a:ln>
        </p:spPr>
      </p:sp>
      <p:sp>
        <p:nvSpPr>
          <p:cNvPr id="34" name="text">
            <a:extLst xmlns:a="http://schemas.openxmlformats.org/drawingml/2006/main">
              <a:ext uri="{FF2B5EF4-FFF2-40B4-BE49-F238E27FC236}">
                <a16:creationId xmlns:a16="http://schemas.microsoft.com/office/drawing/2014/main" id="{CBEF6402-C1A8-46C8-8CEA-6A265034590B}"/>
              </a:ext>
            </a:extLst>
          </p:cNvPr>
          <p:cNvSpPr>
            <a:spLocks xmlns:a="http://schemas.openxmlformats.org/drawingml/2006/main" noGrp="1"/>
          </p:cNvSpPr>
          <p:nvPr/>
        </p:nvSpPr>
        <p:spPr>
          <a:xfrm xmlns:a="http://schemas.openxmlformats.org/drawingml/2006/main">
            <a:off x="6413500" y="7797800"/>
            <a:ext cx="99695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F47719"/>
                </a:solidFill>
                <a:latin typeface="Calibri"/>
                <a:ea typeface="Calibri"/>
                <a:cs typeface="Calibri"/>
              </a:defRPr>
            </a:pPr>
            <a:r>
              <a:rPr sz="2300" b="1">
                <a:solidFill>
                  <a:srgbClr val="F47719"/>
                </a:solidFill>
                <a:latin typeface="Calibri"/>
                <a:ea typeface="Calibri"/>
                <a:cs typeface="Calibri"/>
              </a:rPr>
              <a:t>Gap found: reviewed feedback to specification or planning</a:t>
            </a:r>
          </a:p>
        </p:txBody>
      </p:sp>
      <p:sp>
        <p:nvSpPr>
          <p:cNvPr id="35" name="text">
            <a:extLst xmlns:a="http://schemas.openxmlformats.org/drawingml/2006/main">
              <a:ext uri="{FF2B5EF4-FFF2-40B4-BE49-F238E27FC236}">
                <a16:creationId xmlns:a16="http://schemas.microsoft.com/office/drawing/2014/main" id="{3162D548-E37D-4AF7-8C9A-AD98CEDE8C6B}"/>
              </a:ext>
            </a:extLst>
          </p:cNvPr>
          <p:cNvSpPr>
            <a:spLocks xmlns:a="http://schemas.openxmlformats.org/drawingml/2006/main" noGrp="1"/>
          </p:cNvSpPr>
          <p:nvPr/>
        </p:nvSpPr>
        <p:spPr>
          <a:xfrm xmlns:a="http://schemas.openxmlformats.org/drawingml/2006/main">
            <a:off x="762000" y="8458200"/>
            <a:ext cx="16764000" cy="411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b="1">
                <a:latin typeface="Calibri"/>
                <a:ea typeface="Calibri"/>
                <a:cs typeface="Calibri"/>
              </a:rPr>
              <a:t>F04 feedback loop:</a:t>
            </a:r>
            <a:r>
              <a:rPr b="0">
                <a:latin typeface="Calibri"/>
                <a:ea typeface="Calibri"/>
                <a:cs typeface="Calibri"/>
              </a:rPr>
              <a:t> A missing publication condition becomes a traceable task, followed by a code change and a targeted test.</a:t>
            </a:r>
          </a:p>
        </p:txBody>
      </p:sp>
      <p:sp>
        <p:nvSpPr>
          <p:cNvPr id="36" name="text">
            <a:extLst xmlns:a="http://schemas.openxmlformats.org/drawingml/2006/main">
              <a:ext uri="{FF2B5EF4-FFF2-40B4-BE49-F238E27FC236}">
                <a16:creationId xmlns:a16="http://schemas.microsoft.com/office/drawing/2014/main" id="{91A94D5F-EEA1-43AF-80B7-D1102656C2A1}"/>
              </a:ext>
            </a:extLst>
          </p:cNvPr>
          <p:cNvSpPr>
            <a:spLocks xmlns:a="http://schemas.openxmlformats.org/drawingml/2006/main" noGrp="1"/>
          </p:cNvSpPr>
          <p:nvPr/>
        </p:nvSpPr>
        <p:spPr>
          <a:xfrm xmlns:a="http://schemas.openxmlformats.org/drawingml/2006/main">
            <a:off x="762000" y="8996299"/>
            <a:ext cx="16764000" cy="411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b="0">
                <a:latin typeface="Calibri"/>
                <a:ea typeface="Calibri"/>
                <a:cs typeface="Calibri"/>
              </a:rPr>
              <a:t>Requirements can change through a versioned, reviewed update.</a:t>
            </a:r>
          </a:p>
        </p:txBody>
      </p:sp>
    </p:spTree>
    <p:extLst>
      <p:ext uri="{BB962C8B-B14F-4D97-AF65-F5344CB8AC3E}">
        <p14:creationId xmlns:p14="http://schemas.microsoft.com/office/powerpoint/2010/main" val="18432882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C2922DF3-2A45-47BB-A22C-147EF2684B4E}"/>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4.3. Writing Testable Requirements</a:t>
            </a:r>
          </a:p>
        </p:txBody>
      </p:sp>
      <p:sp>
        <p:nvSpPr>
          <p:cNvPr id="2" name="">
            <a:extLst xmlns:a="http://schemas.openxmlformats.org/drawingml/2006/main">
              <a:ext uri="{FF2B5EF4-FFF2-40B4-BE49-F238E27FC236}">
                <a16:creationId xmlns:a16="http://schemas.microsoft.com/office/drawing/2014/main" id="{E221386B-72B1-43D6-A4FE-BDFB196ADBF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B38E085C-B1F0-434C-AB23-81D9A25929E9}"/>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F0AAE399-D73B-447D-AC81-71CE8C918ABE}"/>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FR-001/003/004/005/007; Playbook §5.3</a:t>
            </a:r>
          </a:p>
        </p:txBody>
      </p:sp>
      <p:sp>
        <p:nvSpPr>
          <p:cNvPr id="5" name="text">
            <a:extLst xmlns:a="http://schemas.openxmlformats.org/drawingml/2006/main">
              <a:ext uri="{FF2B5EF4-FFF2-40B4-BE49-F238E27FC236}">
                <a16:creationId xmlns:a16="http://schemas.microsoft.com/office/drawing/2014/main" id="{472E1735-431F-49E7-9AE9-D8C92F7A5277}"/>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15 / 32</a:t>
            </a:r>
          </a:p>
        </p:txBody>
      </p:sp>
      <p:sp>
        <p:nvSpPr>
          <p:cNvPr id="6" name="text">
            <a:extLst xmlns:a="http://schemas.openxmlformats.org/drawingml/2006/main">
              <a:ext uri="{FF2B5EF4-FFF2-40B4-BE49-F238E27FC236}">
                <a16:creationId xmlns:a16="http://schemas.microsoft.com/office/drawing/2014/main" id="{FA01800B-B753-4926-994F-F89CB7FB6CB7}"/>
              </a:ext>
            </a:extLst>
          </p:cNvPr>
          <p:cNvSpPr>
            <a:spLocks xmlns:a="http://schemas.openxmlformats.org/drawingml/2006/main" noGrp="1"/>
          </p:cNvSpPr>
          <p:nvPr/>
        </p:nvSpPr>
        <p:spPr>
          <a:xfrm xmlns:a="http://schemas.openxmlformats.org/drawingml/2006/main">
            <a:off x="762000" y="1790700"/>
            <a:ext cx="1676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useful requirement identifies the trigger, preconditions, expected behavior, and rejection conditions.</a:t>
            </a:r>
          </a:p>
        </p:txBody>
      </p:sp>
      <p:sp>
        <p:nvSpPr>
          <p:cNvPr id="7" name="text">
            <a:extLst xmlns:a="http://schemas.openxmlformats.org/drawingml/2006/main">
              <a:ext uri="{FF2B5EF4-FFF2-40B4-BE49-F238E27FC236}">
                <a16:creationId xmlns:a16="http://schemas.microsoft.com/office/drawing/2014/main" id="{D3F3C32E-7742-45F4-B419-95B4E1BFCD5D}"/>
              </a:ext>
            </a:extLst>
          </p:cNvPr>
          <p:cNvSpPr>
            <a:spLocks xmlns:a="http://schemas.openxmlformats.org/drawingml/2006/main" noGrp="1"/>
          </p:cNvSpPr>
          <p:nvPr/>
        </p:nvSpPr>
        <p:spPr>
          <a:xfrm xmlns:a="http://schemas.openxmlformats.org/drawingml/2006/main">
            <a:off x="762000" y="2997200"/>
            <a:ext cx="46990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F47719"/>
                </a:solidFill>
                <a:latin typeface="Calibri"/>
                <a:ea typeface="Calibri"/>
                <a:cs typeface="Calibri"/>
              </a:defRPr>
            </a:pPr>
            <a:r>
              <a:rPr sz="2800" b="1">
                <a:solidFill>
                  <a:srgbClr val="F47719"/>
                </a:solidFill>
                <a:latin typeface="Calibri"/>
                <a:ea typeface="Calibri"/>
                <a:cs typeface="Calibri"/>
              </a:rPr>
              <a:t>Initial request</a:t>
            </a:r>
          </a:p>
        </p:txBody>
      </p:sp>
      <p:sp>
        <p:nvSpPr>
          <p:cNvPr id="8" name="text">
            <a:extLst xmlns:a="http://schemas.openxmlformats.org/drawingml/2006/main">
              <a:ext uri="{FF2B5EF4-FFF2-40B4-BE49-F238E27FC236}">
                <a16:creationId xmlns:a16="http://schemas.microsoft.com/office/drawing/2014/main" id="{2A49569B-14C8-439D-A92C-C069A1E2CD6C}"/>
              </a:ext>
            </a:extLst>
          </p:cNvPr>
          <p:cNvSpPr>
            <a:spLocks xmlns:a="http://schemas.openxmlformats.org/drawingml/2006/main" noGrp="1"/>
          </p:cNvSpPr>
          <p:nvPr/>
        </p:nvSpPr>
        <p:spPr>
          <a:xfrm xmlns:a="http://schemas.openxmlformats.org/drawingml/2006/main">
            <a:off x="762000" y="3441700"/>
            <a:ext cx="4699000" cy="909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“An administrator can publish a</a:t>
            </a:r>
          </a:p>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lesson.”</a:t>
            </a:r>
          </a:p>
        </p:txBody>
      </p:sp>
      <p:sp>
        <p:nvSpPr>
          <p:cNvPr id="9" name="">
            <a:extLst xmlns:a="http://schemas.openxmlformats.org/drawingml/2006/main">
              <a:ext uri="{FF2B5EF4-FFF2-40B4-BE49-F238E27FC236}">
                <a16:creationId xmlns:a16="http://schemas.microsoft.com/office/drawing/2014/main" id="{B4365881-6813-44AC-921C-5F06629BD7B8}"/>
              </a:ext>
            </a:extLst>
          </p:cNvPr>
          <p:cNvSpPr>
            <a:spLocks xmlns:a="http://schemas.openxmlformats.org/drawingml/2006/main" noGrp="1"/>
          </p:cNvSpPr>
          <p:nvPr/>
        </p:nvSpPr>
        <p:spPr>
          <a:xfrm xmlns:a="http://schemas.openxmlformats.org/drawingml/2006/main" flipH="0" flipV="0">
            <a:off x="5969000" y="2921000"/>
            <a:ext cx="0" cy="520700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0" name="text">
            <a:extLst xmlns:a="http://schemas.openxmlformats.org/drawingml/2006/main">
              <a:ext uri="{FF2B5EF4-FFF2-40B4-BE49-F238E27FC236}">
                <a16:creationId xmlns:a16="http://schemas.microsoft.com/office/drawing/2014/main" id="{72DCF83B-6658-4A26-8DF3-DBCBC4715F54}"/>
              </a:ext>
            </a:extLst>
          </p:cNvPr>
          <p:cNvSpPr>
            <a:spLocks xmlns:a="http://schemas.openxmlformats.org/drawingml/2006/main" noGrp="1"/>
          </p:cNvSpPr>
          <p:nvPr/>
        </p:nvSpPr>
        <p:spPr>
          <a:xfrm xmlns:a="http://schemas.openxmlformats.org/drawingml/2006/main">
            <a:off x="6477000" y="28702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Refined requirement</a:t>
            </a:r>
          </a:p>
        </p:txBody>
      </p:sp>
      <p:sp>
        <p:nvSpPr>
          <p:cNvPr id="11" name="text">
            <a:extLst xmlns:a="http://schemas.openxmlformats.org/drawingml/2006/main">
              <a:ext uri="{FF2B5EF4-FFF2-40B4-BE49-F238E27FC236}">
                <a16:creationId xmlns:a16="http://schemas.microsoft.com/office/drawing/2014/main" id="{C2272A51-8DF6-47C6-8A54-8F2E5B768FA7}"/>
              </a:ext>
            </a:extLst>
          </p:cNvPr>
          <p:cNvSpPr>
            <a:spLocks xmlns:a="http://schemas.openxmlformats.org/drawingml/2006/main" noGrp="1"/>
          </p:cNvSpPr>
          <p:nvPr/>
        </p:nvSpPr>
        <p:spPr>
          <a:xfrm xmlns:a="http://schemas.openxmlformats.org/drawingml/2006/main">
            <a:off x="6477000" y="3314700"/>
            <a:ext cx="11049000" cy="849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When an authorized administrator requests publication using the current</a:t>
            </a:r>
          </a:p>
          <a:p xmlns:a="http://schemas.openxmlformats.org/drawingml/2006/main">
            <a:pPr algn="l">
              <a:defRPr sz="2600" b="0">
                <a:solidFill>
                  <a:srgbClr val="111827"/>
                </a:solidFill>
                <a:latin typeface="Calibri"/>
                <a:ea typeface="Calibri"/>
                <a:cs typeface="Calibri"/>
              </a:defRPr>
            </a:pPr>
            <a:r>
              <a:rPr sz="2600" b="0">
                <a:solidFill>
                  <a:srgbClr val="111827"/>
                </a:solidFill>
                <a:latin typeface="Calibri"/>
                <a:ea typeface="Calibri"/>
                <a:cs typeface="Calibri"/>
              </a:rPr>
              <a:t>version, the system shall publish the lesson only if all publication conditions hold.</a:t>
            </a:r>
          </a:p>
        </p:txBody>
      </p:sp>
      <p:sp>
        <p:nvSpPr>
          <p:cNvPr id="12" name="text">
            <a:extLst xmlns:a="http://schemas.openxmlformats.org/drawingml/2006/main">
              <a:ext uri="{FF2B5EF4-FFF2-40B4-BE49-F238E27FC236}">
                <a16:creationId xmlns:a16="http://schemas.microsoft.com/office/drawing/2014/main" id="{2E6E6AD2-EACC-49AC-817C-D776E4E6EC16}"/>
              </a:ext>
            </a:extLst>
          </p:cNvPr>
          <p:cNvSpPr>
            <a:spLocks xmlns:a="http://schemas.openxmlformats.org/drawingml/2006/main" noGrp="1"/>
          </p:cNvSpPr>
          <p:nvPr/>
        </p:nvSpPr>
        <p:spPr>
          <a:xfrm xmlns:a="http://schemas.openxmlformats.org/drawingml/2006/main">
            <a:off x="6477000" y="4443476"/>
            <a:ext cx="110490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0070C0"/>
                </a:solidFill>
                <a:latin typeface="Calibri"/>
                <a:ea typeface="Calibri"/>
                <a:cs typeface="Calibri"/>
              </a:defRPr>
            </a:pPr>
            <a:r>
              <a:rPr sz="2600" b="1">
                <a:solidFill>
                  <a:srgbClr val="0070C0"/>
                </a:solidFill>
                <a:latin typeface="Calibri"/>
                <a:ea typeface="Calibri"/>
                <a:cs typeface="Calibri"/>
              </a:rPr>
              <a:t>Publication conditions in F04</a:t>
            </a:r>
          </a:p>
        </p:txBody>
      </p:sp>
      <p:sp>
        <p:nvSpPr>
          <p:cNvPr id="13" name="text">
            <a:extLst xmlns:a="http://schemas.openxmlformats.org/drawingml/2006/main">
              <a:ext uri="{FF2B5EF4-FFF2-40B4-BE49-F238E27FC236}">
                <a16:creationId xmlns:a16="http://schemas.microsoft.com/office/drawing/2014/main" id="{C8C6CCC5-B763-481E-B71A-978412620773}"/>
              </a:ext>
            </a:extLst>
          </p:cNvPr>
          <p:cNvSpPr>
            <a:spLocks xmlns:a="http://schemas.openxmlformats.org/drawingml/2006/main" noGrp="1"/>
          </p:cNvSpPr>
          <p:nvPr/>
        </p:nvSpPr>
        <p:spPr>
          <a:xfrm xmlns:a="http://schemas.openxmlformats.org/drawingml/2006/main">
            <a:off x="6477000" y="5053076"/>
            <a:ext cx="11049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55600" indent="-254000" algn="l">
              <a:spcAft>
                <a:spcPts val="800"/>
              </a:spcAft>
              <a:buChar char="•"/>
              <a:defRPr sz="2600" b="0">
                <a:solidFill>
                  <a:srgbClr val="111827"/>
                </a:solidFill>
                <a:latin typeface="Calibri"/>
                <a:ea typeface="Calibri"/>
                <a:cs typeface="Calibri"/>
              </a:defRPr>
            </a:pPr>
            <a:r>
              <a:rPr sz="2600" b="0">
                <a:solidFill>
                  <a:srgbClr val="111827"/>
                </a:solidFill>
                <a:latin typeface="Calibri"/>
                <a:ea typeface="Calibri"/>
                <a:cs typeface="Calibri"/>
              </a:rPr>
              <a:t>The parent topic is PUBLISHED.</a:t>
            </a:r>
          </a:p>
          <a:p xmlns:a="http://schemas.openxmlformats.org/drawingml/2006/main">
            <a:pPr marL="355600" indent="-254000" algn="l">
              <a:spcAft>
                <a:spcPts val="800"/>
              </a:spcAft>
              <a:buChar char="•"/>
              <a:defRPr sz="2600" b="0">
                <a:solidFill>
                  <a:srgbClr val="111827"/>
                </a:solidFill>
                <a:latin typeface="Calibri"/>
                <a:ea typeface="Calibri"/>
                <a:cs typeface="Calibri"/>
              </a:defRPr>
            </a:pPr>
            <a:r>
              <a:rPr sz="2600" b="0">
                <a:solidFill>
                  <a:srgbClr val="111827"/>
                </a:solidFill>
                <a:latin typeface="Calibri"/>
                <a:ea typeface="Calibri"/>
                <a:cs typeface="Calibri"/>
              </a:rPr>
              <a:t>The lesson has FREE access and at least one segment.</a:t>
            </a:r>
          </a:p>
          <a:p xmlns:a="http://schemas.openxmlformats.org/drawingml/2006/main">
            <a:pPr marL="355600" indent="-254000" algn="l">
              <a:spcAft>
                <a:spcPts val="800"/>
              </a:spcAft>
              <a:buChar char="•"/>
              <a:defRPr sz="2600" b="0">
                <a:solidFill>
                  <a:srgbClr val="111827"/>
                </a:solidFill>
                <a:latin typeface="Calibri"/>
                <a:ea typeface="Calibri"/>
                <a:cs typeface="Calibri"/>
              </a:defRPr>
            </a:pPr>
            <a:r>
              <a:rPr sz="2600" b="0">
                <a:solidFill>
                  <a:srgbClr val="111827"/>
                </a:solidFill>
                <a:latin typeface="Calibri"/>
                <a:ea typeface="Calibri"/>
                <a:cs typeface="Calibri"/>
              </a:rPr>
              <a:t>Every segment is PUBLISHED.</a:t>
            </a:r>
          </a:p>
          <a:p xmlns:a="http://schemas.openxmlformats.org/drawingml/2006/main">
            <a:pPr marL="355600" indent="-254000" algn="l">
              <a:spcAft>
                <a:spcPts val="800"/>
              </a:spcAft>
              <a:buChar char="•"/>
              <a:defRPr sz="2600" b="0">
                <a:solidFill>
                  <a:srgbClr val="111827"/>
                </a:solidFill>
                <a:latin typeface="Calibri"/>
                <a:ea typeface="Calibri"/>
                <a:cs typeface="Calibri"/>
              </a:defRPr>
            </a:pPr>
            <a:r>
              <a:rPr sz="2600" b="0">
                <a:solidFill>
                  <a:srgbClr val="111827"/>
                </a:solidFill>
                <a:latin typeface="Calibri"/>
                <a:ea typeface="Calibri"/>
                <a:cs typeface="Calibri"/>
              </a:rPr>
              <a:t>Every referenced media asset is APPROVED.</a:t>
            </a:r>
          </a:p>
          <a:p xmlns:a="http://schemas.openxmlformats.org/drawingml/2006/main">
            <a:pPr marL="355600" indent="-254000" algn="l">
              <a:spcAft>
                <a:spcPts val="800"/>
              </a:spcAft>
              <a:buChar char="•"/>
              <a:defRPr sz="2600" b="0">
                <a:solidFill>
                  <a:srgbClr val="111827"/>
                </a:solidFill>
                <a:latin typeface="Calibri"/>
                <a:ea typeface="Calibri"/>
                <a:cs typeface="Calibri"/>
              </a:defRPr>
            </a:pPr>
            <a:r>
              <a:rPr sz="2600" b="0">
                <a:solidFill>
                  <a:srgbClr val="111827"/>
                </a:solidFill>
                <a:latin typeface="Calibri"/>
                <a:ea typeface="Calibri"/>
                <a:cs typeface="Calibri"/>
              </a:rPr>
              <a:t>The lesson is not ARCHIVED.</a:t>
            </a:r>
          </a:p>
        </p:txBody>
      </p:sp>
      <p:sp>
        <p:nvSpPr>
          <p:cNvPr id="14" name="text">
            <a:extLst xmlns:a="http://schemas.openxmlformats.org/drawingml/2006/main">
              <a:ext uri="{FF2B5EF4-FFF2-40B4-BE49-F238E27FC236}">
                <a16:creationId xmlns:a16="http://schemas.microsoft.com/office/drawing/2014/main" id="{DADCE071-9577-4723-850B-6CC1C5AEC1A7}"/>
              </a:ext>
            </a:extLst>
          </p:cNvPr>
          <p:cNvSpPr>
            <a:spLocks xmlns:a="http://schemas.openxmlformats.org/drawingml/2006/main" noGrp="1"/>
          </p:cNvSpPr>
          <p:nvPr/>
        </p:nvSpPr>
        <p:spPr>
          <a:xfrm xmlns:a="http://schemas.openxmlformats.org/drawingml/2006/main">
            <a:off x="762000" y="8382000"/>
            <a:ext cx="16764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0070C0"/>
                </a:solidFill>
                <a:latin typeface="Calibri"/>
                <a:ea typeface="Calibri"/>
                <a:cs typeface="Calibri"/>
              </a:defRPr>
            </a:pPr>
            <a:r>
              <a:rPr sz="2300" b="1">
                <a:solidFill>
                  <a:srgbClr val="0070C0"/>
                </a:solidFill>
                <a:latin typeface="Calibri"/>
                <a:ea typeface="Calibri"/>
                <a:cs typeface="Calibri"/>
              </a:rPr>
              <a:t>Failure behavior</a:t>
            </a:r>
          </a:p>
        </p:txBody>
      </p:sp>
      <p:sp>
        <p:nvSpPr>
          <p:cNvPr id="15" name="text">
            <a:extLst xmlns:a="http://schemas.openxmlformats.org/drawingml/2006/main">
              <a:ext uri="{FF2B5EF4-FFF2-40B4-BE49-F238E27FC236}">
                <a16:creationId xmlns:a16="http://schemas.microsoft.com/office/drawing/2014/main" id="{E9153980-CF1C-4CEA-B332-792885C2D8A3}"/>
              </a:ext>
            </a:extLst>
          </p:cNvPr>
          <p:cNvSpPr>
            <a:spLocks xmlns:a="http://schemas.openxmlformats.org/drawingml/2006/main" noGrp="1"/>
          </p:cNvSpPr>
          <p:nvPr/>
        </p:nvSpPr>
        <p:spPr>
          <a:xfrm xmlns:a="http://schemas.openxmlformats.org/drawingml/2006/main">
            <a:off x="762000" y="8826500"/>
            <a:ext cx="16764000" cy="411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sz="2300" b="0">
                <a:solidFill>
                  <a:srgbClr val="111827"/>
                </a:solidFill>
                <a:latin typeface="Calibri"/>
                <a:ea typeface="Calibri"/>
                <a:cs typeface="Calibri"/>
              </a:rPr>
              <a:t>Reject invalid publication or a stale version without applying the requested state change.</a:t>
            </a:r>
          </a:p>
        </p:txBody>
      </p:sp>
      <p:sp>
        <p:nvSpPr>
          <p:cNvPr id="16" name="text">
            <a:extLst xmlns:a="http://schemas.openxmlformats.org/drawingml/2006/main">
              <a:ext uri="{FF2B5EF4-FFF2-40B4-BE49-F238E27FC236}">
                <a16:creationId xmlns:a16="http://schemas.microsoft.com/office/drawing/2014/main" id="{8B3499E3-5BB2-4B78-8E60-6AD6519D8A97}"/>
              </a:ext>
            </a:extLst>
          </p:cNvPr>
          <p:cNvSpPr>
            <a:spLocks xmlns:a="http://schemas.openxmlformats.org/drawingml/2006/main" noGrp="1"/>
          </p:cNvSpPr>
          <p:nvPr/>
        </p:nvSpPr>
        <p:spPr>
          <a:xfrm xmlns:a="http://schemas.openxmlformats.org/drawingml/2006/main">
            <a:off x="762000" y="9296400"/>
            <a:ext cx="1676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Presentation synthesis of FR-001, FR-003, FR-004, FR-005, and FR-007.</a:t>
            </a:r>
          </a:p>
        </p:txBody>
      </p:sp>
    </p:spTree>
    <p:extLst>
      <p:ext uri="{BB962C8B-B14F-4D97-AF65-F5344CB8AC3E}">
        <p14:creationId xmlns:p14="http://schemas.microsoft.com/office/powerpoint/2010/main" val="13542307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4FB58CF6-DACE-4D94-8C6F-CC9E818FFBA1}"/>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4.4. Defining Acceptance Scenarios</a:t>
            </a:r>
          </a:p>
        </p:txBody>
      </p:sp>
      <p:sp>
        <p:nvSpPr>
          <p:cNvPr id="2" name="">
            <a:extLst xmlns:a="http://schemas.openxmlformats.org/drawingml/2006/main">
              <a:ext uri="{FF2B5EF4-FFF2-40B4-BE49-F238E27FC236}">
                <a16:creationId xmlns:a16="http://schemas.microsoft.com/office/drawing/2014/main" id="{2EF48CC0-4893-4577-B777-6A72E92D3E5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AF5863C4-AE10-4C3D-B714-7E04FEB90FE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4E9FBF9F-07BC-4994-9947-3BFF5B995D28}"/>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spec and quickstart; publication unit tests</a:t>
            </a:r>
          </a:p>
        </p:txBody>
      </p:sp>
      <p:sp>
        <p:nvSpPr>
          <p:cNvPr id="5" name="text">
            <a:extLst xmlns:a="http://schemas.openxmlformats.org/drawingml/2006/main">
              <a:ext uri="{FF2B5EF4-FFF2-40B4-BE49-F238E27FC236}">
                <a16:creationId xmlns:a16="http://schemas.microsoft.com/office/drawing/2014/main" id="{2B6EAEE3-BD19-4323-BB8B-BDBF99FF7D88}"/>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16 / 32</a:t>
            </a:r>
          </a:p>
        </p:txBody>
      </p:sp>
      <p:sp>
        <p:nvSpPr>
          <p:cNvPr id="6" name="text">
            <a:extLst xmlns:a="http://schemas.openxmlformats.org/drawingml/2006/main">
              <a:ext uri="{FF2B5EF4-FFF2-40B4-BE49-F238E27FC236}">
                <a16:creationId xmlns:a16="http://schemas.microsoft.com/office/drawing/2014/main" id="{1E905FF3-D325-4829-AEE5-C499FD157F74}"/>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Acceptance scenarios turn publication rules into observable checks.</a:t>
            </a:r>
          </a:p>
        </p:txBody>
      </p:sp>
      <p:graphicFrame>
        <p:nvGraphicFramePr>
          <p:cNvPr id="15" name=""/>
          <p:cNvGraphicFramePr/>
          <p:nvPr/>
        </p:nvGraphicFramePr>
        <p:xfrm>
          <a:off xmlns:a="http://schemas.openxmlformats.org/drawingml/2006/main" x="762000" y="2473325"/>
          <a:ext xmlns:a="http://schemas.openxmlformats.org/drawingml/2006/main" cx="16764000" cy="5713603"/>
        </p:xfrm>
        <a:graphic xmlns:a="http://schemas.openxmlformats.org/drawingml/2006/main">
          <a:graphicData uri="http://schemas.openxmlformats.org/drawingml/2006/table">
            <a:tbl>
              <a:tblPr firstRow="1" bandRow="0"/>
              <a:tblGrid>
                <a:gridCol w="6705600"/>
                <a:gridCol w="4023360"/>
                <a:gridCol w="6035040"/>
              </a:tblGrid>
              <a:tr h="710459">
                <a:tc>
                  <a:txBody>
                    <a:bodyPr wrap="square">
                      <a:noAutofit/>
                    </a:bodyPr>
                    <a:lstStyle/>
                    <a:p>
                      <a:r>
                        <a:rPr sz="2400" b="1">
                          <a:solidFill>
                            <a:srgbClr val="111827"/>
                          </a:solidFill>
                          <a:latin typeface="Calibri"/>
                          <a:ea typeface="Calibri"/>
                          <a:cs typeface="Calibri"/>
                        </a:rPr>
                        <a:t>Given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When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Then</a:t>
                      </a:r>
                    </a:p>
                  </a:txBody>
                  <a:tcPr marL="165100" marR="165100" marT="127000" marB="127000" anchor="ctr">
                    <a:solidFill>
                      <a:srgbClr val="D8EDF4"/>
                    </a:solidFill>
                  </a:tcPr>
                </a:tc>
              </a:tr>
              <a:tr h="1073171">
                <a:tc>
                  <a:txBody>
                    <a:bodyPr wrap="square">
                      <a:noAutofit/>
                    </a:bodyPr>
                    <a:lstStyle/>
                    <a:p>
                      <a:r>
                        <a:rPr sz="2400" b="0">
                          <a:solidFill>
                            <a:srgbClr val="111827"/>
                          </a:solidFill>
                          <a:latin typeface="Calibri"/>
                          <a:ea typeface="Calibri"/>
                          <a:cs typeface="Calibri"/>
                        </a:rPr>
                        <a:t>A draft Free lesson meets every publication condition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An admin publishes with the current version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The lesson becomes PUBLISHED</a:t>
                      </a:r>
                    </a:p>
                  </a:txBody>
                  <a:tcPr marL="165100" marR="165100" marT="127000" marB="127000" anchor="ctr">
                    <a:solidFill>
                      <a:srgbClr val="FFFFFF"/>
                    </a:solidFill>
                  </a:tcPr>
                </a:tc>
              </a:tr>
              <a:tr h="1073171">
                <a:tc>
                  <a:txBody>
                    <a:bodyPr wrap="square">
                      <a:noAutofit/>
                    </a:bodyPr>
                    <a:lstStyle/>
                    <a:p>
                      <a:r>
                        <a:rPr sz="2400" b="0">
                          <a:solidFill>
                            <a:srgbClr val="111827"/>
                          </a:solidFill>
                          <a:latin typeface="Calibri"/>
                          <a:ea typeface="Calibri"/>
                          <a:cs typeface="Calibri"/>
                        </a:rPr>
                        <a:t>A draft lesson has no segments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An admin requests publication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Reject and preserve its state</a:t>
                      </a:r>
                    </a:p>
                  </a:txBody>
                  <a:tcPr marL="165100" marR="165100" marT="127000" marB="127000" anchor="ctr">
                    <a:solidFill>
                      <a:srgbClr val="F3F8FB"/>
                    </a:solidFill>
                  </a:tcPr>
                </a:tc>
              </a:tr>
              <a:tr h="1073171">
                <a:tc>
                  <a:txBody>
                    <a:bodyPr wrap="square">
                      <a:noAutofit/>
                    </a:bodyPr>
                    <a:lstStyle/>
                    <a:p>
                      <a:r>
                        <a:rPr sz="2400" b="0">
                          <a:solidFill>
                            <a:srgbClr val="111827"/>
                          </a:solidFill>
                          <a:latin typeface="Calibri"/>
                          <a:ea typeface="Calibri"/>
                          <a:cs typeface="Calibri"/>
                        </a:rPr>
                        <a:t>One associated segment remains DRAFT</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An admin requests publication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Reject and preserve the lesson state</a:t>
                      </a:r>
                    </a:p>
                  </a:txBody>
                  <a:tcPr marL="165100" marR="165100" marT="127000" marB="127000" anchor="ctr">
                    <a:solidFill>
                      <a:srgbClr val="FFFFFF"/>
                    </a:solidFill>
                  </a:tcPr>
                </a:tc>
              </a:tr>
              <a:tr h="1073171">
                <a:tc>
                  <a:txBody>
                    <a:bodyPr wrap="square">
                      <a:noAutofit/>
                    </a:bodyPr>
                    <a:lstStyle/>
                    <a:p>
                      <a:r>
                        <a:rPr sz="2400" b="0">
                          <a:solidFill>
                            <a:srgbClr val="111827"/>
                          </a:solidFill>
                          <a:latin typeface="Calibri"/>
                          <a:ea typeface="Calibri"/>
                          <a:cs typeface="Calibri"/>
                        </a:rPr>
                        <a:t>A referenced media asset is not APPROVED</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An admin requests publication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Reject and preserve the lesson state</a:t>
                      </a:r>
                    </a:p>
                  </a:txBody>
                  <a:tcPr marL="165100" marR="165100" marT="127000" marB="127000" anchor="ctr">
                    <a:solidFill>
                      <a:srgbClr val="F3F8FB"/>
                    </a:solidFill>
                  </a:tcPr>
                </a:tc>
              </a:tr>
              <a:tr h="710459">
                <a:tc>
                  <a:txBody>
                    <a:bodyPr wrap="square">
                      <a:noAutofit/>
                    </a:bodyPr>
                    <a:lstStyle/>
                    <a:p>
                      <a:r>
                        <a:rPr sz="2400" b="0">
                          <a:solidFill>
                            <a:srgbClr val="111827"/>
                          </a:solidFill>
                          <a:latin typeface="Calibri"/>
                          <a:ea typeface="Calibri"/>
                          <a:cs typeface="Calibri"/>
                        </a:rPr>
                        <a:t>The request contains an old version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An admin requests an update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Return a conflict and require a reload</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CD4D0546-EBEF-4C1D-AF63-9C7109CC363A}"/>
              </a:ext>
            </a:extLst>
          </p:cNvPr>
          <p:cNvSpPr>
            <a:spLocks xmlns:a="http://schemas.openxmlformats.org/drawingml/2006/main" noGrp="1"/>
          </p:cNvSpPr>
          <p:nvPr/>
        </p:nvSpPr>
        <p:spPr>
          <a:xfrm xmlns:a="http://schemas.openxmlformats.org/drawingml/2006/main">
            <a:off x="762000" y="8415528"/>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Evidence boundary:</a:t>
            </a:r>
            <a:r>
              <a:rPr b="0">
                <a:latin typeface="Calibri"/>
                <a:ea typeface="Calibri"/>
                <a:cs typeface="Calibri"/>
              </a:rPr>
              <a:t> The selected unit suite exercises the first three scenarios. Media approval and API conflict behavior require additional case-level verification.</a:t>
            </a:r>
          </a:p>
        </p:txBody>
      </p:sp>
    </p:spTree>
    <p:extLst>
      <p:ext uri="{BB962C8B-B14F-4D97-AF65-F5344CB8AC3E}">
        <p14:creationId xmlns:p14="http://schemas.microsoft.com/office/powerpoint/2010/main" val="7189311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02A13C9A-5974-4FDF-BE57-823B329CDF50}"/>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4.5. Specification Depth Based on Risk</a:t>
            </a:r>
          </a:p>
        </p:txBody>
      </p:sp>
      <p:sp>
        <p:nvSpPr>
          <p:cNvPr id="2" name="">
            <a:extLst xmlns:a="http://schemas.openxmlformats.org/drawingml/2006/main">
              <a:ext uri="{FF2B5EF4-FFF2-40B4-BE49-F238E27FC236}">
                <a16:creationId xmlns:a16="http://schemas.microsoft.com/office/drawing/2014/main" id="{04E676AD-F26A-4B36-9E09-0A1CF0C23C2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149DCB3D-1424-4828-9174-8B4836636142}"/>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810CB988-D12F-43C9-A924-B22E85221969}"/>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§5.4, §13.2, §13.6</a:t>
            </a:r>
          </a:p>
        </p:txBody>
      </p:sp>
      <p:sp>
        <p:nvSpPr>
          <p:cNvPr id="5" name="text">
            <a:extLst xmlns:a="http://schemas.openxmlformats.org/drawingml/2006/main">
              <a:ext uri="{FF2B5EF4-FFF2-40B4-BE49-F238E27FC236}">
                <a16:creationId xmlns:a16="http://schemas.microsoft.com/office/drawing/2014/main" id="{D8BD6C8A-DFEA-4727-96E8-D47CC16DFA0D}"/>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17 / 32</a:t>
            </a:r>
          </a:p>
        </p:txBody>
      </p:sp>
      <p:sp>
        <p:nvSpPr>
          <p:cNvPr id="6" name="text">
            <a:extLst xmlns:a="http://schemas.openxmlformats.org/drawingml/2006/main">
              <a:ext uri="{FF2B5EF4-FFF2-40B4-BE49-F238E27FC236}">
                <a16:creationId xmlns:a16="http://schemas.microsoft.com/office/drawing/2014/main" id="{A5149B55-4612-4222-AC71-1E2E16F941AB}"/>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The required depth depends on failure impact and the complexity of the behavior.</a:t>
            </a:r>
          </a:p>
        </p:txBody>
      </p:sp>
      <p:graphicFrame>
        <p:nvGraphicFramePr>
          <p:cNvPr id="17" name=""/>
          <p:cNvGraphicFramePr/>
          <p:nvPr/>
        </p:nvGraphicFramePr>
        <p:xfrm>
          <a:off xmlns:a="http://schemas.openxmlformats.org/drawingml/2006/main" x="762000" y="2473325"/>
          <a:ext xmlns:a="http://schemas.openxmlformats.org/drawingml/2006/main" cx="16764000" cy="4157472"/>
        </p:xfrm>
        <a:graphic xmlns:a="http://schemas.openxmlformats.org/drawingml/2006/main">
          <a:graphicData uri="http://schemas.openxmlformats.org/drawingml/2006/table">
            <a:tbl>
              <a:tblPr firstRow="1" bandRow="0"/>
              <a:tblGrid>
                <a:gridCol w="4861560"/>
                <a:gridCol w="5196840"/>
                <a:gridCol w="6705600"/>
              </a:tblGrid>
              <a:tr h="858012">
                <a:tc>
                  <a:txBody>
                    <a:bodyPr wrap="square">
                      <a:noAutofit/>
                    </a:bodyPr>
                    <a:lstStyle/>
                    <a:p>
                      <a:r>
                        <a:rPr sz="2400" b="1">
                          <a:solidFill>
                            <a:srgbClr val="111827"/>
                          </a:solidFill>
                          <a:latin typeface="Calibri"/>
                          <a:ea typeface="Calibri"/>
                          <a:cs typeface="Calibri"/>
                        </a:rPr>
                        <a:t>Depth</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Schinese example</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What to define</a:t>
                      </a:r>
                    </a:p>
                  </a:txBody>
                  <a:tcPr marL="165100" marR="165100" marT="127000" marB="127000" anchor="ctr">
                    <a:solidFill>
                      <a:srgbClr val="D8EDF4"/>
                    </a:solidFill>
                  </a:tcPr>
                </a:tc>
              </a:tr>
              <a:tr h="858012">
                <a:tc>
                  <a:txBody>
                    <a:bodyPr wrap="square">
                      <a:noAutofit/>
                    </a:bodyPr>
                    <a:lstStyle/>
                    <a:p>
                      <a:r>
                        <a:rPr sz="2400" b="0">
                          <a:solidFill>
                            <a:srgbClr val="111827"/>
                          </a:solidFill>
                          <a:latin typeface="Calibri"/>
                          <a:ea typeface="Calibri"/>
                          <a:cs typeface="Calibri"/>
                        </a:rPr>
                        <a:t>Sketch</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Format a practice duration for display</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Inputs, outputs, and representative examples</a:t>
                      </a:r>
                    </a:p>
                  </a:txBody>
                  <a:tcPr marL="165100" marR="165100" marT="127000" marB="127000" anchor="ctr">
                    <a:solidFill>
                      <a:srgbClr val="FFFFFF"/>
                    </a:solidFill>
                  </a:tcPr>
                </a:tc>
              </a:tr>
              <a:tr h="1220724">
                <a:tc>
                  <a:txBody>
                    <a:bodyPr wrap="square">
                      <a:noAutofit/>
                    </a:bodyPr>
                    <a:lstStyle/>
                    <a:p>
                      <a:r>
                        <a:rPr sz="2400" b="0">
                          <a:solidFill>
                            <a:srgbClr val="111827"/>
                          </a:solidFill>
                          <a:latin typeface="Calibri"/>
                          <a:ea typeface="Calibri"/>
                          <a:cs typeface="Calibri"/>
                        </a:rPr>
                        <a:t>Detailed</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Update profile preferences or filter a list</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Validation, states, errors, and acceptance scenarios</a:t>
                      </a:r>
                    </a:p>
                  </a:txBody>
                  <a:tcPr marL="165100" marR="165100" marT="127000" marB="127000" anchor="ctr">
                    <a:solidFill>
                      <a:srgbClr val="F3F8FB"/>
                    </a:solidFill>
                  </a:tcPr>
                </a:tc>
              </a:tr>
              <a:tr h="1220724">
                <a:tc>
                  <a:txBody>
                    <a:bodyPr wrap="square">
                      <a:noAutofit/>
                    </a:bodyPr>
                    <a:lstStyle/>
                    <a:p>
                      <a:r>
                        <a:rPr sz="2400" b="0">
                          <a:solidFill>
                            <a:srgbClr val="111827"/>
                          </a:solidFill>
                          <a:latin typeface="Calibri"/>
                          <a:ea typeface="Calibri"/>
                          <a:cs typeface="Calibri"/>
                        </a:rPr>
                        <a:t>Detailed with explicit states and invariants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Account permissions, AI allowance, lesson publication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Allowed transitions, concurrency rules, ownership, and recovery behavior</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9615390D-2781-4CCD-83A0-3CD23ACB036F}"/>
              </a:ext>
            </a:extLst>
          </p:cNvPr>
          <p:cNvSpPr>
            <a:spLocks xmlns:a="http://schemas.openxmlformats.org/drawingml/2006/main" noGrp="1"/>
          </p:cNvSpPr>
          <p:nvPr/>
        </p:nvSpPr>
        <p:spPr>
          <a:xfrm xmlns:a="http://schemas.openxmlformats.org/drawingml/2006/main">
            <a:off x="762000" y="6859397"/>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Selection questions</a:t>
            </a:r>
          </a:p>
        </p:txBody>
      </p:sp>
      <p:sp>
        <p:nvSpPr>
          <p:cNvPr id="9" name="text">
            <a:extLst xmlns:a="http://schemas.openxmlformats.org/drawingml/2006/main">
              <a:ext uri="{FF2B5EF4-FFF2-40B4-BE49-F238E27FC236}">
                <a16:creationId xmlns:a16="http://schemas.microsoft.com/office/drawing/2014/main" id="{1FE27A7C-8FE8-448B-9864-7435CFAFFE78}"/>
              </a:ext>
            </a:extLst>
          </p:cNvPr>
          <p:cNvSpPr>
            <a:spLocks xmlns:a="http://schemas.openxmlformats.org/drawingml/2006/main" noGrp="1"/>
          </p:cNvSpPr>
          <p:nvPr/>
        </p:nvSpPr>
        <p:spPr>
          <a:xfrm xmlns:a="http://schemas.openxmlformats.org/drawingml/2006/main">
            <a:off x="762000" y="7382383"/>
            <a:ext cx="16764000" cy="1302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55600" indent="-254000" algn="l">
              <a:spcAft>
                <a:spcPts val="300"/>
              </a:spcAft>
              <a:buChar char="•"/>
              <a:defRPr sz="2200" b="0">
                <a:solidFill>
                  <a:srgbClr val="111827"/>
                </a:solidFill>
                <a:latin typeface="Calibri"/>
                <a:ea typeface="Calibri"/>
                <a:cs typeface="Calibri"/>
              </a:defRPr>
            </a:pPr>
            <a:r>
              <a:rPr sz="2200" b="0">
                <a:solidFill>
                  <a:srgbClr val="111827"/>
                </a:solidFill>
                <a:latin typeface="Calibri"/>
                <a:ea typeface="Calibri"/>
                <a:cs typeface="Calibri"/>
              </a:rPr>
              <a:t>What happens to the learner or data if this is wrong?</a:t>
            </a:r>
          </a:p>
          <a:p xmlns:a="http://schemas.openxmlformats.org/drawingml/2006/main">
            <a:pPr marL="355600" indent="-254000" algn="l">
              <a:spcAft>
                <a:spcPts val="300"/>
              </a:spcAft>
              <a:buChar char="•"/>
              <a:defRPr sz="2200" b="0">
                <a:solidFill>
                  <a:srgbClr val="111827"/>
                </a:solidFill>
                <a:latin typeface="Calibri"/>
                <a:ea typeface="Calibri"/>
                <a:cs typeface="Calibri"/>
              </a:defRPr>
            </a:pPr>
            <a:r>
              <a:rPr sz="2200" b="0">
                <a:solidFill>
                  <a:srgbClr val="111827"/>
                </a:solidFill>
                <a:latin typeface="Calibri"/>
                <a:ea typeface="Calibri"/>
                <a:cs typeface="Calibri"/>
              </a:rPr>
              <a:t>How many branches and state changes must remain consistent?</a:t>
            </a:r>
          </a:p>
          <a:p xmlns:a="http://schemas.openxmlformats.org/drawingml/2006/main">
            <a:pPr marL="355600" indent="-254000" algn="l">
              <a:spcAft>
                <a:spcPts val="300"/>
              </a:spcAft>
              <a:buChar char="•"/>
              <a:defRPr sz="2200" b="0">
                <a:solidFill>
                  <a:srgbClr val="111827"/>
                </a:solidFill>
                <a:latin typeface="Calibri"/>
                <a:ea typeface="Calibri"/>
                <a:cs typeface="Calibri"/>
              </a:defRPr>
            </a:pPr>
            <a:r>
              <a:rPr sz="2200" b="0">
                <a:solidFill>
                  <a:srgbClr val="111827"/>
                </a:solidFill>
                <a:latin typeface="Calibri"/>
                <a:ea typeface="Calibri"/>
                <a:cs typeface="Calibri"/>
              </a:rPr>
              <a:t>Which other features depend on the decision?</a:t>
            </a:r>
          </a:p>
        </p:txBody>
      </p:sp>
      <p:sp>
        <p:nvSpPr>
          <p:cNvPr id="10" name="text">
            <a:extLst xmlns:a="http://schemas.openxmlformats.org/drawingml/2006/main">
              <a:ext uri="{FF2B5EF4-FFF2-40B4-BE49-F238E27FC236}">
                <a16:creationId xmlns:a16="http://schemas.microsoft.com/office/drawing/2014/main" id="{59A35184-2BF5-4285-B2FA-3AC0F0C7B098}"/>
              </a:ext>
            </a:extLst>
          </p:cNvPr>
          <p:cNvSpPr>
            <a:spLocks xmlns:a="http://schemas.openxmlformats.org/drawingml/2006/main" noGrp="1"/>
          </p:cNvSpPr>
          <p:nvPr/>
        </p:nvSpPr>
        <p:spPr>
          <a:xfrm xmlns:a="http://schemas.openxmlformats.org/drawingml/2006/main">
            <a:off x="762000" y="8811641"/>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 state diagram improves precision. It does not by itself constitute formal verification.</a:t>
            </a:r>
          </a:p>
        </p:txBody>
      </p:sp>
    </p:spTree>
    <p:extLst>
      <p:ext uri="{BB962C8B-B14F-4D97-AF65-F5344CB8AC3E}">
        <p14:creationId xmlns:p14="http://schemas.microsoft.com/office/powerpoint/2010/main" val="11760065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
            <a:extLst xmlns:a="http://schemas.openxmlformats.org/drawingml/2006/main">
              <a:ext uri="{FF2B5EF4-FFF2-40B4-BE49-F238E27FC236}">
                <a16:creationId xmlns:a16="http://schemas.microsoft.com/office/drawing/2014/main" id="{3C2C2036-DC2D-4F8E-B39C-8BA658129FF2}"/>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5.1. System Architecture</a:t>
            </a:r>
          </a:p>
        </p:txBody>
      </p:sp>
      <p:sp>
        <p:nvSpPr>
          <p:cNvPr id="2" name="">
            <a:extLst xmlns:a="http://schemas.openxmlformats.org/drawingml/2006/main">
              <a:ext uri="{FF2B5EF4-FFF2-40B4-BE49-F238E27FC236}">
                <a16:creationId xmlns:a16="http://schemas.microsoft.com/office/drawing/2014/main" id="{C69F36B0-F080-4101-BF7A-EE4C0491745A}"/>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6120D27B-7EE8-476D-B4EB-10617F6F250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A29625EB-A7A7-4404-B053-7354944A91AF}"/>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CLAUDE.md, architecture and AI boundary; Constitution, Article 1</a:t>
            </a:r>
          </a:p>
        </p:txBody>
      </p:sp>
      <p:sp>
        <p:nvSpPr>
          <p:cNvPr id="5" name="text">
            <a:extLst xmlns:a="http://schemas.openxmlformats.org/drawingml/2006/main">
              <a:ext uri="{FF2B5EF4-FFF2-40B4-BE49-F238E27FC236}">
                <a16:creationId xmlns:a16="http://schemas.microsoft.com/office/drawing/2014/main" id="{30F52F9D-BEF6-4FE6-A6E2-7498D49CDB7F}"/>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18 / 32</a:t>
            </a:r>
          </a:p>
        </p:txBody>
      </p:sp>
      <p:sp>
        <p:nvSpPr>
          <p:cNvPr id="6" name="text">
            <a:extLst xmlns:a="http://schemas.openxmlformats.org/drawingml/2006/main">
              <a:ext uri="{FF2B5EF4-FFF2-40B4-BE49-F238E27FC236}">
                <a16:creationId xmlns:a16="http://schemas.microsoft.com/office/drawing/2014/main" id="{B765A457-ED5C-4D00-B39B-385DA1B1212E}"/>
              </a:ext>
            </a:extLst>
          </p:cNvPr>
          <p:cNvSpPr>
            <a:spLocks xmlns:a="http://schemas.openxmlformats.org/drawingml/2006/main" noGrp="1"/>
          </p:cNvSpPr>
          <p:nvPr/>
        </p:nvSpPr>
        <p:spPr>
          <a:xfrm xmlns:a="http://schemas.openxmlformats.org/drawingml/2006/main">
            <a:off x="762000" y="1790700"/>
            <a:ext cx="167640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Schinese uses a React interface, a Spring Boot backend, PostgreSQL, and a private AI supporting service.</a:t>
            </a:r>
          </a:p>
        </p:txBody>
      </p:sp>
      <p:sp>
        <p:nvSpPr>
          <p:cNvPr id="7" name="React SPA">
            <a:extLst xmlns:a="http://schemas.openxmlformats.org/drawingml/2006/main">
              <a:ext uri="{FF2B5EF4-FFF2-40B4-BE49-F238E27FC236}">
                <a16:creationId xmlns:a16="http://schemas.microsoft.com/office/drawing/2014/main" id="{E1F79BBA-FA5E-491D-ACC8-F77F15A6CA78}"/>
              </a:ext>
            </a:extLst>
          </p:cNvPr>
          <p:cNvSpPr>
            <a:spLocks xmlns:a="http://schemas.openxmlformats.org/drawingml/2006/main" noGrp="1"/>
          </p:cNvSpPr>
          <p:nvPr/>
        </p:nvSpPr>
        <p:spPr>
          <a:xfrm xmlns:a="http://schemas.openxmlformats.org/drawingml/2006/main">
            <a:off x="952500" y="3619500"/>
            <a:ext cx="2349500" cy="1320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8" name="text">
            <a:extLst xmlns:a="http://schemas.openxmlformats.org/drawingml/2006/main">
              <a:ext uri="{FF2B5EF4-FFF2-40B4-BE49-F238E27FC236}">
                <a16:creationId xmlns:a16="http://schemas.microsoft.com/office/drawing/2014/main" id="{E3284E18-7C6E-435A-8778-B2B34E7B958F}"/>
              </a:ext>
            </a:extLst>
          </p:cNvPr>
          <p:cNvSpPr>
            <a:spLocks xmlns:a="http://schemas.openxmlformats.org/drawingml/2006/main" noGrp="1"/>
          </p:cNvSpPr>
          <p:nvPr/>
        </p:nvSpPr>
        <p:spPr>
          <a:xfrm xmlns:a="http://schemas.openxmlformats.org/drawingml/2006/main">
            <a:off x="1104900" y="3771900"/>
            <a:ext cx="20447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React SPA</a:t>
            </a:r>
          </a:p>
        </p:txBody>
      </p:sp>
      <p:sp>
        <p:nvSpPr>
          <p:cNvPr id="9" name="text">
            <a:extLst xmlns:a="http://schemas.openxmlformats.org/drawingml/2006/main">
              <a:ext uri="{FF2B5EF4-FFF2-40B4-BE49-F238E27FC236}">
                <a16:creationId xmlns:a16="http://schemas.microsoft.com/office/drawing/2014/main" id="{9CF388ED-018B-456E-9E47-0DB5C7BAE548}"/>
              </a:ext>
            </a:extLst>
          </p:cNvPr>
          <p:cNvSpPr>
            <a:spLocks xmlns:a="http://schemas.openxmlformats.org/drawingml/2006/main" noGrp="1"/>
          </p:cNvSpPr>
          <p:nvPr/>
        </p:nvSpPr>
        <p:spPr>
          <a:xfrm xmlns:a="http://schemas.openxmlformats.org/drawingml/2006/main">
            <a:off x="1130300" y="4292600"/>
            <a:ext cx="19939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00" b="0">
                <a:solidFill>
                  <a:srgbClr val="111827"/>
                </a:solidFill>
                <a:latin typeface="Calibri"/>
                <a:ea typeface="Calibri"/>
                <a:cs typeface="Calibri"/>
              </a:defRPr>
            </a:pPr>
            <a:r>
              <a:rPr sz="2200" b="0">
                <a:solidFill>
                  <a:srgbClr val="111827"/>
                </a:solidFill>
                <a:latin typeface="Calibri"/>
                <a:ea typeface="Calibri"/>
                <a:cs typeface="Calibri"/>
              </a:rPr>
              <a:t>Browser</a:t>
            </a:r>
          </a:p>
        </p:txBody>
      </p:sp>
      <p:sp>
        <p:nvSpPr>
          <p:cNvPr id="10" name="Spring Boot">
            <a:extLst xmlns:a="http://schemas.openxmlformats.org/drawingml/2006/main">
              <a:ext uri="{FF2B5EF4-FFF2-40B4-BE49-F238E27FC236}">
                <a16:creationId xmlns:a16="http://schemas.microsoft.com/office/drawing/2014/main" id="{C852BBE0-971E-4AED-9723-6C11195C628A}"/>
              </a:ext>
            </a:extLst>
          </p:cNvPr>
          <p:cNvSpPr>
            <a:spLocks xmlns:a="http://schemas.openxmlformats.org/drawingml/2006/main" noGrp="1"/>
          </p:cNvSpPr>
          <p:nvPr/>
        </p:nvSpPr>
        <p:spPr>
          <a:xfrm xmlns:a="http://schemas.openxmlformats.org/drawingml/2006/main">
            <a:off x="4445000" y="3619500"/>
            <a:ext cx="2794000" cy="1320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1" name="text">
            <a:extLst xmlns:a="http://schemas.openxmlformats.org/drawingml/2006/main">
              <a:ext uri="{FF2B5EF4-FFF2-40B4-BE49-F238E27FC236}">
                <a16:creationId xmlns:a16="http://schemas.microsoft.com/office/drawing/2014/main" id="{51822636-AD38-4D4C-B5ED-54009E207D9F}"/>
              </a:ext>
            </a:extLst>
          </p:cNvPr>
          <p:cNvSpPr>
            <a:spLocks xmlns:a="http://schemas.openxmlformats.org/drawingml/2006/main" noGrp="1"/>
          </p:cNvSpPr>
          <p:nvPr/>
        </p:nvSpPr>
        <p:spPr>
          <a:xfrm xmlns:a="http://schemas.openxmlformats.org/drawingml/2006/main">
            <a:off x="4597400" y="3771900"/>
            <a:ext cx="2489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Spring Boot</a:t>
            </a:r>
          </a:p>
        </p:txBody>
      </p:sp>
      <p:sp>
        <p:nvSpPr>
          <p:cNvPr id="12" name="text">
            <a:extLst xmlns:a="http://schemas.openxmlformats.org/drawingml/2006/main">
              <a:ext uri="{FF2B5EF4-FFF2-40B4-BE49-F238E27FC236}">
                <a16:creationId xmlns:a16="http://schemas.microsoft.com/office/drawing/2014/main" id="{2A15820E-817B-402B-82EE-2BAB7A2AEA5D}"/>
              </a:ext>
            </a:extLst>
          </p:cNvPr>
          <p:cNvSpPr>
            <a:spLocks xmlns:a="http://schemas.openxmlformats.org/drawingml/2006/main" noGrp="1"/>
          </p:cNvSpPr>
          <p:nvPr/>
        </p:nvSpPr>
        <p:spPr>
          <a:xfrm xmlns:a="http://schemas.openxmlformats.org/drawingml/2006/main">
            <a:off x="4622800" y="4292600"/>
            <a:ext cx="24384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00" b="0">
                <a:solidFill>
                  <a:srgbClr val="111827"/>
                </a:solidFill>
                <a:latin typeface="Calibri"/>
                <a:ea typeface="Calibri"/>
                <a:cs typeface="Calibri"/>
              </a:defRPr>
            </a:pPr>
            <a:r>
              <a:rPr sz="2200" b="0">
                <a:solidFill>
                  <a:srgbClr val="111827"/>
                </a:solidFill>
                <a:latin typeface="Calibri"/>
                <a:ea typeface="Calibri"/>
                <a:cs typeface="Calibri"/>
              </a:rPr>
              <a:t>Product authority</a:t>
            </a:r>
          </a:p>
        </p:txBody>
      </p:sp>
      <p:sp>
        <p:nvSpPr>
          <p:cNvPr id="13" name="Private ai-service">
            <a:extLst xmlns:a="http://schemas.openxmlformats.org/drawingml/2006/main">
              <a:ext uri="{FF2B5EF4-FFF2-40B4-BE49-F238E27FC236}">
                <a16:creationId xmlns:a16="http://schemas.microsoft.com/office/drawing/2014/main" id="{15AD1262-9000-461E-97CF-1E0DCC1C4E69}"/>
              </a:ext>
            </a:extLst>
          </p:cNvPr>
          <p:cNvSpPr>
            <a:spLocks xmlns:a="http://schemas.openxmlformats.org/drawingml/2006/main" noGrp="1"/>
          </p:cNvSpPr>
          <p:nvPr/>
        </p:nvSpPr>
        <p:spPr>
          <a:xfrm xmlns:a="http://schemas.openxmlformats.org/drawingml/2006/main">
            <a:off x="8255000" y="3619500"/>
            <a:ext cx="2857500" cy="13208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4" name="text">
            <a:extLst xmlns:a="http://schemas.openxmlformats.org/drawingml/2006/main">
              <a:ext uri="{FF2B5EF4-FFF2-40B4-BE49-F238E27FC236}">
                <a16:creationId xmlns:a16="http://schemas.microsoft.com/office/drawing/2014/main" id="{773CA327-62E4-4B25-B6A7-EF0ED5B970C3}"/>
              </a:ext>
            </a:extLst>
          </p:cNvPr>
          <p:cNvSpPr>
            <a:spLocks xmlns:a="http://schemas.openxmlformats.org/drawingml/2006/main" noGrp="1"/>
          </p:cNvSpPr>
          <p:nvPr/>
        </p:nvSpPr>
        <p:spPr>
          <a:xfrm xmlns:a="http://schemas.openxmlformats.org/drawingml/2006/main">
            <a:off x="8407400" y="3771900"/>
            <a:ext cx="25527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Private ai-service</a:t>
            </a:r>
          </a:p>
        </p:txBody>
      </p:sp>
      <p:sp>
        <p:nvSpPr>
          <p:cNvPr id="15" name="text">
            <a:extLst xmlns:a="http://schemas.openxmlformats.org/drawingml/2006/main">
              <a:ext uri="{FF2B5EF4-FFF2-40B4-BE49-F238E27FC236}">
                <a16:creationId xmlns:a16="http://schemas.microsoft.com/office/drawing/2014/main" id="{D70DA357-689D-4523-B3A2-04EFBBAAFF22}"/>
              </a:ext>
            </a:extLst>
          </p:cNvPr>
          <p:cNvSpPr>
            <a:spLocks xmlns:a="http://schemas.openxmlformats.org/drawingml/2006/main" noGrp="1"/>
          </p:cNvSpPr>
          <p:nvPr/>
        </p:nvSpPr>
        <p:spPr>
          <a:xfrm xmlns:a="http://schemas.openxmlformats.org/drawingml/2006/main">
            <a:off x="8432800" y="4292600"/>
            <a:ext cx="25019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00" b="0">
                <a:solidFill>
                  <a:srgbClr val="111827"/>
                </a:solidFill>
                <a:latin typeface="Calibri"/>
                <a:ea typeface="Calibri"/>
                <a:cs typeface="Calibri"/>
              </a:defRPr>
            </a:pPr>
            <a:r>
              <a:rPr sz="2200" b="0">
                <a:solidFill>
                  <a:srgbClr val="111827"/>
                </a:solidFill>
                <a:latin typeface="Calibri"/>
                <a:ea typeface="Calibri"/>
                <a:cs typeface="Calibri"/>
              </a:rPr>
              <a:t>AI orchestration</a:t>
            </a:r>
          </a:p>
        </p:txBody>
      </p:sp>
      <p:sp>
        <p:nvSpPr>
          <p:cNvPr id="16" name="PostgreSQL">
            <a:extLst xmlns:a="http://schemas.openxmlformats.org/drawingml/2006/main">
              <a:ext uri="{FF2B5EF4-FFF2-40B4-BE49-F238E27FC236}">
                <a16:creationId xmlns:a16="http://schemas.microsoft.com/office/drawing/2014/main" id="{A169C4D1-AB1F-4B29-8FD0-4CB5B333312B}"/>
              </a:ext>
            </a:extLst>
          </p:cNvPr>
          <p:cNvSpPr>
            <a:spLocks xmlns:a="http://schemas.openxmlformats.org/drawingml/2006/main" noGrp="1"/>
          </p:cNvSpPr>
          <p:nvPr/>
        </p:nvSpPr>
        <p:spPr>
          <a:xfrm xmlns:a="http://schemas.openxmlformats.org/drawingml/2006/main">
            <a:off x="4381500" y="6477000"/>
            <a:ext cx="2921000" cy="13970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7" name="text">
            <a:extLst xmlns:a="http://schemas.openxmlformats.org/drawingml/2006/main">
              <a:ext uri="{FF2B5EF4-FFF2-40B4-BE49-F238E27FC236}">
                <a16:creationId xmlns:a16="http://schemas.microsoft.com/office/drawing/2014/main" id="{BDA4D889-012E-4004-9697-6F4CDE2D00C7}"/>
              </a:ext>
            </a:extLst>
          </p:cNvPr>
          <p:cNvSpPr>
            <a:spLocks xmlns:a="http://schemas.openxmlformats.org/drawingml/2006/main" noGrp="1"/>
          </p:cNvSpPr>
          <p:nvPr/>
        </p:nvSpPr>
        <p:spPr>
          <a:xfrm xmlns:a="http://schemas.openxmlformats.org/drawingml/2006/main">
            <a:off x="4533900" y="6629400"/>
            <a:ext cx="2616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PostgreSQL</a:t>
            </a:r>
          </a:p>
        </p:txBody>
      </p:sp>
      <p:sp>
        <p:nvSpPr>
          <p:cNvPr id="18" name="text">
            <a:extLst xmlns:a="http://schemas.openxmlformats.org/drawingml/2006/main">
              <a:ext uri="{FF2B5EF4-FFF2-40B4-BE49-F238E27FC236}">
                <a16:creationId xmlns:a16="http://schemas.microsoft.com/office/drawing/2014/main" id="{10F4341C-1074-4263-9E9F-723EF1E1613E}"/>
              </a:ext>
            </a:extLst>
          </p:cNvPr>
          <p:cNvSpPr>
            <a:spLocks xmlns:a="http://schemas.openxmlformats.org/drawingml/2006/main" noGrp="1"/>
          </p:cNvSpPr>
          <p:nvPr/>
        </p:nvSpPr>
        <p:spPr>
          <a:xfrm xmlns:a="http://schemas.openxmlformats.org/drawingml/2006/main">
            <a:off x="4559300" y="7150100"/>
            <a:ext cx="25654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00" b="0">
                <a:solidFill>
                  <a:srgbClr val="111827"/>
                </a:solidFill>
                <a:latin typeface="Calibri"/>
                <a:ea typeface="Calibri"/>
                <a:cs typeface="Calibri"/>
              </a:defRPr>
            </a:pPr>
            <a:r>
              <a:rPr sz="2200" b="0">
                <a:solidFill>
                  <a:srgbClr val="111827"/>
                </a:solidFill>
                <a:latin typeface="Calibri"/>
                <a:ea typeface="Calibri"/>
                <a:cs typeface="Calibri"/>
              </a:rPr>
              <a:t>Product records</a:t>
            </a:r>
          </a:p>
        </p:txBody>
      </p:sp>
      <p:sp>
        <p:nvSpPr>
          <p:cNvPr id="19" name="YouTube">
            <a:extLst xmlns:a="http://schemas.openxmlformats.org/drawingml/2006/main">
              <a:ext uri="{FF2B5EF4-FFF2-40B4-BE49-F238E27FC236}">
                <a16:creationId xmlns:a16="http://schemas.microsoft.com/office/drawing/2014/main" id="{77472FF8-75C5-4712-8591-BF5D212D07D8}"/>
              </a:ext>
            </a:extLst>
          </p:cNvPr>
          <p:cNvSpPr>
            <a:spLocks xmlns:a="http://schemas.openxmlformats.org/drawingml/2006/main" noGrp="1"/>
          </p:cNvSpPr>
          <p:nvPr/>
        </p:nvSpPr>
        <p:spPr>
          <a:xfrm xmlns:a="http://schemas.openxmlformats.org/drawingml/2006/main">
            <a:off x="825500" y="6477000"/>
            <a:ext cx="2794000" cy="13970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20" name="text">
            <a:extLst xmlns:a="http://schemas.openxmlformats.org/drawingml/2006/main">
              <a:ext uri="{FF2B5EF4-FFF2-40B4-BE49-F238E27FC236}">
                <a16:creationId xmlns:a16="http://schemas.microsoft.com/office/drawing/2014/main" id="{BB17BB3D-DAF9-4018-96F9-323E679CEE3B}"/>
              </a:ext>
            </a:extLst>
          </p:cNvPr>
          <p:cNvSpPr>
            <a:spLocks xmlns:a="http://schemas.openxmlformats.org/drawingml/2006/main" noGrp="1"/>
          </p:cNvSpPr>
          <p:nvPr/>
        </p:nvSpPr>
        <p:spPr>
          <a:xfrm xmlns:a="http://schemas.openxmlformats.org/drawingml/2006/main">
            <a:off x="977900" y="6629400"/>
            <a:ext cx="2489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YouTube</a:t>
            </a:r>
          </a:p>
        </p:txBody>
      </p:sp>
      <p:sp>
        <p:nvSpPr>
          <p:cNvPr id="21" name="text">
            <a:extLst xmlns:a="http://schemas.openxmlformats.org/drawingml/2006/main">
              <a:ext uri="{FF2B5EF4-FFF2-40B4-BE49-F238E27FC236}">
                <a16:creationId xmlns:a16="http://schemas.microsoft.com/office/drawing/2014/main" id="{66D15527-B79D-460C-BB63-B589A3D0E1E5}"/>
              </a:ext>
            </a:extLst>
          </p:cNvPr>
          <p:cNvSpPr>
            <a:spLocks xmlns:a="http://schemas.openxmlformats.org/drawingml/2006/main" noGrp="1"/>
          </p:cNvSpPr>
          <p:nvPr/>
        </p:nvSpPr>
        <p:spPr>
          <a:xfrm xmlns:a="http://schemas.openxmlformats.org/drawingml/2006/main">
            <a:off x="1003300" y="7150100"/>
            <a:ext cx="24384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00" b="0">
                <a:solidFill>
                  <a:srgbClr val="111827"/>
                </a:solidFill>
                <a:latin typeface="Calibri"/>
                <a:ea typeface="Calibri"/>
                <a:cs typeface="Calibri"/>
              </a:defRPr>
            </a:pPr>
            <a:r>
              <a:rPr sz="2200" b="0">
                <a:solidFill>
                  <a:srgbClr val="111827"/>
                </a:solidFill>
                <a:latin typeface="Calibri"/>
                <a:ea typeface="Calibri"/>
                <a:cs typeface="Calibri"/>
              </a:rPr>
              <a:t>Embedded playback</a:t>
            </a:r>
          </a:p>
        </p:txBody>
      </p:sp>
      <p:sp>
        <p:nvSpPr>
          <p:cNvPr id="22" name="AI provider">
            <a:extLst xmlns:a="http://schemas.openxmlformats.org/drawingml/2006/main">
              <a:ext uri="{FF2B5EF4-FFF2-40B4-BE49-F238E27FC236}">
                <a16:creationId xmlns:a16="http://schemas.microsoft.com/office/drawing/2014/main" id="{2A2141FD-8498-4BBF-A876-5FF9DF799C8C}"/>
              </a:ext>
            </a:extLst>
          </p:cNvPr>
          <p:cNvSpPr>
            <a:spLocks xmlns:a="http://schemas.openxmlformats.org/drawingml/2006/main" noGrp="1"/>
          </p:cNvSpPr>
          <p:nvPr/>
        </p:nvSpPr>
        <p:spPr>
          <a:xfrm xmlns:a="http://schemas.openxmlformats.org/drawingml/2006/main">
            <a:off x="8382000" y="6477000"/>
            <a:ext cx="2603500" cy="8890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23" name="text">
            <a:extLst xmlns:a="http://schemas.openxmlformats.org/drawingml/2006/main">
              <a:ext uri="{FF2B5EF4-FFF2-40B4-BE49-F238E27FC236}">
                <a16:creationId xmlns:a16="http://schemas.microsoft.com/office/drawing/2014/main" id="{52E8879B-E1D3-4EA0-9D09-3CCE69EC75F5}"/>
              </a:ext>
            </a:extLst>
          </p:cNvPr>
          <p:cNvSpPr>
            <a:spLocks xmlns:a="http://schemas.openxmlformats.org/drawingml/2006/main" noGrp="1"/>
          </p:cNvSpPr>
          <p:nvPr/>
        </p:nvSpPr>
        <p:spPr>
          <a:xfrm xmlns:a="http://schemas.openxmlformats.org/drawingml/2006/main">
            <a:off x="8534400" y="6629400"/>
            <a:ext cx="22987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AI provider</a:t>
            </a:r>
          </a:p>
        </p:txBody>
      </p:sp>
      <p:cxnSp>
        <p:nvCxnSpPr>
          <p:cNvPr id="59" name=""/>
          <p:cNvCxnSpPr>
            <a:stCxn xmlns:a="http://schemas.openxmlformats.org/drawingml/2006/main" id="7" idx="3"/>
            <a:endCxn xmlns:a="http://schemas.openxmlformats.org/drawingml/2006/main" id="10" idx="1"/>
          </p:cNvCxnSpPr>
          <p:nvPr/>
        </p:nvCxnSpPr>
        <p:spPr>
          <a:xfrm xmlns:a="http://schemas.openxmlformats.org/drawingml/2006/main">
            <a:off x="3302000" y="4279900"/>
            <a:ext cx="1143000" cy="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25" name="text">
            <a:extLst xmlns:a="http://schemas.openxmlformats.org/drawingml/2006/main">
              <a:ext uri="{FF2B5EF4-FFF2-40B4-BE49-F238E27FC236}">
                <a16:creationId xmlns:a16="http://schemas.microsoft.com/office/drawing/2014/main" id="{1FC37502-1F1E-4CEE-B445-D7D20EF392F9}"/>
              </a:ext>
            </a:extLst>
          </p:cNvPr>
          <p:cNvSpPr>
            <a:spLocks xmlns:a="http://schemas.openxmlformats.org/drawingml/2006/main" noGrp="1"/>
          </p:cNvSpPr>
          <p:nvPr/>
        </p:nvSpPr>
        <p:spPr>
          <a:xfrm xmlns:a="http://schemas.openxmlformats.org/drawingml/2006/main">
            <a:off x="3340100" y="3835400"/>
            <a:ext cx="107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public API</a:t>
            </a:r>
          </a:p>
        </p:txBody>
      </p:sp>
      <p:cxnSp>
        <p:nvCxnSpPr>
          <p:cNvPr id="61" name=""/>
          <p:cNvCxnSpPr>
            <a:stCxn xmlns:a="http://schemas.openxmlformats.org/drawingml/2006/main" id="10" idx="3"/>
            <a:endCxn xmlns:a="http://schemas.openxmlformats.org/drawingml/2006/main" id="13" idx="1"/>
          </p:cNvCxnSpPr>
          <p:nvPr/>
        </p:nvCxnSpPr>
        <p:spPr>
          <a:xfrm xmlns:a="http://schemas.openxmlformats.org/drawingml/2006/main">
            <a:off x="7239000" y="4279900"/>
            <a:ext cx="1016000" cy="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27" name="text">
            <a:extLst xmlns:a="http://schemas.openxmlformats.org/drawingml/2006/main">
              <a:ext uri="{FF2B5EF4-FFF2-40B4-BE49-F238E27FC236}">
                <a16:creationId xmlns:a16="http://schemas.microsoft.com/office/drawing/2014/main" id="{B4DCDD81-E00A-4D9C-A2C2-1A83EDC837D2}"/>
              </a:ext>
            </a:extLst>
          </p:cNvPr>
          <p:cNvSpPr>
            <a:spLocks xmlns:a="http://schemas.openxmlformats.org/drawingml/2006/main" noGrp="1"/>
          </p:cNvSpPr>
          <p:nvPr/>
        </p:nvSpPr>
        <p:spPr>
          <a:xfrm xmlns:a="http://schemas.openxmlformats.org/drawingml/2006/main">
            <a:off x="7239000" y="359410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private</a:t>
            </a:r>
          </a:p>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contract</a:t>
            </a:r>
          </a:p>
        </p:txBody>
      </p:sp>
      <p:cxnSp>
        <p:nvCxnSpPr>
          <p:cNvPr id="63" name=""/>
          <p:cNvCxnSpPr>
            <a:stCxn xmlns:a="http://schemas.openxmlformats.org/drawingml/2006/main" id="10" idx="2"/>
            <a:endCxn xmlns:a="http://schemas.openxmlformats.org/drawingml/2006/main" id="16" idx="0"/>
          </p:cNvCxnSpPr>
          <p:nvPr/>
        </p:nvCxnSpPr>
        <p:spPr>
          <a:xfrm xmlns:a="http://schemas.openxmlformats.org/drawingml/2006/main">
            <a:off x="5842000" y="4940300"/>
            <a:ext cx="0" cy="153670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29" name="text">
            <a:extLst xmlns:a="http://schemas.openxmlformats.org/drawingml/2006/main">
              <a:ext uri="{FF2B5EF4-FFF2-40B4-BE49-F238E27FC236}">
                <a16:creationId xmlns:a16="http://schemas.microsoft.com/office/drawing/2014/main" id="{72F08E01-48D9-4F28-9DAC-B45D49ABFA6A}"/>
              </a:ext>
            </a:extLst>
          </p:cNvPr>
          <p:cNvSpPr>
            <a:spLocks xmlns:a="http://schemas.openxmlformats.org/drawingml/2006/main" noGrp="1"/>
          </p:cNvSpPr>
          <p:nvPr/>
        </p:nvSpPr>
        <p:spPr>
          <a:xfrm xmlns:a="http://schemas.openxmlformats.org/drawingml/2006/main">
            <a:off x="5829300" y="5638800"/>
            <a:ext cx="10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JPA</a:t>
            </a:r>
          </a:p>
        </p:txBody>
      </p:sp>
      <p:cxnSp>
        <p:nvCxnSpPr>
          <p:cNvPr id="65" name=""/>
          <p:cNvCxnSpPr>
            <a:stCxn xmlns:a="http://schemas.openxmlformats.org/drawingml/2006/main" id="7" idx="2"/>
            <a:endCxn xmlns:a="http://schemas.openxmlformats.org/drawingml/2006/main" id="19" idx="0"/>
          </p:cNvCxnSpPr>
          <p:nvPr/>
        </p:nvCxnSpPr>
        <p:spPr>
          <a:xfrm xmlns:a="http://schemas.openxmlformats.org/drawingml/2006/main">
            <a:off x="2127250" y="4940300"/>
            <a:ext cx="95250" cy="153670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31" name="text">
            <a:extLst xmlns:a="http://schemas.openxmlformats.org/drawingml/2006/main">
              <a:ext uri="{FF2B5EF4-FFF2-40B4-BE49-F238E27FC236}">
                <a16:creationId xmlns:a16="http://schemas.microsoft.com/office/drawing/2014/main" id="{787AA5FA-34F1-4703-B59B-28EB96386524}"/>
              </a:ext>
            </a:extLst>
          </p:cNvPr>
          <p:cNvSpPr>
            <a:spLocks xmlns:a="http://schemas.openxmlformats.org/drawingml/2006/main" noGrp="1"/>
          </p:cNvSpPr>
          <p:nvPr/>
        </p:nvSpPr>
        <p:spPr>
          <a:xfrm xmlns:a="http://schemas.openxmlformats.org/drawingml/2006/main">
            <a:off x="2159000" y="5372100"/>
            <a:ext cx="165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approved</a:t>
            </a:r>
          </a:p>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video ID</a:t>
            </a:r>
          </a:p>
        </p:txBody>
      </p:sp>
      <p:cxnSp>
        <p:nvCxnSpPr>
          <p:cNvPr id="67" name=""/>
          <p:cNvCxnSpPr>
            <a:stCxn xmlns:a="http://schemas.openxmlformats.org/drawingml/2006/main" id="13" idx="2"/>
            <a:endCxn xmlns:a="http://schemas.openxmlformats.org/drawingml/2006/main" id="22" idx="0"/>
          </p:cNvCxnSpPr>
          <p:nvPr/>
        </p:nvCxnSpPr>
        <p:spPr>
          <a:xfrm xmlns:a="http://schemas.openxmlformats.org/drawingml/2006/main">
            <a:off x="9683750" y="4940300"/>
            <a:ext cx="0" cy="153670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33" name="text">
            <a:extLst xmlns:a="http://schemas.openxmlformats.org/drawingml/2006/main">
              <a:ext uri="{FF2B5EF4-FFF2-40B4-BE49-F238E27FC236}">
                <a16:creationId xmlns:a16="http://schemas.microsoft.com/office/drawing/2014/main" id="{64CF854E-7506-45EC-9660-19C47F78C88F}"/>
              </a:ext>
            </a:extLst>
          </p:cNvPr>
          <p:cNvSpPr>
            <a:spLocks xmlns:a="http://schemas.openxmlformats.org/drawingml/2006/main" noGrp="1"/>
          </p:cNvSpPr>
          <p:nvPr/>
        </p:nvSpPr>
        <p:spPr>
          <a:xfrm xmlns:a="http://schemas.openxmlformats.org/drawingml/2006/main">
            <a:off x="9740900" y="5549900"/>
            <a:ext cx="152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4748B"/>
                </a:solidFill>
                <a:latin typeface="Calibri"/>
                <a:ea typeface="Calibri"/>
                <a:cs typeface="Calibri"/>
              </a:defRPr>
            </a:pPr>
            <a:r>
              <a:rPr sz="1800" b="0">
                <a:solidFill>
                  <a:srgbClr val="64748B"/>
                </a:solidFill>
                <a:latin typeface="Calibri"/>
                <a:ea typeface="Calibri"/>
                <a:cs typeface="Calibri"/>
              </a:rPr>
              <a:t>provider call</a:t>
            </a:r>
          </a:p>
        </p:txBody>
      </p:sp>
      <p:graphicFrame>
        <p:nvGraphicFramePr>
          <p:cNvPr id="69" name=""/>
          <p:cNvGraphicFramePr/>
          <p:nvPr/>
        </p:nvGraphicFramePr>
        <p:xfrm>
          <a:off xmlns:a="http://schemas.openxmlformats.org/drawingml/2006/main" x="11811000" y="2921000"/>
          <a:ext xmlns:a="http://schemas.openxmlformats.org/drawingml/2006/main" cx="5715000" cy="6070600"/>
        </p:xfrm>
        <a:graphic xmlns:a="http://schemas.openxmlformats.org/drawingml/2006/main">
          <a:graphicData uri="http://schemas.openxmlformats.org/drawingml/2006/table">
            <a:tbl>
              <a:tblPr firstRow="1" bandRow="0"/>
              <a:tblGrid>
                <a:gridCol w="1828800"/>
                <a:gridCol w="3886200"/>
              </a:tblGrid>
              <a:tr h="679281">
                <a:tc>
                  <a:txBody>
                    <a:bodyPr wrap="square">
                      <a:noAutofit/>
                    </a:bodyPr>
                    <a:lstStyle/>
                    <a:p>
                      <a:r>
                        <a:rPr sz="2200" b="1">
                          <a:solidFill>
                            <a:srgbClr val="111827"/>
                          </a:solidFill>
                          <a:latin typeface="Calibri"/>
                          <a:ea typeface="Calibri"/>
                          <a:cs typeface="Calibri"/>
                        </a:rPr>
                        <a:t>Component</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Responsibility</a:t>
                      </a:r>
                    </a:p>
                  </a:txBody>
                  <a:tcPr marL="165100" marR="165100" marT="127000" marB="127000" anchor="ctr">
                    <a:solidFill>
                      <a:srgbClr val="D8EDF4"/>
                    </a:solidFill>
                  </a:tcPr>
                </a:tc>
              </a:tr>
              <a:tr h="1011767">
                <a:tc>
                  <a:txBody>
                    <a:bodyPr wrap="square">
                      <a:noAutofit/>
                    </a:bodyPr>
                    <a:lstStyle/>
                    <a:p>
                      <a:r>
                        <a:rPr sz="2200" b="0">
                          <a:solidFill>
                            <a:srgbClr val="111827"/>
                          </a:solidFill>
                          <a:latin typeface="Calibri"/>
                          <a:ea typeface="Calibri"/>
                          <a:cs typeface="Calibri"/>
                        </a:rPr>
                        <a:t>React SPA</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Admin screens, lesson player, learner interactions</a:t>
                      </a:r>
                    </a:p>
                  </a:txBody>
                  <a:tcPr marL="165100" marR="165100" marT="127000" marB="127000" anchor="ctr">
                    <a:solidFill>
                      <a:srgbClr val="FFFFFF"/>
                    </a:solidFill>
                  </a:tcPr>
                </a:tc>
              </a:tr>
              <a:tr h="1344253">
                <a:tc>
                  <a:txBody>
                    <a:bodyPr wrap="square">
                      <a:noAutofit/>
                    </a:bodyPr>
                    <a:lstStyle/>
                    <a:p>
                      <a:r>
                        <a:rPr sz="2200" b="0">
                          <a:solidFill>
                            <a:srgbClr val="111827"/>
                          </a:solidFill>
                          <a:latin typeface="Calibri"/>
                          <a:ea typeface="Calibri"/>
                          <a:cs typeface="Calibri"/>
                        </a:rPr>
                        <a:t>Spring Boot</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Authorization, publication rules, progress, allowance, persistence</a:t>
                      </a:r>
                    </a:p>
                  </a:txBody>
                  <a:tcPr marL="165100" marR="165100" marT="127000" marB="127000" anchor="ctr">
                    <a:solidFill>
                      <a:srgbClr val="F3F8FB"/>
                    </a:solidFill>
                  </a:tcPr>
                </a:tc>
              </a:tr>
              <a:tr h="1011767">
                <a:tc>
                  <a:txBody>
                    <a:bodyPr wrap="square">
                      <a:noAutofit/>
                    </a:bodyPr>
                    <a:lstStyle/>
                    <a:p>
                      <a:r>
                        <a:rPr sz="2200" b="0">
                          <a:solidFill>
                            <a:srgbClr val="111827"/>
                          </a:solidFill>
                          <a:latin typeface="Calibri"/>
                          <a:ea typeface="Calibri"/>
                          <a:cs typeface="Calibri"/>
                        </a:rPr>
                        <a:t>PostgreSQL</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Product records and transactional state</a:t>
                      </a:r>
                    </a:p>
                  </a:txBody>
                  <a:tcPr marL="165100" marR="165100" marT="127000" marB="127000" anchor="ctr">
                    <a:solidFill>
                      <a:srgbClr val="FFFFFF"/>
                    </a:solidFill>
                  </a:tcPr>
                </a:tc>
              </a:tr>
              <a:tr h="1011767">
                <a:tc>
                  <a:txBody>
                    <a:bodyPr wrap="square">
                      <a:noAutofit/>
                    </a:bodyPr>
                    <a:lstStyle/>
                    <a:p>
                      <a:r>
                        <a:rPr sz="2200" b="0">
                          <a:solidFill>
                            <a:srgbClr val="111827"/>
                          </a:solidFill>
                          <a:latin typeface="Calibri"/>
                          <a:ea typeface="Calibri"/>
                          <a:cs typeface="Calibri"/>
                        </a:rPr>
                        <a:t>Private ai-service</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AI prompts, orchestration, and structured responses</a:t>
                      </a:r>
                    </a:p>
                  </a:txBody>
                  <a:tcPr marL="165100" marR="165100" marT="127000" marB="127000" anchor="ctr">
                    <a:solidFill>
                      <a:srgbClr val="F3F8FB"/>
                    </a:solidFill>
                  </a:tcPr>
                </a:tc>
              </a:tr>
              <a:tr h="1011767">
                <a:tc>
                  <a:txBody>
                    <a:bodyPr wrap="square">
                      <a:noAutofit/>
                    </a:bodyPr>
                    <a:lstStyle/>
                    <a:p>
                      <a:r>
                        <a:rPr sz="2200" b="0">
                          <a:solidFill>
                            <a:srgbClr val="111827"/>
                          </a:solidFill>
                          <a:latin typeface="Calibri"/>
                          <a:ea typeface="Calibri"/>
                          <a:cs typeface="Calibri"/>
                        </a:rPr>
                        <a:t>YouTube</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Embedded playback using approved video references</a:t>
                      </a:r>
                    </a:p>
                  </a:txBody>
                  <a:tcPr marL="165100" marR="165100" marT="127000" marB="127000" anchor="ctr">
                    <a:solidFill>
                      <a:srgbClr val="FFFFFF"/>
                    </a:solidFill>
                  </a:tcPr>
                </a:tc>
              </a:tr>
            </a:tbl>
          </a:graphicData>
        </a:graphic>
      </p:graphicFrame>
      <p:sp>
        <p:nvSpPr>
          <p:cNvPr id="35" name="text">
            <a:extLst xmlns:a="http://schemas.openxmlformats.org/drawingml/2006/main">
              <a:ext uri="{FF2B5EF4-FFF2-40B4-BE49-F238E27FC236}">
                <a16:creationId xmlns:a16="http://schemas.microsoft.com/office/drawing/2014/main" id="{5CF7270C-ACF2-4FFD-BA7D-176C465CDA32}"/>
              </a:ext>
            </a:extLst>
          </p:cNvPr>
          <p:cNvSpPr>
            <a:spLocks xmlns:a="http://schemas.openxmlformats.org/drawingml/2006/main" noGrp="1"/>
          </p:cNvSpPr>
          <p:nvPr/>
        </p:nvSpPr>
        <p:spPr>
          <a:xfrm xmlns:a="http://schemas.openxmlformats.org/drawingml/2006/main">
            <a:off x="762000" y="9118600"/>
            <a:ext cx="1676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64748B"/>
                </a:solidFill>
                <a:latin typeface="Calibri"/>
                <a:ea typeface="Calibri"/>
                <a:cs typeface="Calibri"/>
              </a:defRPr>
            </a:pPr>
            <a:r>
              <a:rPr sz="2200" b="0">
                <a:solidFill>
                  <a:srgbClr val="64748B"/>
                </a:solidFill>
                <a:latin typeface="Calibri"/>
                <a:ea typeface="Calibri"/>
                <a:cs typeface="Calibri"/>
              </a:rPr>
              <a:t>Architecture defined by project contracts. Feature delivery remains in progress.</a:t>
            </a:r>
          </a:p>
        </p:txBody>
      </p:sp>
    </p:spTree>
    <p:extLst>
      <p:ext uri="{BB962C8B-B14F-4D97-AF65-F5344CB8AC3E}">
        <p14:creationId xmlns:p14="http://schemas.microsoft.com/office/powerpoint/2010/main" val="11929936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533CD5A-B191-4886-B01F-4D02974A4774}"/>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5.2. Responsibility and Enforcement Boundaries</a:t>
            </a:r>
          </a:p>
        </p:txBody>
      </p:sp>
      <p:sp>
        <p:nvSpPr>
          <p:cNvPr id="2" name="">
            <a:extLst xmlns:a="http://schemas.openxmlformats.org/drawingml/2006/main">
              <a:ext uri="{FF2B5EF4-FFF2-40B4-BE49-F238E27FC236}">
                <a16:creationId xmlns:a16="http://schemas.microsoft.com/office/drawing/2014/main" id="{44482231-0AA4-4CAE-A11B-409EA5503A2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A9C61406-9F19-4E4F-BBDD-39E6D051BCE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B94DA0EF-22BF-49CA-9AF0-D4C2AAAB9AC5}"/>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ADR-001; ADR-005; backend Constitution</a:t>
            </a:r>
          </a:p>
        </p:txBody>
      </p:sp>
      <p:sp>
        <p:nvSpPr>
          <p:cNvPr id="5" name="text">
            <a:extLst xmlns:a="http://schemas.openxmlformats.org/drawingml/2006/main">
              <a:ext uri="{FF2B5EF4-FFF2-40B4-BE49-F238E27FC236}">
                <a16:creationId xmlns:a16="http://schemas.microsoft.com/office/drawing/2014/main" id="{7F02405B-1D86-4F0D-A63F-162713DE75E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19 / 32</a:t>
            </a:r>
          </a:p>
        </p:txBody>
      </p:sp>
      <p:sp>
        <p:nvSpPr>
          <p:cNvPr id="6" name="text">
            <a:extLst xmlns:a="http://schemas.openxmlformats.org/drawingml/2006/main">
              <a:ext uri="{FF2B5EF4-FFF2-40B4-BE49-F238E27FC236}">
                <a16:creationId xmlns:a16="http://schemas.microsoft.com/office/drawing/2014/main" id="{DC29EE34-AC0D-4244-BF64-F8C8B64D025D}"/>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The backend is responsible for decisions that depend on identity, shared state, and product rules.</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4023360"/>
                <a:gridCol w="4861560"/>
                <a:gridCol w="7879080"/>
              </a:tblGrid>
              <a:tr h="708279">
                <a:tc>
                  <a:txBody>
                    <a:bodyPr wrap="square">
                      <a:noAutofit/>
                    </a:bodyPr>
                    <a:lstStyle/>
                    <a:p>
                      <a:r>
                        <a:rPr sz="2400" b="1">
                          <a:solidFill>
                            <a:srgbClr val="111827"/>
                          </a:solidFill>
                          <a:latin typeface="Calibri"/>
                          <a:ea typeface="Calibri"/>
                          <a:cs typeface="Calibri"/>
                        </a:rPr>
                        <a:t>Rule</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Enforcement owner</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Product example</a:t>
                      </a:r>
                    </a:p>
                  </a:txBody>
                  <a:tcPr marL="165100" marR="165100" marT="127000" marB="127000" anchor="ctr">
                    <a:solidFill>
                      <a:srgbClr val="D8EDF4"/>
                    </a:solidFill>
                  </a:tcPr>
                </a:tc>
              </a:tr>
              <a:tr h="1070991">
                <a:tc>
                  <a:txBody>
                    <a:bodyPr wrap="square">
                      <a:noAutofit/>
                    </a:bodyPr>
                    <a:lstStyle/>
                    <a:p>
                      <a:r>
                        <a:rPr sz="2400" b="0">
                          <a:solidFill>
                            <a:srgbClr val="111827"/>
                          </a:solidFill>
                          <a:latin typeface="Calibri"/>
                          <a:ea typeface="Calibri"/>
                          <a:cs typeface="Calibri"/>
                        </a:rPr>
                        <a:t>ADMIN and resource ownership</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Backend services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Learners cannot publish content or read another user's chat</a:t>
                      </a:r>
                    </a:p>
                  </a:txBody>
                  <a:tcPr marL="165100" marR="165100" marT="127000" marB="127000" anchor="ctr">
                    <a:solidFill>
                      <a:srgbClr val="FFFFFF"/>
                    </a:solidFill>
                  </a:tcPr>
                </a:tc>
              </a:tr>
              <a:tr h="708279">
                <a:tc>
                  <a:txBody>
                    <a:bodyPr wrap="square">
                      <a:noAutofit/>
                    </a:bodyPr>
                    <a:lstStyle/>
                    <a:p>
                      <a:r>
                        <a:rPr sz="2400" b="0">
                          <a:solidFill>
                            <a:srgbClr val="111827"/>
                          </a:solidFill>
                          <a:latin typeface="Calibri"/>
                          <a:ea typeface="Calibri"/>
                          <a:cs typeface="Calibri"/>
                        </a:rPr>
                        <a:t>Publication prerequisites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Content services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 lesson requires published segments and approved media</a:t>
                      </a:r>
                    </a:p>
                  </a:txBody>
                  <a:tcPr marL="165100" marR="165100" marT="127000" marB="127000" anchor="ctr">
                    <a:solidFill>
                      <a:srgbClr val="F3F8FB"/>
                    </a:solidFill>
                  </a:tcPr>
                </a:tc>
              </a:tr>
              <a:tr h="1070991">
                <a:tc>
                  <a:txBody>
                    <a:bodyPr wrap="square">
                      <a:noAutofit/>
                    </a:bodyPr>
                    <a:lstStyle/>
                    <a:p>
                      <a:r>
                        <a:rPr sz="2400" b="0">
                          <a:solidFill>
                            <a:srgbClr val="111827"/>
                          </a:solidFill>
                          <a:latin typeface="Calibri"/>
                          <a:ea typeface="Calibri"/>
                          <a:cs typeface="Calibri"/>
                        </a:rPr>
                        <a:t>Allowance and logical retries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Backend with transaction and data safeguards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One eligible message must not consume quota twice</a:t>
                      </a:r>
                    </a:p>
                  </a:txBody>
                  <a:tcPr marL="165100" marR="165100" marT="127000" marB="127000" anchor="ctr">
                    <a:solidFill>
                      <a:srgbClr val="FFFFFF"/>
                    </a:solidFill>
                  </a:tcPr>
                </a:tc>
              </a:tr>
              <a:tr h="708279">
                <a:tc>
                  <a:txBody>
                    <a:bodyPr wrap="square">
                      <a:noAutofit/>
                    </a:bodyPr>
                    <a:lstStyle/>
                    <a:p>
                      <a:r>
                        <a:rPr sz="2400" b="0">
                          <a:solidFill>
                            <a:srgbClr val="111827"/>
                          </a:solidFill>
                          <a:latin typeface="Calibri"/>
                          <a:ea typeface="Calibri"/>
                          <a:cs typeface="Calibri"/>
                        </a:rPr>
                        <a:t>AI response generation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ai-service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Produce a reply for the selected learning activity</a:t>
                      </a:r>
                    </a:p>
                  </a:txBody>
                  <a:tcPr marL="165100" marR="165100" marT="127000" marB="127000" anchor="ctr">
                    <a:solidFill>
                      <a:srgbClr val="F3F8FB"/>
                    </a:solidFill>
                  </a:tcPr>
                </a:tc>
              </a:tr>
              <a:tr h="1070991">
                <a:tc>
                  <a:txBody>
                    <a:bodyPr wrap="square">
                      <a:noAutofit/>
                    </a:bodyPr>
                    <a:lstStyle/>
                    <a:p>
                      <a:r>
                        <a:rPr sz="2400" b="0">
                          <a:solidFill>
                            <a:srgbClr val="111827"/>
                          </a:solidFill>
                          <a:latin typeface="Calibri"/>
                          <a:ea typeface="Calibri"/>
                          <a:cs typeface="Calibri"/>
                        </a:rPr>
                        <a:t>Output acceptance and persistence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Backend, with service-side validation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Reject an invalid AI result before saving it</a:t>
                      </a:r>
                    </a:p>
                  </a:txBody>
                  <a:tcPr marL="165100" marR="165100" marT="127000" marB="127000" anchor="ctr">
                    <a:solidFill>
                      <a:srgbClr val="FFFFFF"/>
                    </a:solidFill>
                  </a:tcPr>
                </a:tc>
              </a:tr>
              <a:tr h="708279">
                <a:tc>
                  <a:txBody>
                    <a:bodyPr wrap="square">
                      <a:noAutofit/>
                    </a:bodyPr>
                    <a:lstStyle/>
                    <a:p>
                      <a:r>
                        <a:rPr sz="2400" b="0">
                          <a:solidFill>
                            <a:srgbClr val="111827"/>
                          </a:solidFill>
                          <a:latin typeface="Calibri"/>
                          <a:ea typeface="Calibri"/>
                          <a:cs typeface="Calibri"/>
                        </a:rPr>
                        <a:t>Loading, errors, and recovery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React using backend responses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Explain a conflict and let the admin reload</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5C2A0345-5A78-4A4F-9C3D-2AD0FCEA3122}"/>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Architecture rationale:</a:t>
            </a:r>
            <a:r>
              <a:rPr b="0">
                <a:latin typeface="Calibri"/>
                <a:ea typeface="Calibri"/>
                <a:cs typeface="Calibri"/>
              </a:rPr>
              <a:t> Keep related business decisions within the modular backend and isolate provider orchestration behind a private contract.</a:t>
            </a:r>
          </a:p>
        </p:txBody>
      </p:sp>
    </p:spTree>
    <p:extLst>
      <p:ext uri="{BB962C8B-B14F-4D97-AF65-F5344CB8AC3E}">
        <p14:creationId xmlns:p14="http://schemas.microsoft.com/office/powerpoint/2010/main" val="5059584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795733DB-1036-41BB-8EBA-9AF22AC7E695}"/>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5.3. AI Input and Output Control</a:t>
            </a:r>
          </a:p>
        </p:txBody>
      </p:sp>
      <p:sp>
        <p:nvSpPr>
          <p:cNvPr id="2" name="">
            <a:extLst xmlns:a="http://schemas.openxmlformats.org/drawingml/2006/main">
              <a:ext uri="{FF2B5EF4-FFF2-40B4-BE49-F238E27FC236}">
                <a16:creationId xmlns:a16="http://schemas.microsoft.com/office/drawing/2014/main" id="{83DAB74B-D5A3-4BF4-AF06-D5358A7CBC4E}"/>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056A64AF-AFAF-4044-A00C-2E01F9C683A0}"/>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81E2558-4154-4B44-8700-D9B166594699}"/>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F11 spec and plan, FR-003/004/007–009/012–015</a:t>
            </a:r>
          </a:p>
        </p:txBody>
      </p:sp>
      <p:sp>
        <p:nvSpPr>
          <p:cNvPr id="5" name="text">
            <a:extLst xmlns:a="http://schemas.openxmlformats.org/drawingml/2006/main">
              <a:ext uri="{FF2B5EF4-FFF2-40B4-BE49-F238E27FC236}">
                <a16:creationId xmlns:a16="http://schemas.microsoft.com/office/drawing/2014/main" id="{A1A90A24-8DDF-423A-84EE-49D80566FB0C}"/>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20 / 32</a:t>
            </a:r>
          </a:p>
        </p:txBody>
      </p:sp>
      <p:sp>
        <p:nvSpPr>
          <p:cNvPr id="6" name="text">
            <a:extLst xmlns:a="http://schemas.openxmlformats.org/drawingml/2006/main">
              <a:ext uri="{FF2B5EF4-FFF2-40B4-BE49-F238E27FC236}">
                <a16:creationId xmlns:a16="http://schemas.microsoft.com/office/drawing/2014/main" id="{AEBFEA79-D843-4897-9C5E-8321E8C484E3}"/>
              </a:ext>
            </a:extLst>
          </p:cNvPr>
          <p:cNvSpPr>
            <a:spLocks xmlns:a="http://schemas.openxmlformats.org/drawingml/2006/main" noGrp="1"/>
          </p:cNvSpPr>
          <p:nvPr/>
        </p:nvSpPr>
        <p:spPr>
          <a:xfrm xmlns:a="http://schemas.openxmlformats.org/drawingml/2006/main">
            <a:off x="762000" y="1790700"/>
            <a:ext cx="1676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F11 defines a bounded learning conversation with checks before provider work and before persistence.</a:t>
            </a:r>
          </a:p>
        </p:txBody>
      </p:sp>
      <p:graphicFrame>
        <p:nvGraphicFramePr>
          <p:cNvPr id="25" name=""/>
          <p:cNvGraphicFramePr/>
          <p:nvPr/>
        </p:nvGraphicFramePr>
        <p:xfrm>
          <a:off xmlns:a="http://schemas.openxmlformats.org/drawingml/2006/main" x="762000" y="2844800"/>
          <a:ext xmlns:a="http://schemas.openxmlformats.org/drawingml/2006/main" cx="10287000" cy="5410200"/>
        </p:xfrm>
        <a:graphic xmlns:a="http://schemas.openxmlformats.org/drawingml/2006/main">
          <a:graphicData uri="http://schemas.openxmlformats.org/drawingml/2006/table">
            <a:tbl>
              <a:tblPr firstRow="1" bandRow="0"/>
              <a:tblGrid>
                <a:gridCol w="2366010"/>
                <a:gridCol w="7920990"/>
              </a:tblGrid>
              <a:tr h="727900">
                <a:tc>
                  <a:txBody>
                    <a:bodyPr wrap="square">
                      <a:noAutofit/>
                    </a:bodyPr>
                    <a:lstStyle/>
                    <a:p>
                      <a:r>
                        <a:rPr sz="2300" b="1">
                          <a:solidFill>
                            <a:srgbClr val="111827"/>
                          </a:solidFill>
                          <a:latin typeface="Calibri"/>
                          <a:ea typeface="Calibri"/>
                          <a:cs typeface="Calibri"/>
                        </a:rPr>
                        <a:t>Stage</a:t>
                      </a:r>
                    </a:p>
                  </a:txBody>
                  <a:tcPr marL="165100" marR="165100" marT="127000" marB="127000" anchor="ctr">
                    <a:solidFill>
                      <a:srgbClr val="D8EDF4"/>
                    </a:solidFill>
                  </a:tcPr>
                </a:tc>
                <a:tc>
                  <a:txBody>
                    <a:bodyPr wrap="square">
                      <a:noAutofit/>
                    </a:bodyPr>
                    <a:lstStyle/>
                    <a:p>
                      <a:r>
                        <a:rPr sz="2300" b="1">
                          <a:solidFill>
                            <a:srgbClr val="111827"/>
                          </a:solidFill>
                          <a:latin typeface="Calibri"/>
                          <a:ea typeface="Calibri"/>
                          <a:cs typeface="Calibri"/>
                        </a:rPr>
                        <a:t>Required control</a:t>
                      </a:r>
                    </a:p>
                  </a:txBody>
                  <a:tcPr marL="165100" marR="165100" marT="127000" marB="127000" anchor="ctr">
                    <a:solidFill>
                      <a:srgbClr val="D8EDF4"/>
                    </a:solidFill>
                  </a:tcPr>
                </a:tc>
              </a:tr>
              <a:tr h="1075500">
                <a:tc>
                  <a:txBody>
                    <a:bodyPr wrap="square">
                      <a:noAutofit/>
                    </a:bodyPr>
                    <a:lstStyle/>
                    <a:p>
                      <a:r>
                        <a:rPr sz="2300" b="0">
                          <a:solidFill>
                            <a:srgbClr val="111827"/>
                          </a:solidFill>
                          <a:latin typeface="Calibri"/>
                          <a:ea typeface="Calibri"/>
                          <a:cs typeface="Calibri"/>
                        </a:rPr>
                        <a:t>Receive</a:t>
                      </a:r>
                    </a:p>
                  </a:txBody>
                  <a:tcPr marL="165100" marR="165100" marT="127000" marB="127000" anchor="ctr">
                    <a:solidFill>
                      <a:srgbClr val="FFFFFF"/>
                    </a:solidFill>
                  </a:tcPr>
                </a:tc>
                <a:tc>
                  <a:txBody>
                    <a:bodyPr wrap="square">
                      <a:noAutofit/>
                    </a:bodyPr>
                    <a:lstStyle/>
                    <a:p>
                      <a:r>
                        <a:rPr sz="2300" b="0">
                          <a:solidFill>
                            <a:srgbClr val="111827"/>
                          </a:solidFill>
                          <a:latin typeface="Calibri"/>
                          <a:ea typeface="Calibri"/>
                          <a:cs typeface="Calibri"/>
                        </a:rPr>
                        <a:t>Validate identity, conversation ownership, logical retry, and rate limit</a:t>
                      </a:r>
                    </a:p>
                  </a:txBody>
                  <a:tcPr marL="165100" marR="165100" marT="127000" marB="127000" anchor="ctr">
                    <a:solidFill>
                      <a:srgbClr val="FFFFFF"/>
                    </a:solidFill>
                  </a:tcPr>
                </a:tc>
              </a:tr>
              <a:tr h="727900">
                <a:tc>
                  <a:txBody>
                    <a:bodyPr wrap="square">
                      <a:noAutofit/>
                    </a:bodyPr>
                    <a:lstStyle/>
                    <a:p>
                      <a:r>
                        <a:rPr sz="2300" b="0">
                          <a:solidFill>
                            <a:srgbClr val="111827"/>
                          </a:solidFill>
                          <a:latin typeface="Calibri"/>
                          <a:ea typeface="Calibri"/>
                          <a:cs typeface="Calibri"/>
                        </a:rPr>
                        <a:t>Check input</a:t>
                      </a:r>
                    </a:p>
                  </a:txBody>
                  <a:tcPr marL="165100" marR="165100" marT="127000" marB="127000" anchor="ctr">
                    <a:solidFill>
                      <a:srgbClr val="F3F8FB"/>
                    </a:solidFill>
                  </a:tcPr>
                </a:tc>
                <a:tc>
                  <a:txBody>
                    <a:bodyPr wrap="square">
                      <a:noAutofit/>
                    </a:bodyPr>
                    <a:lstStyle/>
                    <a:p>
                      <a:r>
                        <a:rPr sz="2300" b="0">
                          <a:solidFill>
                            <a:srgbClr val="111827"/>
                          </a:solidFill>
                          <a:latin typeface="Calibri"/>
                          <a:ea typeface="Calibri"/>
                          <a:cs typeface="Calibri"/>
                        </a:rPr>
                        <a:t>Allow plain text within the selected Chinese-learning activity</a:t>
                      </a:r>
                    </a:p>
                  </a:txBody>
                  <a:tcPr marL="165100" marR="165100" marT="127000" marB="127000" anchor="ctr">
                    <a:solidFill>
                      <a:srgbClr val="F3F8FB"/>
                    </a:solidFill>
                  </a:tcPr>
                </a:tc>
              </a:tr>
              <a:tr h="1075500">
                <a:tc>
                  <a:txBody>
                    <a:bodyPr wrap="square">
                      <a:noAutofit/>
                    </a:bodyPr>
                    <a:lstStyle/>
                    <a:p>
                      <a:r>
                        <a:rPr sz="2300" b="0">
                          <a:solidFill>
                            <a:srgbClr val="111827"/>
                          </a:solidFill>
                          <a:latin typeface="Calibri"/>
                          <a:ea typeface="Calibri"/>
                          <a:cs typeface="Calibri"/>
                        </a:rPr>
                        <a:t>Reserve and dispatch</a:t>
                      </a:r>
                    </a:p>
                  </a:txBody>
                  <a:tcPr marL="165100" marR="165100" marT="127000" marB="127000" anchor="ctr">
                    <a:solidFill>
                      <a:srgbClr val="FFFFFF"/>
                    </a:solidFill>
                  </a:tcPr>
                </a:tc>
                <a:tc>
                  <a:txBody>
                    <a:bodyPr wrap="square">
                      <a:noAutofit/>
                    </a:bodyPr>
                    <a:lstStyle/>
                    <a:p>
                      <a:r>
                        <a:rPr sz="2300" b="0">
                          <a:solidFill>
                            <a:srgbClr val="111827"/>
                          </a:solidFill>
                          <a:latin typeface="Calibri"/>
                          <a:ea typeface="Calibri"/>
                          <a:cs typeface="Calibri"/>
                        </a:rPr>
                        <a:t>Reserve allowance once and send only the permitted context through the private contract</a:t>
                      </a:r>
                    </a:p>
                  </a:txBody>
                  <a:tcPr marL="165100" marR="165100" marT="127000" marB="127000" anchor="ctr">
                    <a:solidFill>
                      <a:srgbClr val="FFFFFF"/>
                    </a:solidFill>
                  </a:tcPr>
                </a:tc>
              </a:tr>
              <a:tr h="727900">
                <a:tc>
                  <a:txBody>
                    <a:bodyPr wrap="square">
                      <a:noAutofit/>
                    </a:bodyPr>
                    <a:lstStyle/>
                    <a:p>
                      <a:r>
                        <a:rPr sz="2300" b="0">
                          <a:solidFill>
                            <a:srgbClr val="111827"/>
                          </a:solidFill>
                          <a:latin typeface="Calibri"/>
                          <a:ea typeface="Calibri"/>
                          <a:cs typeface="Calibri"/>
                        </a:rPr>
                        <a:t>Validate output</a:t>
                      </a:r>
                    </a:p>
                  </a:txBody>
                  <a:tcPr marL="165100" marR="165100" marT="127000" marB="127000" anchor="ctr">
                    <a:solidFill>
                      <a:srgbClr val="F3F8FB"/>
                    </a:solidFill>
                  </a:tcPr>
                </a:tc>
                <a:tc>
                  <a:txBody>
                    <a:bodyPr wrap="square">
                      <a:noAutofit/>
                    </a:bodyPr>
                    <a:lstStyle/>
                    <a:p>
                      <a:r>
                        <a:rPr sz="2300" b="0">
                          <a:solidFill>
                            <a:srgbClr val="111827"/>
                          </a:solidFill>
                          <a:latin typeface="Calibri"/>
                          <a:ea typeface="Calibri"/>
                          <a:cs typeface="Calibri"/>
                        </a:rPr>
                        <a:t>Check structure and content before accepting the response</a:t>
                      </a:r>
                    </a:p>
                  </a:txBody>
                  <a:tcPr marL="165100" marR="165100" marT="127000" marB="127000" anchor="ctr">
                    <a:solidFill>
                      <a:srgbClr val="F3F8FB"/>
                    </a:solidFill>
                  </a:tcPr>
                </a:tc>
              </a:tr>
              <a:tr h="1075500">
                <a:tc>
                  <a:txBody>
                    <a:bodyPr wrap="square">
                      <a:noAutofit/>
                    </a:bodyPr>
                    <a:lstStyle/>
                    <a:p>
                      <a:r>
                        <a:rPr sz="2300" b="0">
                          <a:solidFill>
                            <a:srgbClr val="111827"/>
                          </a:solidFill>
                          <a:latin typeface="Calibri"/>
                          <a:ea typeface="Calibri"/>
                          <a:cs typeface="Calibri"/>
                        </a:rPr>
                        <a:t>Complete</a:t>
                      </a:r>
                    </a:p>
                  </a:txBody>
                  <a:tcPr marL="165100" marR="165100" marT="127000" marB="127000" anchor="ctr">
                    <a:solidFill>
                      <a:srgbClr val="FFFFFF"/>
                    </a:solidFill>
                  </a:tcPr>
                </a:tc>
                <a:tc>
                  <a:txBody>
                    <a:bodyPr wrap="square">
                      <a:noAutofit/>
                    </a:bodyPr>
                    <a:lstStyle/>
                    <a:p>
                      <a:r>
                        <a:rPr sz="2300" b="0">
                          <a:solidFill>
                            <a:srgbClr val="111827"/>
                          </a:solidFill>
                          <a:latin typeface="Calibri"/>
                          <a:ea typeface="Calibri"/>
                          <a:cs typeface="Calibri"/>
                        </a:rPr>
                        <a:t>Save a valid message pair or return a safe failure with exactly-once allowance restoration</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9EDFFE59-E3F9-4C18-A51B-08EA76809242}"/>
              </a:ext>
            </a:extLst>
          </p:cNvPr>
          <p:cNvSpPr>
            <a:spLocks xmlns:a="http://schemas.openxmlformats.org/drawingml/2006/main" noGrp="1"/>
          </p:cNvSpPr>
          <p:nvPr/>
        </p:nvSpPr>
        <p:spPr>
          <a:xfrm xmlns:a="http://schemas.openxmlformats.org/drawingml/2006/main">
            <a:off x="11760200" y="2857500"/>
            <a:ext cx="5765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0C0"/>
                </a:solidFill>
                <a:latin typeface="Calibri"/>
                <a:ea typeface="Calibri"/>
                <a:cs typeface="Calibri"/>
              </a:defRPr>
            </a:pPr>
            <a:r>
              <a:rPr sz="2700" b="1">
                <a:solidFill>
                  <a:srgbClr val="0070C0"/>
                </a:solidFill>
                <a:latin typeface="Calibri"/>
                <a:ea typeface="Calibri"/>
                <a:cs typeface="Calibri"/>
              </a:rPr>
              <a:t>Limits defined in F11</a:t>
            </a:r>
          </a:p>
        </p:txBody>
      </p:sp>
      <p:sp>
        <p:nvSpPr>
          <p:cNvPr id="9" name="text">
            <a:extLst xmlns:a="http://schemas.openxmlformats.org/drawingml/2006/main">
              <a:ext uri="{FF2B5EF4-FFF2-40B4-BE49-F238E27FC236}">
                <a16:creationId xmlns:a16="http://schemas.microsoft.com/office/drawing/2014/main" id="{C620A666-B83B-4703-91EF-9305FD7F3793}"/>
              </a:ext>
            </a:extLst>
          </p:cNvPr>
          <p:cNvSpPr>
            <a:spLocks xmlns:a="http://schemas.openxmlformats.org/drawingml/2006/main" noGrp="1"/>
          </p:cNvSpPr>
          <p:nvPr/>
        </p:nvSpPr>
        <p:spPr>
          <a:xfrm xmlns:a="http://schemas.openxmlformats.org/drawingml/2006/main">
            <a:off x="11760200" y="3594100"/>
            <a:ext cx="1651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1,000</a:t>
            </a:r>
          </a:p>
        </p:txBody>
      </p:sp>
      <p:sp>
        <p:nvSpPr>
          <p:cNvPr id="10" name="text">
            <a:extLst xmlns:a="http://schemas.openxmlformats.org/drawingml/2006/main">
              <a:ext uri="{FF2B5EF4-FFF2-40B4-BE49-F238E27FC236}">
                <a16:creationId xmlns:a16="http://schemas.microsoft.com/office/drawing/2014/main" id="{43DD91A2-5047-4219-99A6-47098B70B7B0}"/>
              </a:ext>
            </a:extLst>
          </p:cNvPr>
          <p:cNvSpPr>
            <a:spLocks xmlns:a="http://schemas.openxmlformats.org/drawingml/2006/main" noGrp="1"/>
          </p:cNvSpPr>
          <p:nvPr/>
        </p:nvSpPr>
        <p:spPr>
          <a:xfrm xmlns:a="http://schemas.openxmlformats.org/drawingml/2006/main">
            <a:off x="13512800" y="3543300"/>
            <a:ext cx="40132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characters per learner message</a:t>
            </a:r>
          </a:p>
        </p:txBody>
      </p:sp>
      <p:sp>
        <p:nvSpPr>
          <p:cNvPr id="11" name="text">
            <a:extLst xmlns:a="http://schemas.openxmlformats.org/drawingml/2006/main">
              <a:ext uri="{FF2B5EF4-FFF2-40B4-BE49-F238E27FC236}">
                <a16:creationId xmlns:a16="http://schemas.microsoft.com/office/drawing/2014/main" id="{5B2AF650-F852-4FCB-8180-4CA809D34E84}"/>
              </a:ext>
            </a:extLst>
          </p:cNvPr>
          <p:cNvSpPr>
            <a:spLocks xmlns:a="http://schemas.openxmlformats.org/drawingml/2006/main" noGrp="1"/>
          </p:cNvSpPr>
          <p:nvPr/>
        </p:nvSpPr>
        <p:spPr>
          <a:xfrm xmlns:a="http://schemas.openxmlformats.org/drawingml/2006/main">
            <a:off x="11760200" y="4724400"/>
            <a:ext cx="1651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10</a:t>
            </a:r>
          </a:p>
        </p:txBody>
      </p:sp>
      <p:sp>
        <p:nvSpPr>
          <p:cNvPr id="12" name="text">
            <a:extLst xmlns:a="http://schemas.openxmlformats.org/drawingml/2006/main">
              <a:ext uri="{FF2B5EF4-FFF2-40B4-BE49-F238E27FC236}">
                <a16:creationId xmlns:a16="http://schemas.microsoft.com/office/drawing/2014/main" id="{20DCF9C8-86DE-4C43-B8BC-B4B6B9695C00}"/>
              </a:ext>
            </a:extLst>
          </p:cNvPr>
          <p:cNvSpPr>
            <a:spLocks xmlns:a="http://schemas.openxmlformats.org/drawingml/2006/main" noGrp="1"/>
          </p:cNvSpPr>
          <p:nvPr/>
        </p:nvSpPr>
        <p:spPr>
          <a:xfrm xmlns:a="http://schemas.openxmlformats.org/drawingml/2006/main">
            <a:off x="13512800" y="4673600"/>
            <a:ext cx="40132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completed prior messages from</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the same conversation</a:t>
            </a:r>
          </a:p>
        </p:txBody>
      </p:sp>
      <p:sp>
        <p:nvSpPr>
          <p:cNvPr id="13" name="text">
            <a:extLst xmlns:a="http://schemas.openxmlformats.org/drawingml/2006/main">
              <a:ext uri="{FF2B5EF4-FFF2-40B4-BE49-F238E27FC236}">
                <a16:creationId xmlns:a16="http://schemas.microsoft.com/office/drawing/2014/main" id="{A0D25B59-B7C4-49AC-865A-108E2750B89F}"/>
              </a:ext>
            </a:extLst>
          </p:cNvPr>
          <p:cNvSpPr>
            <a:spLocks xmlns:a="http://schemas.openxmlformats.org/drawingml/2006/main" noGrp="1"/>
          </p:cNvSpPr>
          <p:nvPr/>
        </p:nvSpPr>
        <p:spPr>
          <a:xfrm xmlns:a="http://schemas.openxmlformats.org/drawingml/2006/main">
            <a:off x="11760200" y="5854700"/>
            <a:ext cx="1651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5</a:t>
            </a:r>
          </a:p>
        </p:txBody>
      </p:sp>
      <p:sp>
        <p:nvSpPr>
          <p:cNvPr id="14" name="text">
            <a:extLst xmlns:a="http://schemas.openxmlformats.org/drawingml/2006/main">
              <a:ext uri="{FF2B5EF4-FFF2-40B4-BE49-F238E27FC236}">
                <a16:creationId xmlns:a16="http://schemas.microsoft.com/office/drawing/2014/main" id="{EE7F6296-2811-4412-AEDD-F2362EFFAE7E}"/>
              </a:ext>
            </a:extLst>
          </p:cNvPr>
          <p:cNvSpPr>
            <a:spLocks xmlns:a="http://schemas.openxmlformats.org/drawingml/2006/main" noGrp="1"/>
          </p:cNvSpPr>
          <p:nvPr/>
        </p:nvSpPr>
        <p:spPr>
          <a:xfrm xmlns:a="http://schemas.openxmlformats.org/drawingml/2006/main">
            <a:off x="13512800" y="5803900"/>
            <a:ext cx="40132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send attempts per rolling</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minute. Logical retries do not</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add an attempt.</a:t>
            </a:r>
          </a:p>
        </p:txBody>
      </p:sp>
      <p:sp>
        <p:nvSpPr>
          <p:cNvPr id="15" name="text">
            <a:extLst xmlns:a="http://schemas.openxmlformats.org/drawingml/2006/main">
              <a:ext uri="{FF2B5EF4-FFF2-40B4-BE49-F238E27FC236}">
                <a16:creationId xmlns:a16="http://schemas.microsoft.com/office/drawing/2014/main" id="{941763C4-F930-4D22-B199-E70B71147DF0}"/>
              </a:ext>
            </a:extLst>
          </p:cNvPr>
          <p:cNvSpPr>
            <a:spLocks xmlns:a="http://schemas.openxmlformats.org/drawingml/2006/main" noGrp="1"/>
          </p:cNvSpPr>
          <p:nvPr/>
        </p:nvSpPr>
        <p:spPr>
          <a:xfrm xmlns:a="http://schemas.openxmlformats.org/drawingml/2006/main">
            <a:off x="11760200" y="6985000"/>
            <a:ext cx="1651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0070C0"/>
                </a:solidFill>
                <a:latin typeface="Calibri"/>
                <a:ea typeface="Calibri"/>
                <a:cs typeface="Calibri"/>
              </a:defRPr>
            </a:pPr>
            <a:r>
              <a:rPr sz="3200" b="1">
                <a:solidFill>
                  <a:srgbClr val="0070C0"/>
                </a:solidFill>
                <a:latin typeface="Calibri"/>
                <a:ea typeface="Calibri"/>
                <a:cs typeface="Calibri"/>
              </a:rPr>
              <a:t>30 sec</a:t>
            </a:r>
          </a:p>
        </p:txBody>
      </p:sp>
      <p:sp>
        <p:nvSpPr>
          <p:cNvPr id="16" name="text">
            <a:extLst xmlns:a="http://schemas.openxmlformats.org/drawingml/2006/main">
              <a:ext uri="{FF2B5EF4-FFF2-40B4-BE49-F238E27FC236}">
                <a16:creationId xmlns:a16="http://schemas.microsoft.com/office/drawing/2014/main" id="{936216B9-B529-490B-92C8-7AFD93577538}"/>
              </a:ext>
            </a:extLst>
          </p:cNvPr>
          <p:cNvSpPr>
            <a:spLocks xmlns:a="http://schemas.openxmlformats.org/drawingml/2006/main" noGrp="1"/>
          </p:cNvSpPr>
          <p:nvPr/>
        </p:nvSpPr>
        <p:spPr>
          <a:xfrm xmlns:a="http://schemas.openxmlformats.org/drawingml/2006/main">
            <a:off x="13512800" y="6934200"/>
            <a:ext cx="40132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to a terminal result within the</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original deadline</a:t>
            </a:r>
          </a:p>
        </p:txBody>
      </p:sp>
      <p:sp>
        <p:nvSpPr>
          <p:cNvPr id="17" name="text">
            <a:extLst xmlns:a="http://schemas.openxmlformats.org/drawingml/2006/main">
              <a:ext uri="{FF2B5EF4-FFF2-40B4-BE49-F238E27FC236}">
                <a16:creationId xmlns:a16="http://schemas.microsoft.com/office/drawing/2014/main" id="{D25F94A5-F664-4B46-8B9F-0ED64028F35A}"/>
              </a:ext>
            </a:extLst>
          </p:cNvPr>
          <p:cNvSpPr>
            <a:spLocks xmlns:a="http://schemas.openxmlformats.org/drawingml/2006/main" noGrp="1"/>
          </p:cNvSpPr>
          <p:nvPr/>
        </p:nvSpPr>
        <p:spPr>
          <a:xfrm xmlns:a="http://schemas.openxmlformats.org/drawingml/2006/main">
            <a:off x="762000" y="8509000"/>
            <a:ext cx="16764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sz="2300" b="0">
                <a:solidFill>
                  <a:srgbClr val="111827"/>
                </a:solidFill>
                <a:latin typeface="Calibri"/>
                <a:ea typeface="Calibri"/>
                <a:cs typeface="Calibri"/>
              </a:rPr>
              <a:t>Required reply: Chinese response, concise Vietnamese explanation, and at most one practice suggestion.</a:t>
            </a:r>
          </a:p>
        </p:txBody>
      </p:sp>
      <p:sp>
        <p:nvSpPr>
          <p:cNvPr id="18" name="text">
            <a:extLst xmlns:a="http://schemas.openxmlformats.org/drawingml/2006/main">
              <a:ext uri="{FF2B5EF4-FFF2-40B4-BE49-F238E27FC236}">
                <a16:creationId xmlns:a16="http://schemas.microsoft.com/office/drawing/2014/main" id="{D0A0C043-BF28-4B50-B227-D0096EB2BDF9}"/>
              </a:ext>
            </a:extLst>
          </p:cNvPr>
          <p:cNvSpPr>
            <a:spLocks xmlns:a="http://schemas.openxmlformats.org/drawingml/2006/main" noGrp="1"/>
          </p:cNvSpPr>
          <p:nvPr/>
        </p:nvSpPr>
        <p:spPr>
          <a:xfrm xmlns:a="http://schemas.openxmlformats.org/drawingml/2006/main">
            <a:off x="762000" y="9296400"/>
            <a:ext cx="1676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64748B"/>
                </a:solidFill>
                <a:latin typeface="Calibri"/>
                <a:ea typeface="Calibri"/>
                <a:cs typeface="Calibri"/>
              </a:defRPr>
            </a:pPr>
            <a:r>
              <a:rPr sz="2000" b="0">
                <a:solidFill>
                  <a:srgbClr val="64748B"/>
                </a:solidFill>
                <a:latin typeface="Calibri"/>
                <a:ea typeface="Calibri"/>
                <a:cs typeface="Calibri"/>
              </a:rPr>
              <a:t>These are design requirements, not measured production guarantees.</a:t>
            </a:r>
          </a:p>
        </p:txBody>
      </p:sp>
    </p:spTree>
    <p:extLst>
      <p:ext uri="{BB962C8B-B14F-4D97-AF65-F5344CB8AC3E}">
        <p14:creationId xmlns:p14="http://schemas.microsoft.com/office/powerpoint/2010/main" val="17230178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
            <a:extLst xmlns:a="http://schemas.openxmlformats.org/drawingml/2006/main">
              <a:ext uri="{FF2B5EF4-FFF2-40B4-BE49-F238E27FC236}">
                <a16:creationId xmlns:a16="http://schemas.microsoft.com/office/drawing/2014/main" id="{DC4F80C2-8538-48FE-814E-3CD130F12C99}"/>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6.1. Requirement-to-Code Traceability</a:t>
            </a:r>
          </a:p>
        </p:txBody>
      </p:sp>
      <p:sp>
        <p:nvSpPr>
          <p:cNvPr id="2" name="">
            <a:extLst xmlns:a="http://schemas.openxmlformats.org/drawingml/2006/main">
              <a:ext uri="{FF2B5EF4-FFF2-40B4-BE49-F238E27FC236}">
                <a16:creationId xmlns:a16="http://schemas.microsoft.com/office/drawing/2014/main" id="{39647A8B-D1B0-490D-99C3-C1FA2CD3890B}"/>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81369F11-E538-4437-8052-D78CC5705567}"/>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67CC607F-1353-4E46-86C7-48ED7605718A}"/>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FR-004; T025; publication service and unit tests</a:t>
            </a:r>
          </a:p>
        </p:txBody>
      </p:sp>
      <p:sp>
        <p:nvSpPr>
          <p:cNvPr id="5" name="text">
            <a:extLst xmlns:a="http://schemas.openxmlformats.org/drawingml/2006/main">
              <a:ext uri="{FF2B5EF4-FFF2-40B4-BE49-F238E27FC236}">
                <a16:creationId xmlns:a16="http://schemas.microsoft.com/office/drawing/2014/main" id="{66509D0E-8875-4AA4-BAF4-50F94132CAD0}"/>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21 / 32</a:t>
            </a:r>
          </a:p>
        </p:txBody>
      </p:sp>
      <p:sp>
        <p:nvSpPr>
          <p:cNvPr id="6" name="text">
            <a:extLst xmlns:a="http://schemas.openxmlformats.org/drawingml/2006/main">
              <a:ext uri="{FF2B5EF4-FFF2-40B4-BE49-F238E27FC236}">
                <a16:creationId xmlns:a16="http://schemas.microsoft.com/office/drawing/2014/main" id="{0DEF1BB6-202E-40BA-96E1-5A6A46517114}"/>
              </a:ext>
            </a:extLst>
          </p:cNvPr>
          <p:cNvSpPr>
            <a:spLocks xmlns:a="http://schemas.openxmlformats.org/drawingml/2006/main" noGrp="1"/>
          </p:cNvSpPr>
          <p:nvPr/>
        </p:nvSpPr>
        <p:spPr>
          <a:xfrm xmlns:a="http://schemas.openxmlformats.org/drawingml/2006/main">
            <a:off x="762000" y="1790700"/>
            <a:ext cx="167640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F04 provides a concrete trace for the publication condition “a lesson must contain at least one segment.”</a:t>
            </a:r>
          </a:p>
        </p:txBody>
      </p:sp>
      <p:sp>
        <p:nvSpPr>
          <p:cNvPr id="7" name="text">
            <a:extLst xmlns:a="http://schemas.openxmlformats.org/drawingml/2006/main">
              <a:ext uri="{FF2B5EF4-FFF2-40B4-BE49-F238E27FC236}">
                <a16:creationId xmlns:a16="http://schemas.microsoft.com/office/drawing/2014/main" id="{2969A72F-C0A9-4C83-B53E-D69D070CD474}"/>
              </a:ext>
            </a:extLst>
          </p:cNvPr>
          <p:cNvSpPr>
            <a:spLocks xmlns:a="http://schemas.openxmlformats.org/drawingml/2006/main" noGrp="1"/>
          </p:cNvSpPr>
          <p:nvPr/>
        </p:nvSpPr>
        <p:spPr>
          <a:xfrm xmlns:a="http://schemas.openxmlformats.org/drawingml/2006/main">
            <a:off x="762000" y="3175000"/>
            <a:ext cx="309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0070C0"/>
                </a:solidFill>
                <a:latin typeface="Calibri"/>
                <a:ea typeface="Calibri"/>
                <a:cs typeface="Calibri"/>
              </a:defRPr>
            </a:pPr>
            <a:r>
              <a:rPr sz="2600" b="1">
                <a:solidFill>
                  <a:srgbClr val="0070C0"/>
                </a:solidFill>
                <a:latin typeface="Calibri"/>
                <a:ea typeface="Calibri"/>
                <a:cs typeface="Calibri"/>
              </a:rPr>
              <a:t>Requirement</a:t>
            </a:r>
          </a:p>
        </p:txBody>
      </p:sp>
      <p:sp>
        <p:nvSpPr>
          <p:cNvPr id="8" name="F04 FR-004">
            <a:extLst xmlns:a="http://schemas.openxmlformats.org/drawingml/2006/main">
              <a:ext uri="{FF2B5EF4-FFF2-40B4-BE49-F238E27FC236}">
                <a16:creationId xmlns:a16="http://schemas.microsoft.com/office/drawing/2014/main" id="{6FC94710-DF29-448F-A99D-CC5370C81D94}"/>
              </a:ext>
            </a:extLst>
          </p:cNvPr>
          <p:cNvSpPr>
            <a:spLocks xmlns:a="http://schemas.openxmlformats.org/drawingml/2006/main" noGrp="1"/>
          </p:cNvSpPr>
          <p:nvPr/>
        </p:nvSpPr>
        <p:spPr>
          <a:xfrm xmlns:a="http://schemas.openxmlformats.org/drawingml/2006/main">
            <a:off x="762000" y="3924300"/>
            <a:ext cx="3098800" cy="28067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9" name="text">
            <a:extLst xmlns:a="http://schemas.openxmlformats.org/drawingml/2006/main">
              <a:ext uri="{FF2B5EF4-FFF2-40B4-BE49-F238E27FC236}">
                <a16:creationId xmlns:a16="http://schemas.microsoft.com/office/drawing/2014/main" id="{59C5B3C3-682A-4B33-ADBE-988390877E4A}"/>
              </a:ext>
            </a:extLst>
          </p:cNvPr>
          <p:cNvSpPr>
            <a:spLocks xmlns:a="http://schemas.openxmlformats.org/drawingml/2006/main" noGrp="1"/>
          </p:cNvSpPr>
          <p:nvPr/>
        </p:nvSpPr>
        <p:spPr>
          <a:xfrm xmlns:a="http://schemas.openxmlformats.org/drawingml/2006/main">
            <a:off x="914400" y="4076700"/>
            <a:ext cx="2794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00" b="1">
                <a:solidFill>
                  <a:srgbClr val="0070C0"/>
                </a:solidFill>
                <a:latin typeface="Calibri"/>
                <a:ea typeface="Calibri"/>
                <a:cs typeface="Calibri"/>
              </a:defRPr>
            </a:pPr>
            <a:r>
              <a:rPr sz="2500" b="1">
                <a:solidFill>
                  <a:srgbClr val="0070C0"/>
                </a:solidFill>
                <a:latin typeface="Calibri"/>
                <a:ea typeface="Calibri"/>
                <a:cs typeface="Calibri"/>
              </a:rPr>
              <a:t>F04 FR-004</a:t>
            </a:r>
          </a:p>
        </p:txBody>
      </p:sp>
      <p:sp>
        <p:nvSpPr>
          <p:cNvPr id="10" name="text">
            <a:extLst xmlns:a="http://schemas.openxmlformats.org/drawingml/2006/main">
              <a:ext uri="{FF2B5EF4-FFF2-40B4-BE49-F238E27FC236}">
                <a16:creationId xmlns:a16="http://schemas.microsoft.com/office/drawing/2014/main" id="{0F434680-9A99-4958-8FED-5574E2D51C02}"/>
              </a:ext>
            </a:extLst>
          </p:cNvPr>
          <p:cNvSpPr>
            <a:spLocks xmlns:a="http://schemas.openxmlformats.org/drawingml/2006/main" noGrp="1"/>
          </p:cNvSpPr>
          <p:nvPr/>
        </p:nvSpPr>
        <p:spPr>
          <a:xfrm xmlns:a="http://schemas.openxmlformats.org/drawingml/2006/main">
            <a:off x="939800" y="4597400"/>
            <a:ext cx="2743200" cy="207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At least one segment;</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all segments</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published and media</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approved.</a:t>
            </a:r>
          </a:p>
        </p:txBody>
      </p:sp>
      <p:sp>
        <p:nvSpPr>
          <p:cNvPr id="11" name="text">
            <a:extLst xmlns:a="http://schemas.openxmlformats.org/drawingml/2006/main">
              <a:ext uri="{FF2B5EF4-FFF2-40B4-BE49-F238E27FC236}">
                <a16:creationId xmlns:a16="http://schemas.microsoft.com/office/drawing/2014/main" id="{C1EB4E31-E49E-4A82-8A5F-216AF939713F}"/>
              </a:ext>
            </a:extLst>
          </p:cNvPr>
          <p:cNvSpPr>
            <a:spLocks xmlns:a="http://schemas.openxmlformats.org/drawingml/2006/main" noGrp="1"/>
          </p:cNvSpPr>
          <p:nvPr/>
        </p:nvSpPr>
        <p:spPr>
          <a:xfrm xmlns:a="http://schemas.openxmlformats.org/drawingml/2006/main">
            <a:off x="4178300" y="3175000"/>
            <a:ext cx="309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0070C0"/>
                </a:solidFill>
                <a:latin typeface="Calibri"/>
                <a:ea typeface="Calibri"/>
                <a:cs typeface="Calibri"/>
              </a:defRPr>
            </a:pPr>
            <a:r>
              <a:rPr sz="2600" b="1">
                <a:solidFill>
                  <a:srgbClr val="0070C0"/>
                </a:solidFill>
                <a:latin typeface="Calibri"/>
                <a:ea typeface="Calibri"/>
                <a:cs typeface="Calibri"/>
              </a:rPr>
              <a:t>Task</a:t>
            </a:r>
          </a:p>
        </p:txBody>
      </p:sp>
      <p:sp>
        <p:nvSpPr>
          <p:cNvPr id="12" name="T025">
            <a:extLst xmlns:a="http://schemas.openxmlformats.org/drawingml/2006/main">
              <a:ext uri="{FF2B5EF4-FFF2-40B4-BE49-F238E27FC236}">
                <a16:creationId xmlns:a16="http://schemas.microsoft.com/office/drawing/2014/main" id="{3A624C37-5C6C-44ED-81F0-F4F425B4D7E4}"/>
              </a:ext>
            </a:extLst>
          </p:cNvPr>
          <p:cNvSpPr>
            <a:spLocks xmlns:a="http://schemas.openxmlformats.org/drawingml/2006/main" noGrp="1"/>
          </p:cNvSpPr>
          <p:nvPr/>
        </p:nvSpPr>
        <p:spPr>
          <a:xfrm xmlns:a="http://schemas.openxmlformats.org/drawingml/2006/main">
            <a:off x="4178300" y="3924300"/>
            <a:ext cx="3098800" cy="28067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3" name="text">
            <a:extLst xmlns:a="http://schemas.openxmlformats.org/drawingml/2006/main">
              <a:ext uri="{FF2B5EF4-FFF2-40B4-BE49-F238E27FC236}">
                <a16:creationId xmlns:a16="http://schemas.microsoft.com/office/drawing/2014/main" id="{6FC3BE11-318A-4293-9998-229EB7E6FF9B}"/>
              </a:ext>
            </a:extLst>
          </p:cNvPr>
          <p:cNvSpPr>
            <a:spLocks xmlns:a="http://schemas.openxmlformats.org/drawingml/2006/main" noGrp="1"/>
          </p:cNvSpPr>
          <p:nvPr/>
        </p:nvSpPr>
        <p:spPr>
          <a:xfrm xmlns:a="http://schemas.openxmlformats.org/drawingml/2006/main">
            <a:off x="4330700" y="4076700"/>
            <a:ext cx="2794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00" b="1">
                <a:solidFill>
                  <a:srgbClr val="0070C0"/>
                </a:solidFill>
                <a:latin typeface="Calibri"/>
                <a:ea typeface="Calibri"/>
                <a:cs typeface="Calibri"/>
              </a:defRPr>
            </a:pPr>
            <a:r>
              <a:rPr sz="2500" b="1">
                <a:solidFill>
                  <a:srgbClr val="0070C0"/>
                </a:solidFill>
                <a:latin typeface="Calibri"/>
                <a:ea typeface="Calibri"/>
                <a:cs typeface="Calibri"/>
              </a:rPr>
              <a:t>T025</a:t>
            </a:r>
          </a:p>
        </p:txBody>
      </p:sp>
      <p:sp>
        <p:nvSpPr>
          <p:cNvPr id="14" name="text">
            <a:extLst xmlns:a="http://schemas.openxmlformats.org/drawingml/2006/main">
              <a:ext uri="{FF2B5EF4-FFF2-40B4-BE49-F238E27FC236}">
                <a16:creationId xmlns:a16="http://schemas.microsoft.com/office/drawing/2014/main" id="{2C2DA0C5-A387-437E-9CE9-67B954BE2056}"/>
              </a:ext>
            </a:extLst>
          </p:cNvPr>
          <p:cNvSpPr>
            <a:spLocks xmlns:a="http://schemas.openxmlformats.org/drawingml/2006/main" noGrp="1"/>
          </p:cNvSpPr>
          <p:nvPr/>
        </p:nvSpPr>
        <p:spPr>
          <a:xfrm xmlns:a="http://schemas.openxmlformats.org/drawingml/2006/main">
            <a:off x="4356100" y="4597400"/>
            <a:ext cx="2743200" cy="207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Enforce the complete</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publication</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prerequisites.</a:t>
            </a:r>
          </a:p>
        </p:txBody>
      </p:sp>
      <p:sp>
        <p:nvSpPr>
          <p:cNvPr id="15" name="text">
            <a:extLst xmlns:a="http://schemas.openxmlformats.org/drawingml/2006/main">
              <a:ext uri="{FF2B5EF4-FFF2-40B4-BE49-F238E27FC236}">
                <a16:creationId xmlns:a16="http://schemas.microsoft.com/office/drawing/2014/main" id="{50774607-1E17-47EF-BEBE-8A7CBC9C2566}"/>
              </a:ext>
            </a:extLst>
          </p:cNvPr>
          <p:cNvSpPr>
            <a:spLocks xmlns:a="http://schemas.openxmlformats.org/drawingml/2006/main" noGrp="1"/>
          </p:cNvSpPr>
          <p:nvPr/>
        </p:nvSpPr>
        <p:spPr>
          <a:xfrm xmlns:a="http://schemas.openxmlformats.org/drawingml/2006/main">
            <a:off x="7594600" y="3175000"/>
            <a:ext cx="309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0070C0"/>
                </a:solidFill>
                <a:latin typeface="Calibri"/>
                <a:ea typeface="Calibri"/>
                <a:cs typeface="Calibri"/>
              </a:defRPr>
            </a:pPr>
            <a:r>
              <a:rPr sz="2600" b="1">
                <a:solidFill>
                  <a:srgbClr val="0070C0"/>
                </a:solidFill>
                <a:latin typeface="Calibri"/>
                <a:ea typeface="Calibri"/>
                <a:cs typeface="Calibri"/>
              </a:rPr>
              <a:t>Code</a:t>
            </a:r>
          </a:p>
        </p:txBody>
      </p:sp>
      <p:sp>
        <p:nvSpPr>
          <p:cNvPr id="16" name="publishLesson()">
            <a:extLst xmlns:a="http://schemas.openxmlformats.org/drawingml/2006/main">
              <a:ext uri="{FF2B5EF4-FFF2-40B4-BE49-F238E27FC236}">
                <a16:creationId xmlns:a16="http://schemas.microsoft.com/office/drawing/2014/main" id="{F3C6DDE6-342F-430D-B75B-EC9CB2333CFB}"/>
              </a:ext>
            </a:extLst>
          </p:cNvPr>
          <p:cNvSpPr>
            <a:spLocks xmlns:a="http://schemas.openxmlformats.org/drawingml/2006/main" noGrp="1"/>
          </p:cNvSpPr>
          <p:nvPr/>
        </p:nvSpPr>
        <p:spPr>
          <a:xfrm xmlns:a="http://schemas.openxmlformats.org/drawingml/2006/main">
            <a:off x="7594600" y="3924300"/>
            <a:ext cx="3098800" cy="28067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7" name="text">
            <a:extLst xmlns:a="http://schemas.openxmlformats.org/drawingml/2006/main">
              <a:ext uri="{FF2B5EF4-FFF2-40B4-BE49-F238E27FC236}">
                <a16:creationId xmlns:a16="http://schemas.microsoft.com/office/drawing/2014/main" id="{85331C7F-C734-4ADE-83E5-5F992E13BFBB}"/>
              </a:ext>
            </a:extLst>
          </p:cNvPr>
          <p:cNvSpPr>
            <a:spLocks xmlns:a="http://schemas.openxmlformats.org/drawingml/2006/main" noGrp="1"/>
          </p:cNvSpPr>
          <p:nvPr/>
        </p:nvSpPr>
        <p:spPr>
          <a:xfrm xmlns:a="http://schemas.openxmlformats.org/drawingml/2006/main">
            <a:off x="7747000" y="4076700"/>
            <a:ext cx="2794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00" b="1">
                <a:solidFill>
                  <a:srgbClr val="0070C0"/>
                </a:solidFill>
                <a:latin typeface="Calibri"/>
                <a:ea typeface="Calibri"/>
                <a:cs typeface="Calibri"/>
              </a:defRPr>
            </a:pPr>
            <a:r>
              <a:rPr sz="2500" b="1">
                <a:solidFill>
                  <a:srgbClr val="0070C0"/>
                </a:solidFill>
                <a:latin typeface="Calibri"/>
                <a:ea typeface="Calibri"/>
                <a:cs typeface="Calibri"/>
              </a:rPr>
              <a:t>publishLesson()</a:t>
            </a:r>
          </a:p>
        </p:txBody>
      </p:sp>
      <p:sp>
        <p:nvSpPr>
          <p:cNvPr id="18" name="text">
            <a:extLst xmlns:a="http://schemas.openxmlformats.org/drawingml/2006/main">
              <a:ext uri="{FF2B5EF4-FFF2-40B4-BE49-F238E27FC236}">
                <a16:creationId xmlns:a16="http://schemas.microsoft.com/office/drawing/2014/main" id="{450E64D0-AFD4-41A6-A1DF-77605A06CB3F}"/>
              </a:ext>
            </a:extLst>
          </p:cNvPr>
          <p:cNvSpPr>
            <a:spLocks xmlns:a="http://schemas.openxmlformats.org/drawingml/2006/main" noGrp="1"/>
          </p:cNvSpPr>
          <p:nvPr/>
        </p:nvSpPr>
        <p:spPr>
          <a:xfrm xmlns:a="http://schemas.openxmlformats.org/drawingml/2006/main">
            <a:off x="7772400" y="4597400"/>
            <a:ext cx="2743200" cy="207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Reject an empty</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segment list and check</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every associated</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segment.</a:t>
            </a:r>
          </a:p>
        </p:txBody>
      </p:sp>
      <p:sp>
        <p:nvSpPr>
          <p:cNvPr id="19" name="text">
            <a:extLst xmlns:a="http://schemas.openxmlformats.org/drawingml/2006/main">
              <a:ext uri="{FF2B5EF4-FFF2-40B4-BE49-F238E27FC236}">
                <a16:creationId xmlns:a16="http://schemas.microsoft.com/office/drawing/2014/main" id="{127DBA48-C713-4910-969D-B02C5B7760AF}"/>
              </a:ext>
            </a:extLst>
          </p:cNvPr>
          <p:cNvSpPr>
            <a:spLocks xmlns:a="http://schemas.openxmlformats.org/drawingml/2006/main" noGrp="1"/>
          </p:cNvSpPr>
          <p:nvPr/>
        </p:nvSpPr>
        <p:spPr>
          <a:xfrm xmlns:a="http://schemas.openxmlformats.org/drawingml/2006/main">
            <a:off x="11010900" y="3175000"/>
            <a:ext cx="309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0070C0"/>
                </a:solidFill>
                <a:latin typeface="Calibri"/>
                <a:ea typeface="Calibri"/>
                <a:cs typeface="Calibri"/>
              </a:defRPr>
            </a:pPr>
            <a:r>
              <a:rPr sz="2600" b="1">
                <a:solidFill>
                  <a:srgbClr val="0070C0"/>
                </a:solidFill>
                <a:latin typeface="Calibri"/>
                <a:ea typeface="Calibri"/>
                <a:cs typeface="Calibri"/>
              </a:rPr>
              <a:t>Unit scenario</a:t>
            </a:r>
          </a:p>
        </p:txBody>
      </p:sp>
      <p:sp>
        <p:nvSpPr>
          <p:cNvPr id="20" name="No segments">
            <a:extLst xmlns:a="http://schemas.openxmlformats.org/drawingml/2006/main">
              <a:ext uri="{FF2B5EF4-FFF2-40B4-BE49-F238E27FC236}">
                <a16:creationId xmlns:a16="http://schemas.microsoft.com/office/drawing/2014/main" id="{10FFEEA6-0CAB-4F09-8405-920BC922FE7A}"/>
              </a:ext>
            </a:extLst>
          </p:cNvPr>
          <p:cNvSpPr>
            <a:spLocks xmlns:a="http://schemas.openxmlformats.org/drawingml/2006/main" noGrp="1"/>
          </p:cNvSpPr>
          <p:nvPr/>
        </p:nvSpPr>
        <p:spPr>
          <a:xfrm xmlns:a="http://schemas.openxmlformats.org/drawingml/2006/main">
            <a:off x="11010900" y="3924300"/>
            <a:ext cx="3098800" cy="28067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21" name="text">
            <a:extLst xmlns:a="http://schemas.openxmlformats.org/drawingml/2006/main">
              <a:ext uri="{FF2B5EF4-FFF2-40B4-BE49-F238E27FC236}">
                <a16:creationId xmlns:a16="http://schemas.microsoft.com/office/drawing/2014/main" id="{E8B7DB21-8CD5-4DA9-9C17-F8DD6F34708F}"/>
              </a:ext>
            </a:extLst>
          </p:cNvPr>
          <p:cNvSpPr>
            <a:spLocks xmlns:a="http://schemas.openxmlformats.org/drawingml/2006/main" noGrp="1"/>
          </p:cNvSpPr>
          <p:nvPr/>
        </p:nvSpPr>
        <p:spPr>
          <a:xfrm xmlns:a="http://schemas.openxmlformats.org/drawingml/2006/main">
            <a:off x="11163300" y="4076700"/>
            <a:ext cx="2794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00" b="1">
                <a:solidFill>
                  <a:srgbClr val="0070C0"/>
                </a:solidFill>
                <a:latin typeface="Calibri"/>
                <a:ea typeface="Calibri"/>
                <a:cs typeface="Calibri"/>
              </a:defRPr>
            </a:pPr>
            <a:r>
              <a:rPr sz="2500" b="1">
                <a:solidFill>
                  <a:srgbClr val="0070C0"/>
                </a:solidFill>
                <a:latin typeface="Calibri"/>
                <a:ea typeface="Calibri"/>
                <a:cs typeface="Calibri"/>
              </a:rPr>
              <a:t>No segments</a:t>
            </a:r>
          </a:p>
        </p:txBody>
      </p:sp>
      <p:sp>
        <p:nvSpPr>
          <p:cNvPr id="22" name="text">
            <a:extLst xmlns:a="http://schemas.openxmlformats.org/drawingml/2006/main">
              <a:ext uri="{FF2B5EF4-FFF2-40B4-BE49-F238E27FC236}">
                <a16:creationId xmlns:a16="http://schemas.microsoft.com/office/drawing/2014/main" id="{41D9EC84-7416-49CC-B069-C6DA2FFD8C63}"/>
              </a:ext>
            </a:extLst>
          </p:cNvPr>
          <p:cNvSpPr>
            <a:spLocks xmlns:a="http://schemas.openxmlformats.org/drawingml/2006/main" noGrp="1"/>
          </p:cNvSpPr>
          <p:nvPr/>
        </p:nvSpPr>
        <p:spPr>
          <a:xfrm xmlns:a="http://schemas.openxmlformats.org/drawingml/2006/main">
            <a:off x="11188700" y="4597400"/>
            <a:ext cx="2743200" cy="207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Expect a</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StateConflictException.</a:t>
            </a:r>
          </a:p>
        </p:txBody>
      </p:sp>
      <p:sp>
        <p:nvSpPr>
          <p:cNvPr id="23" name="text">
            <a:extLst xmlns:a="http://schemas.openxmlformats.org/drawingml/2006/main">
              <a:ext uri="{FF2B5EF4-FFF2-40B4-BE49-F238E27FC236}">
                <a16:creationId xmlns:a16="http://schemas.microsoft.com/office/drawing/2014/main" id="{BC4C4129-72D2-4D8F-84C8-8F80E6952AEF}"/>
              </a:ext>
            </a:extLst>
          </p:cNvPr>
          <p:cNvSpPr>
            <a:spLocks xmlns:a="http://schemas.openxmlformats.org/drawingml/2006/main" noGrp="1"/>
          </p:cNvSpPr>
          <p:nvPr/>
        </p:nvSpPr>
        <p:spPr>
          <a:xfrm xmlns:a="http://schemas.openxmlformats.org/drawingml/2006/main">
            <a:off x="14427200" y="3175000"/>
            <a:ext cx="309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00" b="1">
                <a:solidFill>
                  <a:srgbClr val="0070C0"/>
                </a:solidFill>
                <a:latin typeface="Calibri"/>
                <a:ea typeface="Calibri"/>
                <a:cs typeface="Calibri"/>
              </a:defRPr>
            </a:pPr>
            <a:r>
              <a:rPr sz="2600" b="1">
                <a:solidFill>
                  <a:srgbClr val="0070C0"/>
                </a:solidFill>
                <a:latin typeface="Calibri"/>
                <a:ea typeface="Calibri"/>
                <a:cs typeface="Calibri"/>
              </a:rPr>
              <a:t>Recorded result</a:t>
            </a:r>
          </a:p>
        </p:txBody>
      </p:sp>
      <p:sp>
        <p:nvSpPr>
          <p:cNvPr id="24" name="5 cases passed">
            <a:extLst xmlns:a="http://schemas.openxmlformats.org/drawingml/2006/main">
              <a:ext uri="{FF2B5EF4-FFF2-40B4-BE49-F238E27FC236}">
                <a16:creationId xmlns:a16="http://schemas.microsoft.com/office/drawing/2014/main" id="{699AD1F9-C962-416F-B2D3-22786BF544A9}"/>
              </a:ext>
            </a:extLst>
          </p:cNvPr>
          <p:cNvSpPr>
            <a:spLocks xmlns:a="http://schemas.openxmlformats.org/drawingml/2006/main" noGrp="1"/>
          </p:cNvSpPr>
          <p:nvPr/>
        </p:nvSpPr>
        <p:spPr>
          <a:xfrm xmlns:a="http://schemas.openxmlformats.org/drawingml/2006/main">
            <a:off x="14427200" y="3924300"/>
            <a:ext cx="3098800" cy="28067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25" name="text">
            <a:extLst xmlns:a="http://schemas.openxmlformats.org/drawingml/2006/main">
              <a:ext uri="{FF2B5EF4-FFF2-40B4-BE49-F238E27FC236}">
                <a16:creationId xmlns:a16="http://schemas.microsoft.com/office/drawing/2014/main" id="{B729A4A6-A1D7-4CE4-B847-1E5F268A0545}"/>
              </a:ext>
            </a:extLst>
          </p:cNvPr>
          <p:cNvSpPr>
            <a:spLocks xmlns:a="http://schemas.openxmlformats.org/drawingml/2006/main" noGrp="1"/>
          </p:cNvSpPr>
          <p:nvPr/>
        </p:nvSpPr>
        <p:spPr>
          <a:xfrm xmlns:a="http://schemas.openxmlformats.org/drawingml/2006/main">
            <a:off x="14579600" y="4076700"/>
            <a:ext cx="2794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00" b="1">
                <a:solidFill>
                  <a:srgbClr val="0070C0"/>
                </a:solidFill>
                <a:latin typeface="Calibri"/>
                <a:ea typeface="Calibri"/>
                <a:cs typeface="Calibri"/>
              </a:defRPr>
            </a:pPr>
            <a:r>
              <a:rPr sz="2500" b="1">
                <a:solidFill>
                  <a:srgbClr val="0070C0"/>
                </a:solidFill>
                <a:latin typeface="Calibri"/>
                <a:ea typeface="Calibri"/>
                <a:cs typeface="Calibri"/>
              </a:rPr>
              <a:t>5 cases passed</a:t>
            </a:r>
          </a:p>
        </p:txBody>
      </p:sp>
      <p:sp>
        <p:nvSpPr>
          <p:cNvPr id="26" name="text">
            <a:extLst xmlns:a="http://schemas.openxmlformats.org/drawingml/2006/main">
              <a:ext uri="{FF2B5EF4-FFF2-40B4-BE49-F238E27FC236}">
                <a16:creationId xmlns:a16="http://schemas.microsoft.com/office/drawing/2014/main" id="{24ACFFEB-B4E2-4EF7-AFD5-16257964C9E7}"/>
              </a:ext>
            </a:extLst>
          </p:cNvPr>
          <p:cNvSpPr>
            <a:spLocks xmlns:a="http://schemas.openxmlformats.org/drawingml/2006/main" noGrp="1"/>
          </p:cNvSpPr>
          <p:nvPr/>
        </p:nvSpPr>
        <p:spPr>
          <a:xfrm xmlns:a="http://schemas.openxmlformats.org/drawingml/2006/main">
            <a:off x="14605000" y="4597400"/>
            <a:ext cx="2743200" cy="207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Selected publication</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suite passed five test</a:t>
            </a:r>
          </a:p>
          <a:p xmlns:a="http://schemas.openxmlformats.org/drawingml/2006/main">
            <a:pPr algn="ctr">
              <a:defRPr sz="2300" b="0">
                <a:solidFill>
                  <a:srgbClr val="111827"/>
                </a:solidFill>
                <a:latin typeface="Calibri"/>
                <a:ea typeface="Calibri"/>
                <a:cs typeface="Calibri"/>
              </a:defRPr>
            </a:pPr>
            <a:r>
              <a:rPr sz="2300" b="0">
                <a:solidFill>
                  <a:srgbClr val="111827"/>
                </a:solidFill>
                <a:latin typeface="Calibri"/>
                <a:ea typeface="Calibri"/>
                <a:cs typeface="Calibri"/>
              </a:rPr>
              <a:t>cases.</a:t>
            </a:r>
          </a:p>
        </p:txBody>
      </p:sp>
      <p:cxnSp>
        <p:nvCxnSpPr>
          <p:cNvPr id="62" name=""/>
          <p:cNvCxnSpPr>
            <a:stCxn xmlns:a="http://schemas.openxmlformats.org/drawingml/2006/main" id="8" idx="3"/>
            <a:endCxn xmlns:a="http://schemas.openxmlformats.org/drawingml/2006/main" id="12" idx="1"/>
          </p:cNvCxnSpPr>
          <p:nvPr/>
        </p:nvCxnSpPr>
        <p:spPr>
          <a:xfrm xmlns:a="http://schemas.openxmlformats.org/drawingml/2006/main">
            <a:off x="3860800" y="53276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3" name=""/>
          <p:cNvCxnSpPr>
            <a:stCxn xmlns:a="http://schemas.openxmlformats.org/drawingml/2006/main" id="12" idx="3"/>
            <a:endCxn xmlns:a="http://schemas.openxmlformats.org/drawingml/2006/main" id="16" idx="1"/>
          </p:cNvCxnSpPr>
          <p:nvPr/>
        </p:nvCxnSpPr>
        <p:spPr>
          <a:xfrm xmlns:a="http://schemas.openxmlformats.org/drawingml/2006/main">
            <a:off x="7277100" y="53276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4" name=""/>
          <p:cNvCxnSpPr>
            <a:stCxn xmlns:a="http://schemas.openxmlformats.org/drawingml/2006/main" id="16" idx="3"/>
            <a:endCxn xmlns:a="http://schemas.openxmlformats.org/drawingml/2006/main" id="20" idx="1"/>
          </p:cNvCxnSpPr>
          <p:nvPr/>
        </p:nvCxnSpPr>
        <p:spPr>
          <a:xfrm xmlns:a="http://schemas.openxmlformats.org/drawingml/2006/main">
            <a:off x="10693400" y="53276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65" name=""/>
          <p:cNvCxnSpPr>
            <a:stCxn xmlns:a="http://schemas.openxmlformats.org/drawingml/2006/main" id="20" idx="3"/>
            <a:endCxn xmlns:a="http://schemas.openxmlformats.org/drawingml/2006/main" id="24" idx="1"/>
          </p:cNvCxnSpPr>
          <p:nvPr/>
        </p:nvCxnSpPr>
        <p:spPr>
          <a:xfrm xmlns:a="http://schemas.openxmlformats.org/drawingml/2006/main">
            <a:off x="14109700" y="5327650"/>
            <a:ext cx="317500" cy="0"/>
          </a:xfrm>
          <a:prstGeom xmlns:a="http://schemas.openxmlformats.org/drawingml/2006/main" prst="straightConnector1">
            <a:avLst/>
          </a:prstGeom>
          <a:ln xmlns:a="http://schemas.openxmlformats.org/drawingml/2006/main" w="17780">
            <a:solidFill>
              <a:srgbClr val="111827"/>
            </a:solidFill>
            <a:tailEnd type="triangle" w="med" len="med"/>
          </a:ln>
        </p:spPr>
      </p:cxnSp>
      <p:sp>
        <p:nvSpPr>
          <p:cNvPr id="31" name="text">
            <a:extLst xmlns:a="http://schemas.openxmlformats.org/drawingml/2006/main">
              <a:ext uri="{FF2B5EF4-FFF2-40B4-BE49-F238E27FC236}">
                <a16:creationId xmlns:a16="http://schemas.microsoft.com/office/drawing/2014/main" id="{D7565C25-42C2-43C1-BFA8-D3888E2114FE}"/>
              </a:ext>
            </a:extLst>
          </p:cNvPr>
          <p:cNvSpPr>
            <a:spLocks xmlns:a="http://schemas.openxmlformats.org/drawingml/2006/main" noGrp="1"/>
          </p:cNvSpPr>
          <p:nvPr/>
        </p:nvSpPr>
        <p:spPr>
          <a:xfrm xmlns:a="http://schemas.openxmlformats.org/drawingml/2006/main">
            <a:off x="762000" y="7048500"/>
            <a:ext cx="16764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64748B"/>
                </a:solidFill>
                <a:latin typeface="Calibri"/>
                <a:ea typeface="Calibri"/>
                <a:cs typeface="Calibri"/>
              </a:defRPr>
            </a:pPr>
            <a:r>
              <a:rPr sz="2200" b="0">
                <a:solidFill>
                  <a:srgbClr val="64748B"/>
                </a:solidFill>
                <a:latin typeface="Calibri"/>
                <a:ea typeface="Calibri"/>
                <a:cs typeface="Calibri"/>
              </a:rPr>
              <a:t>Code location: ContentPublicationService.publishLesson()</a:t>
            </a:r>
          </a:p>
        </p:txBody>
      </p:sp>
      <p:sp>
        <p:nvSpPr>
          <p:cNvPr id="32" name="text">
            <a:extLst xmlns:a="http://schemas.openxmlformats.org/drawingml/2006/main">
              <a:ext uri="{FF2B5EF4-FFF2-40B4-BE49-F238E27FC236}">
                <a16:creationId xmlns:a16="http://schemas.microsoft.com/office/drawing/2014/main" id="{59F0DA3A-24D7-4D25-9FA0-4A528B5CC000}"/>
              </a:ext>
            </a:extLst>
          </p:cNvPr>
          <p:cNvSpPr>
            <a:spLocks xmlns:a="http://schemas.openxmlformats.org/drawingml/2006/main" noGrp="1"/>
          </p:cNvSpPr>
          <p:nvPr/>
        </p:nvSpPr>
        <p:spPr>
          <a:xfrm xmlns:a="http://schemas.openxmlformats.org/drawingml/2006/main">
            <a:off x="762000" y="7810500"/>
            <a:ext cx="7810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Why this matters</a:t>
            </a:r>
          </a:p>
        </p:txBody>
      </p:sp>
      <p:sp>
        <p:nvSpPr>
          <p:cNvPr id="33" name="text">
            <a:extLst xmlns:a="http://schemas.openxmlformats.org/drawingml/2006/main">
              <a:ext uri="{FF2B5EF4-FFF2-40B4-BE49-F238E27FC236}">
                <a16:creationId xmlns:a16="http://schemas.microsoft.com/office/drawing/2014/main" id="{7C35FDEB-125C-492F-881D-87F1B14E3EC5}"/>
              </a:ext>
            </a:extLst>
          </p:cNvPr>
          <p:cNvSpPr>
            <a:spLocks xmlns:a="http://schemas.openxmlformats.org/drawingml/2006/main" noGrp="1"/>
          </p:cNvSpPr>
          <p:nvPr/>
        </p:nvSpPr>
        <p:spPr>
          <a:xfrm xmlns:a="http://schemas.openxmlformats.org/drawingml/2006/main">
            <a:off x="762000" y="8255000"/>
            <a:ext cx="7810500" cy="7889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 reviewer can explain which requirement a guard</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implements and which scenario tests it.</a:t>
            </a:r>
          </a:p>
        </p:txBody>
      </p:sp>
      <p:sp>
        <p:nvSpPr>
          <p:cNvPr id="34" name="text">
            <a:extLst xmlns:a="http://schemas.openxmlformats.org/drawingml/2006/main">
              <a:ext uri="{FF2B5EF4-FFF2-40B4-BE49-F238E27FC236}">
                <a16:creationId xmlns:a16="http://schemas.microsoft.com/office/drawing/2014/main" id="{31104FEE-BE1B-4CB0-A31C-CC7D0FDD37A8}"/>
              </a:ext>
            </a:extLst>
          </p:cNvPr>
          <p:cNvSpPr>
            <a:spLocks xmlns:a="http://schemas.openxmlformats.org/drawingml/2006/main" noGrp="1"/>
          </p:cNvSpPr>
          <p:nvPr/>
        </p:nvSpPr>
        <p:spPr>
          <a:xfrm xmlns:a="http://schemas.openxmlformats.org/drawingml/2006/main">
            <a:off x="9334500" y="7810500"/>
            <a:ext cx="8191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7719"/>
                </a:solidFill>
                <a:latin typeface="Calibri"/>
                <a:ea typeface="Calibri"/>
                <a:cs typeface="Calibri"/>
              </a:defRPr>
            </a:pPr>
            <a:r>
              <a:rPr sz="2400" b="1">
                <a:solidFill>
                  <a:srgbClr val="F47719"/>
                </a:solidFill>
                <a:latin typeface="Calibri"/>
                <a:ea typeface="Calibri"/>
                <a:cs typeface="Calibri"/>
              </a:rPr>
              <a:t>Scope boundary</a:t>
            </a:r>
          </a:p>
        </p:txBody>
      </p:sp>
      <p:sp>
        <p:nvSpPr>
          <p:cNvPr id="35" name="text">
            <a:extLst xmlns:a="http://schemas.openxmlformats.org/drawingml/2006/main">
              <a:ext uri="{FF2B5EF4-FFF2-40B4-BE49-F238E27FC236}">
                <a16:creationId xmlns:a16="http://schemas.microsoft.com/office/drawing/2014/main" id="{D3DD91CF-03AD-417D-8773-34EBB664BE7E}"/>
              </a:ext>
            </a:extLst>
          </p:cNvPr>
          <p:cNvSpPr>
            <a:spLocks xmlns:a="http://schemas.openxmlformats.org/drawingml/2006/main" noGrp="1"/>
          </p:cNvSpPr>
          <p:nvPr/>
        </p:nvSpPr>
        <p:spPr>
          <a:xfrm xmlns:a="http://schemas.openxmlformats.org/drawingml/2006/main">
            <a:off x="9334500" y="8255000"/>
            <a:ext cx="8191500" cy="7889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This trace covers selected publication behavior. Catalog visibility</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and database concurrency need additional evidence.</a:t>
            </a:r>
          </a:p>
        </p:txBody>
      </p:sp>
    </p:spTree>
    <p:extLst>
      <p:ext uri="{BB962C8B-B14F-4D97-AF65-F5344CB8AC3E}">
        <p14:creationId xmlns:p14="http://schemas.microsoft.com/office/powerpoint/2010/main" val="64829433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18DFA5C6-A404-46DF-BF86-8C3472238102}"/>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6.2. Selected Verification Results</a:t>
            </a:r>
          </a:p>
        </p:txBody>
      </p:sp>
      <p:sp>
        <p:nvSpPr>
          <p:cNvPr id="2" name="">
            <a:extLst xmlns:a="http://schemas.openxmlformats.org/drawingml/2006/main">
              <a:ext uri="{FF2B5EF4-FFF2-40B4-BE49-F238E27FC236}">
                <a16:creationId xmlns:a16="http://schemas.microsoft.com/office/drawing/2014/main" id="{53FE857D-3A49-4EFE-931C-A106E00748BF}"/>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FD782B41-9022-4BDC-A0CA-E758508D66B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D0E395FF-A942-4292-9BBB-6BC86D518AC7}"/>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Recorded unit run, 11 September 2026, 20:42:48 GMT+7</a:t>
            </a:r>
          </a:p>
        </p:txBody>
      </p:sp>
      <p:sp>
        <p:nvSpPr>
          <p:cNvPr id="5" name="text">
            <a:extLst xmlns:a="http://schemas.openxmlformats.org/drawingml/2006/main">
              <a:ext uri="{FF2B5EF4-FFF2-40B4-BE49-F238E27FC236}">
                <a16:creationId xmlns:a16="http://schemas.microsoft.com/office/drawing/2014/main" id="{1A0E87C9-5D4E-49BE-B4DC-CA228C81822D}"/>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22 / 32</a:t>
            </a:r>
          </a:p>
        </p:txBody>
      </p:sp>
      <p:sp>
        <p:nvSpPr>
          <p:cNvPr id="6" name="text">
            <a:extLst xmlns:a="http://schemas.openxmlformats.org/drawingml/2006/main">
              <a:ext uri="{FF2B5EF4-FFF2-40B4-BE49-F238E27FC236}">
                <a16:creationId xmlns:a16="http://schemas.microsoft.com/office/drawing/2014/main" id="{A8A1E70F-AFF3-482F-99DD-7BAF2003EF37}"/>
              </a:ext>
            </a:extLst>
          </p:cNvPr>
          <p:cNvSpPr>
            <a:spLocks xmlns:a="http://schemas.openxmlformats.org/drawingml/2006/main" noGrp="1"/>
          </p:cNvSpPr>
          <p:nvPr/>
        </p:nvSpPr>
        <p:spPr>
          <a:xfrm xmlns:a="http://schemas.openxmlformats.org/drawingml/2006/main">
            <a:off x="762000" y="1790700"/>
            <a:ext cx="1676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11827"/>
                </a:solidFill>
                <a:latin typeface="Calibri"/>
                <a:ea typeface="Calibri"/>
                <a:cs typeface="Calibri"/>
              </a:defRPr>
            </a:pPr>
            <a:r>
              <a:rPr sz="2800" b="1">
                <a:solidFill>
                  <a:srgbClr val="111827"/>
                </a:solidFill>
                <a:latin typeface="Calibri"/>
                <a:ea typeface="Calibri"/>
                <a:cs typeface="Calibri"/>
              </a:rPr>
              <a:t>Recorded run on 11 September 2026</a:t>
            </a:r>
          </a:p>
        </p:txBody>
      </p:sp>
      <p:sp>
        <p:nvSpPr>
          <p:cNvPr id="7" name="text">
            <a:extLst xmlns:a="http://schemas.openxmlformats.org/drawingml/2006/main">
              <a:ext uri="{FF2B5EF4-FFF2-40B4-BE49-F238E27FC236}">
                <a16:creationId xmlns:a16="http://schemas.microsoft.com/office/drawing/2014/main" id="{B1FD3068-D25A-4157-A536-F498DD392699}"/>
              </a:ext>
            </a:extLst>
          </p:cNvPr>
          <p:cNvSpPr>
            <a:spLocks xmlns:a="http://schemas.openxmlformats.org/drawingml/2006/main" noGrp="1"/>
          </p:cNvSpPr>
          <p:nvPr/>
        </p:nvSpPr>
        <p:spPr>
          <a:xfrm xmlns:a="http://schemas.openxmlformats.org/drawingml/2006/main">
            <a:off x="952500" y="2679700"/>
            <a:ext cx="152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00" b="1">
                <a:solidFill>
                  <a:srgbClr val="0070C0"/>
                </a:solidFill>
                <a:latin typeface="Calibri"/>
                <a:ea typeface="Calibri"/>
                <a:cs typeface="Calibri"/>
              </a:defRPr>
            </a:pPr>
            <a:r>
              <a:rPr sz="5500" b="1">
                <a:solidFill>
                  <a:srgbClr val="0070C0"/>
                </a:solidFill>
                <a:latin typeface="Calibri"/>
                <a:ea typeface="Calibri"/>
                <a:cs typeface="Calibri"/>
              </a:rPr>
              <a:t>15</a:t>
            </a:r>
          </a:p>
        </p:txBody>
      </p:sp>
      <p:sp>
        <p:nvSpPr>
          <p:cNvPr id="8" name="text">
            <a:extLst xmlns:a="http://schemas.openxmlformats.org/drawingml/2006/main">
              <a:ext uri="{FF2B5EF4-FFF2-40B4-BE49-F238E27FC236}">
                <a16:creationId xmlns:a16="http://schemas.microsoft.com/office/drawing/2014/main" id="{E74A663E-464C-4664-810E-CE2971263674}"/>
              </a:ext>
            </a:extLst>
          </p:cNvPr>
          <p:cNvSpPr>
            <a:spLocks xmlns:a="http://schemas.openxmlformats.org/drawingml/2006/main" noGrp="1"/>
          </p:cNvSpPr>
          <p:nvPr/>
        </p:nvSpPr>
        <p:spPr>
          <a:xfrm xmlns:a="http://schemas.openxmlformats.org/drawingml/2006/main">
            <a:off x="2565400" y="2933700"/>
            <a:ext cx="222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unit tests passed</a:t>
            </a:r>
          </a:p>
        </p:txBody>
      </p:sp>
      <p:sp>
        <p:nvSpPr>
          <p:cNvPr id="9" name="text">
            <a:extLst xmlns:a="http://schemas.openxmlformats.org/drawingml/2006/main">
              <a:ext uri="{FF2B5EF4-FFF2-40B4-BE49-F238E27FC236}">
                <a16:creationId xmlns:a16="http://schemas.microsoft.com/office/drawing/2014/main" id="{E1E3DA2B-E70A-4276-9253-357BBB816326}"/>
              </a:ext>
            </a:extLst>
          </p:cNvPr>
          <p:cNvSpPr>
            <a:spLocks xmlns:a="http://schemas.openxmlformats.org/drawingml/2006/main" noGrp="1"/>
          </p:cNvSpPr>
          <p:nvPr/>
        </p:nvSpPr>
        <p:spPr>
          <a:xfrm xmlns:a="http://schemas.openxmlformats.org/drawingml/2006/main">
            <a:off x="5130800" y="2679700"/>
            <a:ext cx="152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00" b="1">
                <a:solidFill>
                  <a:srgbClr val="0070C0"/>
                </a:solidFill>
                <a:latin typeface="Calibri"/>
                <a:ea typeface="Calibri"/>
                <a:cs typeface="Calibri"/>
              </a:defRPr>
            </a:pPr>
            <a:r>
              <a:rPr sz="5500" b="1">
                <a:solidFill>
                  <a:srgbClr val="0070C0"/>
                </a:solidFill>
                <a:latin typeface="Calibri"/>
                <a:ea typeface="Calibri"/>
                <a:cs typeface="Calibri"/>
              </a:rPr>
              <a:t>0</a:t>
            </a:r>
          </a:p>
        </p:txBody>
      </p:sp>
      <p:sp>
        <p:nvSpPr>
          <p:cNvPr id="10" name="text">
            <a:extLst xmlns:a="http://schemas.openxmlformats.org/drawingml/2006/main">
              <a:ext uri="{FF2B5EF4-FFF2-40B4-BE49-F238E27FC236}">
                <a16:creationId xmlns:a16="http://schemas.microsoft.com/office/drawing/2014/main" id="{735EE5E8-8082-4921-9EF8-06C87E5EE65A}"/>
              </a:ext>
            </a:extLst>
          </p:cNvPr>
          <p:cNvSpPr>
            <a:spLocks xmlns:a="http://schemas.openxmlformats.org/drawingml/2006/main" noGrp="1"/>
          </p:cNvSpPr>
          <p:nvPr/>
        </p:nvSpPr>
        <p:spPr>
          <a:xfrm xmlns:a="http://schemas.openxmlformats.org/drawingml/2006/main">
            <a:off x="6743700" y="2933700"/>
            <a:ext cx="222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failures</a:t>
            </a:r>
          </a:p>
        </p:txBody>
      </p:sp>
      <p:sp>
        <p:nvSpPr>
          <p:cNvPr id="11" name="text">
            <a:extLst xmlns:a="http://schemas.openxmlformats.org/drawingml/2006/main">
              <a:ext uri="{FF2B5EF4-FFF2-40B4-BE49-F238E27FC236}">
                <a16:creationId xmlns:a16="http://schemas.microsoft.com/office/drawing/2014/main" id="{4B155CD1-1D64-4A39-8E14-EB2333902497}"/>
              </a:ext>
            </a:extLst>
          </p:cNvPr>
          <p:cNvSpPr>
            <a:spLocks xmlns:a="http://schemas.openxmlformats.org/drawingml/2006/main" noGrp="1"/>
          </p:cNvSpPr>
          <p:nvPr/>
        </p:nvSpPr>
        <p:spPr>
          <a:xfrm xmlns:a="http://schemas.openxmlformats.org/drawingml/2006/main">
            <a:off x="9309100" y="2679700"/>
            <a:ext cx="152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00" b="1">
                <a:solidFill>
                  <a:srgbClr val="0070C0"/>
                </a:solidFill>
                <a:latin typeface="Calibri"/>
                <a:ea typeface="Calibri"/>
                <a:cs typeface="Calibri"/>
              </a:defRPr>
            </a:pPr>
            <a:r>
              <a:rPr sz="5500" b="1">
                <a:solidFill>
                  <a:srgbClr val="0070C0"/>
                </a:solidFill>
                <a:latin typeface="Calibri"/>
                <a:ea typeface="Calibri"/>
                <a:cs typeface="Calibri"/>
              </a:rPr>
              <a:t>0</a:t>
            </a:r>
          </a:p>
        </p:txBody>
      </p:sp>
      <p:sp>
        <p:nvSpPr>
          <p:cNvPr id="12" name="text">
            <a:extLst xmlns:a="http://schemas.openxmlformats.org/drawingml/2006/main">
              <a:ext uri="{FF2B5EF4-FFF2-40B4-BE49-F238E27FC236}">
                <a16:creationId xmlns:a16="http://schemas.microsoft.com/office/drawing/2014/main" id="{58CD1F6A-5430-421B-9F39-B85CF03BD437}"/>
              </a:ext>
            </a:extLst>
          </p:cNvPr>
          <p:cNvSpPr>
            <a:spLocks xmlns:a="http://schemas.openxmlformats.org/drawingml/2006/main" noGrp="1"/>
          </p:cNvSpPr>
          <p:nvPr/>
        </p:nvSpPr>
        <p:spPr>
          <a:xfrm xmlns:a="http://schemas.openxmlformats.org/drawingml/2006/main">
            <a:off x="10922000" y="2933700"/>
            <a:ext cx="222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errors</a:t>
            </a:r>
          </a:p>
        </p:txBody>
      </p:sp>
      <p:sp>
        <p:nvSpPr>
          <p:cNvPr id="13" name="text">
            <a:extLst xmlns:a="http://schemas.openxmlformats.org/drawingml/2006/main">
              <a:ext uri="{FF2B5EF4-FFF2-40B4-BE49-F238E27FC236}">
                <a16:creationId xmlns:a16="http://schemas.microsoft.com/office/drawing/2014/main" id="{1B62D49C-EF1B-4826-A0E6-09357B2DD620}"/>
              </a:ext>
            </a:extLst>
          </p:cNvPr>
          <p:cNvSpPr>
            <a:spLocks xmlns:a="http://schemas.openxmlformats.org/drawingml/2006/main" noGrp="1"/>
          </p:cNvSpPr>
          <p:nvPr/>
        </p:nvSpPr>
        <p:spPr>
          <a:xfrm xmlns:a="http://schemas.openxmlformats.org/drawingml/2006/main">
            <a:off x="13487400" y="2679700"/>
            <a:ext cx="1524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00" b="1">
                <a:solidFill>
                  <a:srgbClr val="0070C0"/>
                </a:solidFill>
                <a:latin typeface="Calibri"/>
                <a:ea typeface="Calibri"/>
                <a:cs typeface="Calibri"/>
              </a:defRPr>
            </a:pPr>
            <a:r>
              <a:rPr sz="5500" b="1">
                <a:solidFill>
                  <a:srgbClr val="0070C0"/>
                </a:solidFill>
                <a:latin typeface="Calibri"/>
                <a:ea typeface="Calibri"/>
                <a:cs typeface="Calibri"/>
              </a:rPr>
              <a:t>0</a:t>
            </a:r>
          </a:p>
        </p:txBody>
      </p:sp>
      <p:sp>
        <p:nvSpPr>
          <p:cNvPr id="14" name="text">
            <a:extLst xmlns:a="http://schemas.openxmlformats.org/drawingml/2006/main">
              <a:ext uri="{FF2B5EF4-FFF2-40B4-BE49-F238E27FC236}">
                <a16:creationId xmlns:a16="http://schemas.microsoft.com/office/drawing/2014/main" id="{C0FD2DAE-C164-41DD-8198-FEA7A4188122}"/>
              </a:ext>
            </a:extLst>
          </p:cNvPr>
          <p:cNvSpPr>
            <a:spLocks xmlns:a="http://schemas.openxmlformats.org/drawingml/2006/main" noGrp="1"/>
          </p:cNvSpPr>
          <p:nvPr/>
        </p:nvSpPr>
        <p:spPr>
          <a:xfrm xmlns:a="http://schemas.openxmlformats.org/drawingml/2006/main">
            <a:off x="15100300" y="2933700"/>
            <a:ext cx="222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skipped tests</a:t>
            </a:r>
          </a:p>
        </p:txBody>
      </p:sp>
      <p:graphicFrame>
        <p:nvGraphicFramePr>
          <p:cNvPr id="35" name=""/>
          <p:cNvGraphicFramePr/>
          <p:nvPr/>
        </p:nvGraphicFramePr>
        <p:xfrm>
          <a:off xmlns:a="http://schemas.openxmlformats.org/drawingml/2006/main" x="762000" y="4203700"/>
          <a:ext xmlns:a="http://schemas.openxmlformats.org/drawingml/2006/main" cx="16764000" cy="3048000"/>
        </p:xfrm>
        <a:graphic xmlns:a="http://schemas.openxmlformats.org/drawingml/2006/main">
          <a:graphicData uri="http://schemas.openxmlformats.org/drawingml/2006/table">
            <a:tbl>
              <a:tblPr firstRow="1" bandRow="0"/>
              <a:tblGrid>
                <a:gridCol w="5364480"/>
                <a:gridCol w="1173480"/>
                <a:gridCol w="10226040"/>
              </a:tblGrid>
              <a:tr h="762000">
                <a:tc>
                  <a:txBody>
                    <a:bodyPr wrap="square">
                      <a:noAutofit/>
                    </a:bodyPr>
                    <a:lstStyle/>
                    <a:p>
                      <a:r>
                        <a:rPr sz="2250" b="1">
                          <a:solidFill>
                            <a:srgbClr val="111827"/>
                          </a:solidFill>
                          <a:latin typeface="Calibri"/>
                          <a:ea typeface="Calibri"/>
                          <a:cs typeface="Calibri"/>
                        </a:rPr>
                        <a:t>Test suite</a:t>
                      </a:r>
                    </a:p>
                  </a:txBody>
                  <a:tcPr marL="165100" marR="165100" marT="127000" marB="127000" anchor="ctr">
                    <a:solidFill>
                      <a:srgbClr val="D8EDF4"/>
                    </a:solidFill>
                  </a:tcPr>
                </a:tc>
                <a:tc>
                  <a:txBody>
                    <a:bodyPr wrap="square">
                      <a:noAutofit/>
                    </a:bodyPr>
                    <a:lstStyle/>
                    <a:p>
                      <a:r>
                        <a:rPr sz="2250" b="1">
                          <a:solidFill>
                            <a:srgbClr val="111827"/>
                          </a:solidFill>
                          <a:latin typeface="Calibri"/>
                          <a:ea typeface="Calibri"/>
                          <a:cs typeface="Calibri"/>
                        </a:rPr>
                        <a:t>Cases</a:t>
                      </a:r>
                    </a:p>
                  </a:txBody>
                  <a:tcPr marL="165100" marR="165100" marT="127000" marB="127000" anchor="ctr">
                    <a:solidFill>
                      <a:srgbClr val="D8EDF4"/>
                    </a:solidFill>
                  </a:tcPr>
                </a:tc>
                <a:tc>
                  <a:txBody>
                    <a:bodyPr wrap="square">
                      <a:noAutofit/>
                    </a:bodyPr>
                    <a:lstStyle/>
                    <a:p>
                      <a:r>
                        <a:rPr sz="2250" b="1">
                          <a:solidFill>
                            <a:srgbClr val="111827"/>
                          </a:solidFill>
                          <a:latin typeface="Calibri"/>
                          <a:ea typeface="Calibri"/>
                          <a:cs typeface="Calibri"/>
                        </a:rPr>
                        <a:t>Behaviors exercised</a:t>
                      </a:r>
                    </a:p>
                  </a:txBody>
                  <a:tcPr marL="165100" marR="165100" marT="127000" marB="127000" anchor="ctr">
                    <a:solidFill>
                      <a:srgbClr val="D8EDF4"/>
                    </a:solidFill>
                  </a:tcPr>
                </a:tc>
              </a:tr>
              <a:tr h="762000">
                <a:tc>
                  <a:txBody>
                    <a:bodyPr wrap="square">
                      <a:noAutofit/>
                    </a:bodyPr>
                    <a:lstStyle/>
                    <a:p>
                      <a:r>
                        <a:rPr sz="2250" b="0">
                          <a:solidFill>
                            <a:srgbClr val="111827"/>
                          </a:solidFill>
                          <a:latin typeface="Calibri"/>
                          <a:ea typeface="Calibri"/>
                          <a:cs typeface="Calibri"/>
                        </a:rPr>
                        <a:t>ContentPublicationServiceTest</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5</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Publication conditions, a published-parent segment restriction, and archive cascade</a:t>
                      </a:r>
                    </a:p>
                  </a:txBody>
                  <a:tcPr marL="165100" marR="165100" marT="127000" marB="127000" anchor="ctr">
                    <a:solidFill>
                      <a:srgbClr val="FFFFFF"/>
                    </a:solidFill>
                  </a:tcPr>
                </a:tc>
              </a:tr>
              <a:tr h="762000">
                <a:tc>
                  <a:txBody>
                    <a:bodyPr wrap="square">
                      <a:noAutofit/>
                    </a:bodyPr>
                    <a:lstStyle/>
                    <a:p>
                      <a:r>
                        <a:rPr sz="2250" b="0">
                          <a:solidFill>
                            <a:srgbClr val="111827"/>
                          </a:solidFill>
                          <a:latin typeface="Calibri"/>
                          <a:ea typeface="Calibri"/>
                          <a:cs typeface="Calibri"/>
                        </a:rPr>
                        <a:t>MediaIntakePolicyTest</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2</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Canonical YouTube IDs and rejection of unsupported inputs</a:t>
                      </a:r>
                    </a:p>
                  </a:txBody>
                  <a:tcPr marL="165100" marR="165100" marT="127000" marB="127000" anchor="ctr">
                    <a:solidFill>
                      <a:srgbClr val="F3F8FB"/>
                    </a:solidFill>
                  </a:tcPr>
                </a:tc>
              </a:tr>
              <a:tr h="762000">
                <a:tc>
                  <a:txBody>
                    <a:bodyPr wrap="square">
                      <a:noAutofit/>
                    </a:bodyPr>
                    <a:lstStyle/>
                    <a:p>
                      <a:r>
                        <a:rPr sz="2250" b="0">
                          <a:solidFill>
                            <a:srgbClr val="111827"/>
                          </a:solidFill>
                          <a:latin typeface="Calibri"/>
                          <a:ea typeface="Calibri"/>
                          <a:cs typeface="Calibri"/>
                        </a:rPr>
                        <a:t>AiAllowanceServiceTest</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8</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Reservation, exhaustion, retry, conflict, refund, and cycle rollover</a:t>
                      </a:r>
                    </a:p>
                  </a:txBody>
                  <a:tcPr marL="165100" marR="165100" marT="127000" marB="127000" anchor="ctr">
                    <a:solidFill>
                      <a:srgbClr val="FFFFFF"/>
                    </a:solidFill>
                  </a:tcPr>
                </a:tc>
              </a:tr>
            </a:tbl>
          </a:graphicData>
        </a:graphic>
      </p:graphicFrame>
      <p:sp>
        <p:nvSpPr>
          <p:cNvPr id="16" name="text">
            <a:extLst xmlns:a="http://schemas.openxmlformats.org/drawingml/2006/main">
              <a:ext uri="{FF2B5EF4-FFF2-40B4-BE49-F238E27FC236}">
                <a16:creationId xmlns:a16="http://schemas.microsoft.com/office/drawing/2014/main" id="{224A407C-7D09-4C4B-BB54-E92FA445644E}"/>
              </a:ext>
            </a:extLst>
          </p:cNvPr>
          <p:cNvSpPr>
            <a:spLocks xmlns:a="http://schemas.openxmlformats.org/drawingml/2006/main" noGrp="1"/>
          </p:cNvSpPr>
          <p:nvPr/>
        </p:nvSpPr>
        <p:spPr>
          <a:xfrm xmlns:a="http://schemas.openxmlformats.org/drawingml/2006/main">
            <a:off x="762000" y="7569200"/>
            <a:ext cx="7823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0C0"/>
                </a:solidFill>
                <a:latin typeface="Calibri"/>
                <a:ea typeface="Calibri"/>
                <a:cs typeface="Calibri"/>
              </a:defRPr>
            </a:pPr>
            <a:r>
              <a:rPr sz="2400" b="1">
                <a:solidFill>
                  <a:srgbClr val="0070C0"/>
                </a:solidFill>
                <a:latin typeface="Calibri"/>
                <a:ea typeface="Calibri"/>
                <a:cs typeface="Calibri"/>
              </a:rPr>
              <a:t>What the results support</a:t>
            </a:r>
          </a:p>
        </p:txBody>
      </p:sp>
      <p:sp>
        <p:nvSpPr>
          <p:cNvPr id="17" name="text">
            <a:extLst xmlns:a="http://schemas.openxmlformats.org/drawingml/2006/main">
              <a:ext uri="{FF2B5EF4-FFF2-40B4-BE49-F238E27FC236}">
                <a16:creationId xmlns:a16="http://schemas.microsoft.com/office/drawing/2014/main" id="{C0109B4E-EB38-4CF8-9D38-9D24781B997F}"/>
              </a:ext>
            </a:extLst>
          </p:cNvPr>
          <p:cNvSpPr>
            <a:spLocks xmlns:a="http://schemas.openxmlformats.org/drawingml/2006/main" noGrp="1"/>
          </p:cNvSpPr>
          <p:nvPr/>
        </p:nvSpPr>
        <p:spPr>
          <a:xfrm xmlns:a="http://schemas.openxmlformats.org/drawingml/2006/main">
            <a:off x="762000" y="8013700"/>
            <a:ext cx="7823200" cy="7889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The selected test cases passed on the working tree used for</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that run.</a:t>
            </a:r>
          </a:p>
        </p:txBody>
      </p:sp>
      <p:sp>
        <p:nvSpPr>
          <p:cNvPr id="18" name="text">
            <a:extLst xmlns:a="http://schemas.openxmlformats.org/drawingml/2006/main">
              <a:ext uri="{FF2B5EF4-FFF2-40B4-BE49-F238E27FC236}">
                <a16:creationId xmlns:a16="http://schemas.microsoft.com/office/drawing/2014/main" id="{C31EC35D-73B0-45E0-829E-94562DD352B0}"/>
              </a:ext>
            </a:extLst>
          </p:cNvPr>
          <p:cNvSpPr>
            <a:spLocks xmlns:a="http://schemas.openxmlformats.org/drawingml/2006/main" noGrp="1"/>
          </p:cNvSpPr>
          <p:nvPr/>
        </p:nvSpPr>
        <p:spPr>
          <a:xfrm xmlns:a="http://schemas.openxmlformats.org/drawingml/2006/main">
            <a:off x="9347200" y="7569200"/>
            <a:ext cx="8178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7719"/>
                </a:solidFill>
                <a:latin typeface="Calibri"/>
                <a:ea typeface="Calibri"/>
                <a:cs typeface="Calibri"/>
              </a:defRPr>
            </a:pPr>
            <a:r>
              <a:rPr sz="2400" b="1">
                <a:solidFill>
                  <a:srgbClr val="F47719"/>
                </a:solidFill>
                <a:latin typeface="Calibri"/>
                <a:ea typeface="Calibri"/>
                <a:cs typeface="Calibri"/>
              </a:rPr>
              <a:t>What remains unverified by this run</a:t>
            </a:r>
          </a:p>
        </p:txBody>
      </p:sp>
      <p:sp>
        <p:nvSpPr>
          <p:cNvPr id="19" name="text">
            <a:extLst xmlns:a="http://schemas.openxmlformats.org/drawingml/2006/main">
              <a:ext uri="{FF2B5EF4-FFF2-40B4-BE49-F238E27FC236}">
                <a16:creationId xmlns:a16="http://schemas.microsoft.com/office/drawing/2014/main" id="{8FD9306B-BAC2-4944-BBE9-43991532B3BF}"/>
              </a:ext>
            </a:extLst>
          </p:cNvPr>
          <p:cNvSpPr>
            <a:spLocks xmlns:a="http://schemas.openxmlformats.org/drawingml/2006/main" noGrp="1"/>
          </p:cNvSpPr>
          <p:nvPr/>
        </p:nvSpPr>
        <p:spPr>
          <a:xfrm xmlns:a="http://schemas.openxmlformats.org/drawingml/2006/main">
            <a:off x="9347200" y="8013700"/>
            <a:ext cx="8178800" cy="7889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Real database transactions, concurrent requests, complete</a:t>
            </a:r>
          </a:p>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API/E2E journeys, and AI learning quality.</a:t>
            </a:r>
          </a:p>
        </p:txBody>
      </p:sp>
      <p:sp>
        <p:nvSpPr>
          <p:cNvPr id="20" name="text">
            <a:extLst xmlns:a="http://schemas.openxmlformats.org/drawingml/2006/main">
              <a:ext uri="{FF2B5EF4-FFF2-40B4-BE49-F238E27FC236}">
                <a16:creationId xmlns:a16="http://schemas.microsoft.com/office/drawing/2014/main" id="{D1095D4A-4499-4465-B99B-472D2970654F}"/>
              </a:ext>
            </a:extLst>
          </p:cNvPr>
          <p:cNvSpPr>
            <a:spLocks xmlns:a="http://schemas.openxmlformats.org/drawingml/2006/main" noGrp="1"/>
          </p:cNvSpPr>
          <p:nvPr/>
        </p:nvSpPr>
        <p:spPr>
          <a:xfrm xmlns:a="http://schemas.openxmlformats.org/drawingml/2006/main">
            <a:off x="762000" y="9105900"/>
            <a:ext cx="16764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748B"/>
                </a:solidFill>
                <a:latin typeface="Calibri"/>
                <a:ea typeface="Calibri"/>
                <a:cs typeface="Calibri"/>
              </a:defRPr>
            </a:pPr>
            <a:r>
              <a:rPr sz="2100" b="0">
                <a:solidFill>
                  <a:srgbClr val="64748B"/>
                </a:solidFill>
                <a:latin typeface="Calibri"/>
                <a:ea typeface="Calibri"/>
                <a:cs typeface="Calibri"/>
              </a:rPr>
              <a:t>Recorded completion: 20:42:48 GMT+7. Unit cases are not a product-completion percentage.</a:t>
            </a:r>
          </a:p>
        </p:txBody>
      </p:sp>
    </p:spTree>
    <p:extLst>
      <p:ext uri="{BB962C8B-B14F-4D97-AF65-F5344CB8AC3E}">
        <p14:creationId xmlns:p14="http://schemas.microsoft.com/office/powerpoint/2010/main" val="16648305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1A38D6D1-FE85-4841-B21C-DEB7A664B759}"/>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6.3. Detecting Specification–Implementation Drift</a:t>
            </a:r>
          </a:p>
        </p:txBody>
      </p:sp>
      <p:sp>
        <p:nvSpPr>
          <p:cNvPr id="2" name="">
            <a:extLst xmlns:a="http://schemas.openxmlformats.org/drawingml/2006/main">
              <a:ext uri="{FF2B5EF4-FFF2-40B4-BE49-F238E27FC236}">
                <a16:creationId xmlns:a16="http://schemas.microsoft.com/office/drawing/2014/main" id="{417DD4E4-324B-4CF6-8F00-FA3E7619967E}"/>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A2F4B279-B2E1-44EB-B009-E4104825AC80}"/>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2C73CADB-F7CD-4F56-8227-F9425FDE586E}"/>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Convergence tasks T021–T030 and validation task T031</a:t>
            </a:r>
          </a:p>
        </p:txBody>
      </p:sp>
      <p:sp>
        <p:nvSpPr>
          <p:cNvPr id="5" name="text">
            <a:extLst xmlns:a="http://schemas.openxmlformats.org/drawingml/2006/main">
              <a:ext uri="{FF2B5EF4-FFF2-40B4-BE49-F238E27FC236}">
                <a16:creationId xmlns:a16="http://schemas.microsoft.com/office/drawing/2014/main" id="{80C4B1EB-642B-42E0-BD8D-082425ADDD5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23 / 32</a:t>
            </a:r>
          </a:p>
        </p:txBody>
      </p:sp>
      <p:sp>
        <p:nvSpPr>
          <p:cNvPr id="6" name="text">
            <a:extLst xmlns:a="http://schemas.openxmlformats.org/drawingml/2006/main">
              <a:ext uri="{FF2B5EF4-FFF2-40B4-BE49-F238E27FC236}">
                <a16:creationId xmlns:a16="http://schemas.microsoft.com/office/drawing/2014/main" id="{03240EF2-063F-4B3A-8DCF-D4C039E913B0}"/>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Drift appears when requirements, design, tasks, code, and verification no longer describe the same behavior.</a:t>
            </a:r>
          </a:p>
        </p:txBody>
      </p:sp>
      <p:graphicFrame>
        <p:nvGraphicFramePr>
          <p:cNvPr id="16" name=""/>
          <p:cNvGraphicFramePr/>
          <p:nvPr/>
        </p:nvGraphicFramePr>
        <p:xfrm>
          <a:off xmlns:a="http://schemas.openxmlformats.org/drawingml/2006/main" x="762000" y="2473325"/>
          <a:ext xmlns:a="http://schemas.openxmlformats.org/drawingml/2006/main" cx="16764000" cy="4290060"/>
        </p:xfrm>
        <a:graphic xmlns:a="http://schemas.openxmlformats.org/drawingml/2006/main">
          <a:graphicData uri="http://schemas.openxmlformats.org/drawingml/2006/table">
            <a:tbl>
              <a:tblPr firstRow="1" bandRow="0"/>
              <a:tblGrid>
                <a:gridCol w="6202680"/>
                <a:gridCol w="10561320"/>
              </a:tblGrid>
              <a:tr h="858012">
                <a:tc>
                  <a:txBody>
                    <a:bodyPr wrap="square">
                      <a:noAutofit/>
                    </a:bodyPr>
                    <a:lstStyle/>
                    <a:p>
                      <a:r>
                        <a:rPr sz="2400" b="1">
                          <a:solidFill>
                            <a:srgbClr val="111827"/>
                          </a:solidFill>
                          <a:latin typeface="Calibri"/>
                          <a:ea typeface="Calibri"/>
                          <a:cs typeface="Calibri"/>
                        </a:rPr>
                        <a:t>Drift pattern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F04 evidence or review concern</a:t>
                      </a:r>
                    </a:p>
                  </a:txBody>
                  <a:tcPr marL="165100" marR="165100" marT="127000" marB="127000" anchor="ctr">
                    <a:solidFill>
                      <a:srgbClr val="D8EDF4"/>
                    </a:solidFill>
                  </a:tcPr>
                </a:tc>
              </a:tr>
              <a:tr h="858012">
                <a:tc>
                  <a:txBody>
                    <a:bodyPr wrap="square">
                      <a:noAutofit/>
                    </a:bodyPr>
                    <a:lstStyle/>
                    <a:p>
                      <a:r>
                        <a:rPr sz="2400" b="0">
                          <a:solidFill>
                            <a:srgbClr val="111827"/>
                          </a:solidFill>
                          <a:latin typeface="Calibri"/>
                          <a:ea typeface="Calibri"/>
                          <a:cs typeface="Calibri"/>
                        </a:rPr>
                        <a:t>A rule is incompletely implemented</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T025 records the need to enforce all publication conditions</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Implementation conflicts with shared rules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T022 records an access-token storage correction</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Contracts and API behavior diverge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T029 records DTO and API contract alignment work</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Completion claims exceed recorded checks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T031 remains an open validation task</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3DE2F6F4-E910-44F5-AD92-00DCE55CA332}"/>
              </a:ext>
            </a:extLst>
          </p:cNvPr>
          <p:cNvSpPr>
            <a:spLocks xmlns:a="http://schemas.openxmlformats.org/drawingml/2006/main" noGrp="1"/>
          </p:cNvSpPr>
          <p:nvPr/>
        </p:nvSpPr>
        <p:spPr>
          <a:xfrm xmlns:a="http://schemas.openxmlformats.org/drawingml/2006/main">
            <a:off x="762000" y="6991985"/>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Control loop</a:t>
            </a:r>
            <a:r>
              <a:rPr b="0">
                <a:latin typeface="Calibri"/>
                <a:ea typeface="Calibri"/>
                <a:cs typeface="Calibri"/>
              </a:rPr>
              <a:t>  
Identify the mismatch, link it to a requirement, create corrective work, inspect the change, and record verification.</a:t>
            </a:r>
          </a:p>
        </p:txBody>
      </p:sp>
      <p:sp>
        <p:nvSpPr>
          <p:cNvPr id="9" name="text">
            <a:extLst xmlns:a="http://schemas.openxmlformats.org/drawingml/2006/main">
              <a:ext uri="{FF2B5EF4-FFF2-40B4-BE49-F238E27FC236}">
                <a16:creationId xmlns:a16="http://schemas.microsoft.com/office/drawing/2014/main" id="{E8E517FA-B9AB-4330-A858-32B5BC702C0B}"/>
              </a:ext>
            </a:extLst>
          </p:cNvPr>
          <p:cNvSpPr>
            <a:spLocks xmlns:a="http://schemas.openxmlformats.org/drawingml/2006/main" noGrp="1"/>
          </p:cNvSpPr>
          <p:nvPr/>
        </p:nvSpPr>
        <p:spPr>
          <a:xfrm xmlns:a="http://schemas.openxmlformats.org/drawingml/2006/main">
            <a:off x="762000" y="7847457"/>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F04 contains ten Convergence tasks, T021–T030. This is a task count, not ten independently proven defects.</a:t>
            </a:r>
          </a:p>
        </p:txBody>
      </p:sp>
    </p:spTree>
    <p:extLst>
      <p:ext uri="{BB962C8B-B14F-4D97-AF65-F5344CB8AC3E}">
        <p14:creationId xmlns:p14="http://schemas.microsoft.com/office/powerpoint/2010/main" val="6928230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FAC52DDB-C6AE-4555-988C-2B4D3E123FBB}"/>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6.4. Controlling a Change Across Layers</a:t>
            </a:r>
          </a:p>
        </p:txBody>
      </p:sp>
      <p:sp>
        <p:nvSpPr>
          <p:cNvPr id="2" name="">
            <a:extLst xmlns:a="http://schemas.openxmlformats.org/drawingml/2006/main">
              <a:ext uri="{FF2B5EF4-FFF2-40B4-BE49-F238E27FC236}">
                <a16:creationId xmlns:a16="http://schemas.microsoft.com/office/drawing/2014/main" id="{3C43E34E-8A8A-443A-AD4C-AE466A82994B}"/>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A27C719E-D839-4FB0-98F7-DFC88829066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C5C8C30-20DD-4C64-A634-F994452502B1}"/>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clarifications; T032–T039; data model; OpenAPI</a:t>
            </a:r>
          </a:p>
        </p:txBody>
      </p:sp>
      <p:sp>
        <p:nvSpPr>
          <p:cNvPr id="5" name="text">
            <a:extLst xmlns:a="http://schemas.openxmlformats.org/drawingml/2006/main">
              <a:ext uri="{FF2B5EF4-FFF2-40B4-BE49-F238E27FC236}">
                <a16:creationId xmlns:a16="http://schemas.microsoft.com/office/drawing/2014/main" id="{508F14BB-5C18-4B53-9D36-8C8D113C7EF5}"/>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24 / 32</a:t>
            </a:r>
          </a:p>
        </p:txBody>
      </p:sp>
      <p:sp>
        <p:nvSpPr>
          <p:cNvPr id="6" name="text">
            <a:extLst xmlns:a="http://schemas.openxmlformats.org/drawingml/2006/main">
              <a:ext uri="{FF2B5EF4-FFF2-40B4-BE49-F238E27FC236}">
                <a16:creationId xmlns:a16="http://schemas.microsoft.com/office/drawing/2014/main" id="{CE8215CD-DCCE-4A05-A296-261E60A8DA6D}"/>
              </a:ext>
            </a:extLst>
          </p:cNvPr>
          <p:cNvSpPr>
            <a:spLocks xmlns:a="http://schemas.openxmlformats.org/drawingml/2006/main" noGrp="1"/>
          </p:cNvSpPr>
          <p:nvPr/>
        </p:nvSpPr>
        <p:spPr>
          <a:xfrm xmlns:a="http://schemas.openxmlformats.org/drawingml/2006/main">
            <a:off x="762000" y="1790700"/>
            <a:ext cx="16764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F04 records a YouTube-only media intake decision: accept a supported video link or ID and retain its canonical identity.</a:t>
            </a:r>
          </a:p>
        </p:txBody>
      </p:sp>
      <p:sp>
        <p:nvSpPr>
          <p:cNvPr id="7" name="YouTube URL / Video ID">
            <a:extLst xmlns:a="http://schemas.openxmlformats.org/drawingml/2006/main">
              <a:ext uri="{FF2B5EF4-FFF2-40B4-BE49-F238E27FC236}">
                <a16:creationId xmlns:a16="http://schemas.microsoft.com/office/drawing/2014/main" id="{0FC7345A-6E23-4123-8FF1-FFEB3620F8E6}"/>
              </a:ext>
            </a:extLst>
          </p:cNvPr>
          <p:cNvSpPr>
            <a:spLocks xmlns:a="http://schemas.openxmlformats.org/drawingml/2006/main" noGrp="1"/>
          </p:cNvSpPr>
          <p:nvPr/>
        </p:nvSpPr>
        <p:spPr>
          <a:xfrm xmlns:a="http://schemas.openxmlformats.org/drawingml/2006/main">
            <a:off x="2095500" y="2679700"/>
            <a:ext cx="3810000" cy="7874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8" name="text">
            <a:extLst xmlns:a="http://schemas.openxmlformats.org/drawingml/2006/main">
              <a:ext uri="{FF2B5EF4-FFF2-40B4-BE49-F238E27FC236}">
                <a16:creationId xmlns:a16="http://schemas.microsoft.com/office/drawing/2014/main" id="{7767FAE4-9701-499D-A432-5A8D119C84E7}"/>
              </a:ext>
            </a:extLst>
          </p:cNvPr>
          <p:cNvSpPr>
            <a:spLocks xmlns:a="http://schemas.openxmlformats.org/drawingml/2006/main" noGrp="1"/>
          </p:cNvSpPr>
          <p:nvPr/>
        </p:nvSpPr>
        <p:spPr>
          <a:xfrm xmlns:a="http://schemas.openxmlformats.org/drawingml/2006/main">
            <a:off x="2247900" y="2832100"/>
            <a:ext cx="3505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YouTube URL / Video ID</a:t>
            </a:r>
          </a:p>
        </p:txBody>
      </p:sp>
      <p:sp>
        <p:nvSpPr>
          <p:cNvPr id="9" name="Canonical video ID">
            <a:extLst xmlns:a="http://schemas.openxmlformats.org/drawingml/2006/main">
              <a:ext uri="{FF2B5EF4-FFF2-40B4-BE49-F238E27FC236}">
                <a16:creationId xmlns:a16="http://schemas.microsoft.com/office/drawing/2014/main" id="{7C540192-C880-41C3-BFBE-FBCBA74C6FB2}"/>
              </a:ext>
            </a:extLst>
          </p:cNvPr>
          <p:cNvSpPr>
            <a:spLocks xmlns:a="http://schemas.openxmlformats.org/drawingml/2006/main" noGrp="1"/>
          </p:cNvSpPr>
          <p:nvPr/>
        </p:nvSpPr>
        <p:spPr>
          <a:xfrm xmlns:a="http://schemas.openxmlformats.org/drawingml/2006/main">
            <a:off x="7239000" y="2679700"/>
            <a:ext cx="3810000" cy="7874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0" name="text">
            <a:extLst xmlns:a="http://schemas.openxmlformats.org/drawingml/2006/main">
              <a:ext uri="{FF2B5EF4-FFF2-40B4-BE49-F238E27FC236}">
                <a16:creationId xmlns:a16="http://schemas.microsoft.com/office/drawing/2014/main" id="{38D2B71D-AAEF-4A8A-9FF6-1B2714493018}"/>
              </a:ext>
            </a:extLst>
          </p:cNvPr>
          <p:cNvSpPr>
            <a:spLocks xmlns:a="http://schemas.openxmlformats.org/drawingml/2006/main" noGrp="1"/>
          </p:cNvSpPr>
          <p:nvPr/>
        </p:nvSpPr>
        <p:spPr>
          <a:xfrm xmlns:a="http://schemas.openxmlformats.org/drawingml/2006/main">
            <a:off x="7391400" y="2832100"/>
            <a:ext cx="3505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Canonical video ID</a:t>
            </a:r>
          </a:p>
        </p:txBody>
      </p:sp>
      <p:sp>
        <p:nvSpPr>
          <p:cNvPr id="11" name="Reviewed media reference">
            <a:extLst xmlns:a="http://schemas.openxmlformats.org/drawingml/2006/main">
              <a:ext uri="{FF2B5EF4-FFF2-40B4-BE49-F238E27FC236}">
                <a16:creationId xmlns:a16="http://schemas.microsoft.com/office/drawing/2014/main" id="{977168B2-90D8-4DAB-8DDF-42FA3CE9BB36}"/>
              </a:ext>
            </a:extLst>
          </p:cNvPr>
          <p:cNvSpPr>
            <a:spLocks xmlns:a="http://schemas.openxmlformats.org/drawingml/2006/main" noGrp="1"/>
          </p:cNvSpPr>
          <p:nvPr/>
        </p:nvSpPr>
        <p:spPr>
          <a:xfrm xmlns:a="http://schemas.openxmlformats.org/drawingml/2006/main">
            <a:off x="12382500" y="2679700"/>
            <a:ext cx="4445000" cy="787400"/>
          </a:xfrm>
          <a:prstGeom xmlns:a="http://schemas.openxmlformats.org/drawingml/2006/main" prst="rect">
            <a:avLst/>
          </a:prstGeom>
          <a:solidFill xmlns:a="http://schemas.openxmlformats.org/drawingml/2006/main">
            <a:srgbClr val="F3F8FB"/>
          </a:solidFill>
          <a:ln xmlns:a="http://schemas.openxmlformats.org/drawingml/2006/main" w="12700">
            <a:solidFill>
              <a:srgbClr val="0070C0"/>
            </a:solidFill>
          </a:ln>
        </p:spPr>
      </p:sp>
      <p:sp>
        <p:nvSpPr>
          <p:cNvPr id="12" name="text">
            <a:extLst xmlns:a="http://schemas.openxmlformats.org/drawingml/2006/main">
              <a:ext uri="{FF2B5EF4-FFF2-40B4-BE49-F238E27FC236}">
                <a16:creationId xmlns:a16="http://schemas.microsoft.com/office/drawing/2014/main" id="{548734F2-A8F4-44AE-A048-31E509195460}"/>
              </a:ext>
            </a:extLst>
          </p:cNvPr>
          <p:cNvSpPr>
            <a:spLocks xmlns:a="http://schemas.openxmlformats.org/drawingml/2006/main" noGrp="1"/>
          </p:cNvSpPr>
          <p:nvPr/>
        </p:nvSpPr>
        <p:spPr>
          <a:xfrm xmlns:a="http://schemas.openxmlformats.org/drawingml/2006/main">
            <a:off x="12534900" y="2832100"/>
            <a:ext cx="41402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0070C0"/>
                </a:solidFill>
                <a:latin typeface="Calibri"/>
                <a:ea typeface="Calibri"/>
                <a:cs typeface="Calibri"/>
              </a:defRPr>
            </a:pPr>
            <a:r>
              <a:rPr sz="2400" b="1">
                <a:solidFill>
                  <a:srgbClr val="0070C0"/>
                </a:solidFill>
                <a:latin typeface="Calibri"/>
                <a:ea typeface="Calibri"/>
                <a:cs typeface="Calibri"/>
              </a:rPr>
              <a:t>Reviewed media reference</a:t>
            </a:r>
          </a:p>
        </p:txBody>
      </p:sp>
      <p:cxnSp>
        <p:nvCxnSpPr>
          <p:cNvPr id="30" name=""/>
          <p:cNvCxnSpPr>
            <a:stCxn xmlns:a="http://schemas.openxmlformats.org/drawingml/2006/main" id="7" idx="3"/>
            <a:endCxn xmlns:a="http://schemas.openxmlformats.org/drawingml/2006/main" id="9" idx="1"/>
          </p:cNvCxnSpPr>
          <p:nvPr/>
        </p:nvCxnSpPr>
        <p:spPr>
          <a:xfrm xmlns:a="http://schemas.openxmlformats.org/drawingml/2006/main">
            <a:off x="5905500" y="3073400"/>
            <a:ext cx="1333500" cy="0"/>
          </a:xfrm>
          <a:prstGeom xmlns:a="http://schemas.openxmlformats.org/drawingml/2006/main" prst="straightConnector1">
            <a:avLst/>
          </a:prstGeom>
          <a:ln xmlns:a="http://schemas.openxmlformats.org/drawingml/2006/main" w="17780">
            <a:solidFill>
              <a:srgbClr val="111827"/>
            </a:solidFill>
            <a:tailEnd type="triangle" w="med" len="med"/>
          </a:ln>
        </p:spPr>
      </p:cxnSp>
      <p:cxnSp>
        <p:nvCxnSpPr>
          <p:cNvPr id="31" name=""/>
          <p:cNvCxnSpPr>
            <a:stCxn xmlns:a="http://schemas.openxmlformats.org/drawingml/2006/main" id="9" idx="3"/>
            <a:endCxn xmlns:a="http://schemas.openxmlformats.org/drawingml/2006/main" id="11" idx="1"/>
          </p:cNvCxnSpPr>
          <p:nvPr/>
        </p:nvCxnSpPr>
        <p:spPr>
          <a:xfrm xmlns:a="http://schemas.openxmlformats.org/drawingml/2006/main">
            <a:off x="11049000" y="3073400"/>
            <a:ext cx="1333500" cy="0"/>
          </a:xfrm>
          <a:prstGeom xmlns:a="http://schemas.openxmlformats.org/drawingml/2006/main" prst="straightConnector1">
            <a:avLst/>
          </a:prstGeom>
          <a:ln xmlns:a="http://schemas.openxmlformats.org/drawingml/2006/main" w="17780">
            <a:solidFill>
              <a:srgbClr val="111827"/>
            </a:solidFill>
            <a:tailEnd type="triangle" w="med" len="med"/>
          </a:ln>
        </p:spPr>
      </p:cxnSp>
      <p:graphicFrame>
        <p:nvGraphicFramePr>
          <p:cNvPr id="32" name=""/>
          <p:cNvGraphicFramePr/>
          <p:nvPr/>
        </p:nvGraphicFramePr>
        <p:xfrm>
          <a:off xmlns:a="http://schemas.openxmlformats.org/drawingml/2006/main" x="762000" y="3746500"/>
          <a:ext xmlns:a="http://schemas.openxmlformats.org/drawingml/2006/main" cx="16764000" cy="4368800"/>
        </p:xfrm>
        <a:graphic xmlns:a="http://schemas.openxmlformats.org/drawingml/2006/main">
          <a:graphicData uri="http://schemas.openxmlformats.org/drawingml/2006/table">
            <a:tbl>
              <a:tblPr firstRow="1" bandRow="0"/>
              <a:tblGrid>
                <a:gridCol w="4191000"/>
                <a:gridCol w="12573000"/>
              </a:tblGrid>
              <a:tr h="624114">
                <a:tc>
                  <a:txBody>
                    <a:bodyPr wrap="square">
                      <a:noAutofit/>
                    </a:bodyPr>
                    <a:lstStyle/>
                    <a:p>
                      <a:r>
                        <a:rPr sz="2200" b="1">
                          <a:solidFill>
                            <a:srgbClr val="111827"/>
                          </a:solidFill>
                          <a:latin typeface="Calibri"/>
                          <a:ea typeface="Calibri"/>
                          <a:cs typeface="Calibri"/>
                        </a:rPr>
                        <a:t>Area affected</a:t>
                      </a:r>
                    </a:p>
                  </a:txBody>
                  <a:tcPr marL="165100" marR="165100" marT="63500" marB="63500" anchor="ctr">
                    <a:solidFill>
                      <a:srgbClr val="D8EDF4"/>
                    </a:solidFill>
                  </a:tcPr>
                </a:tc>
                <a:tc>
                  <a:txBody>
                    <a:bodyPr wrap="square">
                      <a:noAutofit/>
                    </a:bodyPr>
                    <a:lstStyle/>
                    <a:p>
                      <a:r>
                        <a:rPr sz="2200" b="1">
                          <a:solidFill>
                            <a:srgbClr val="111827"/>
                          </a:solidFill>
                          <a:latin typeface="Calibri"/>
                          <a:ea typeface="Calibri"/>
                          <a:cs typeface="Calibri"/>
                        </a:rPr>
                        <a:t>Required change</a:t>
                      </a:r>
                    </a:p>
                  </a:txBody>
                  <a:tcPr marL="165100" marR="165100" marT="63500" marB="63500" anchor="ctr">
                    <a:solidFill>
                      <a:srgbClr val="D8EDF4"/>
                    </a:solidFill>
                  </a:tcPr>
                </a:tc>
              </a:tr>
              <a:tr h="624114">
                <a:tc>
                  <a:txBody>
                    <a:bodyPr wrap="square">
                      <a:noAutofit/>
                    </a:bodyPr>
                    <a:lstStyle/>
                    <a:p>
                      <a:r>
                        <a:rPr sz="2200" b="0">
                          <a:solidFill>
                            <a:srgbClr val="111827"/>
                          </a:solidFill>
                          <a:latin typeface="Calibri"/>
                          <a:ea typeface="Calibri"/>
                          <a:cs typeface="Calibri"/>
                        </a:rPr>
                        <a:t>Admin experience</a:t>
                      </a:r>
                    </a:p>
                  </a:txBody>
                  <a:tcPr marL="165100" marR="165100" marT="63500" marB="63500" anchor="ctr">
                    <a:solidFill>
                      <a:srgbClr val="FFFFFF"/>
                    </a:solidFill>
                  </a:tcPr>
                </a:tc>
                <a:tc>
                  <a:txBody>
                    <a:bodyPr wrap="square">
                      <a:noAutofit/>
                    </a:bodyPr>
                    <a:lstStyle/>
                    <a:p>
                      <a:r>
                        <a:rPr sz="2200" b="0">
                          <a:solidFill>
                            <a:srgbClr val="111827"/>
                          </a:solidFill>
                          <a:latin typeface="Calibri"/>
                          <a:ea typeface="Calibri"/>
                          <a:cs typeface="Calibri"/>
                        </a:rPr>
                        <a:t>Paste a supported YouTube link or video ID</a:t>
                      </a:r>
                    </a:p>
                  </a:txBody>
                  <a:tcPr marL="165100" marR="165100" marT="63500" marB="63500" anchor="ctr">
                    <a:solidFill>
                      <a:srgbClr val="FFFFFF"/>
                    </a:solidFill>
                  </a:tcPr>
                </a:tc>
              </a:tr>
              <a:tr h="624114">
                <a:tc>
                  <a:txBody>
                    <a:bodyPr wrap="square">
                      <a:noAutofit/>
                    </a:bodyPr>
                    <a:lstStyle/>
                    <a:p>
                      <a:r>
                        <a:rPr sz="2200" b="0">
                          <a:solidFill>
                            <a:srgbClr val="111827"/>
                          </a:solidFill>
                          <a:latin typeface="Calibri"/>
                          <a:ea typeface="Calibri"/>
                          <a:cs typeface="Calibri"/>
                        </a:rPr>
                        <a:t>Specification</a:t>
                      </a:r>
                    </a:p>
                  </a:txBody>
                  <a:tcPr marL="165100" marR="165100" marT="63500" marB="63500" anchor="ctr">
                    <a:solidFill>
                      <a:srgbClr val="F3F8FB"/>
                    </a:solidFill>
                  </a:tcPr>
                </a:tc>
                <a:tc>
                  <a:txBody>
                    <a:bodyPr wrap="square">
                      <a:noAutofit/>
                    </a:bodyPr>
                    <a:lstStyle/>
                    <a:p>
                      <a:r>
                        <a:rPr sz="2200" b="0">
                          <a:solidFill>
                            <a:srgbClr val="111827"/>
                          </a:solidFill>
                          <a:latin typeface="Calibri"/>
                          <a:ea typeface="Calibri"/>
                          <a:cs typeface="Calibri"/>
                        </a:rPr>
                        <a:t>Define accepted references, rejection rules, and playback boundaries</a:t>
                      </a:r>
                    </a:p>
                  </a:txBody>
                  <a:tcPr marL="165100" marR="165100" marT="63500" marB="63500" anchor="ctr">
                    <a:solidFill>
                      <a:srgbClr val="F3F8FB"/>
                    </a:solidFill>
                  </a:tcPr>
                </a:tc>
              </a:tr>
              <a:tr h="624114">
                <a:tc>
                  <a:txBody>
                    <a:bodyPr wrap="square">
                      <a:noAutofit/>
                    </a:bodyPr>
                    <a:lstStyle/>
                    <a:p>
                      <a:r>
                        <a:rPr sz="2200" b="0">
                          <a:solidFill>
                            <a:srgbClr val="111827"/>
                          </a:solidFill>
                          <a:latin typeface="Calibri"/>
                          <a:ea typeface="Calibri"/>
                          <a:cs typeface="Calibri"/>
                        </a:rPr>
                        <a:t>API and frontend</a:t>
                      </a:r>
                    </a:p>
                  </a:txBody>
                  <a:tcPr marL="165100" marR="165100" marT="63500" marB="63500" anchor="ctr">
                    <a:solidFill>
                      <a:srgbClr val="FFFFFF"/>
                    </a:solidFill>
                  </a:tcPr>
                </a:tc>
                <a:tc>
                  <a:txBody>
                    <a:bodyPr wrap="square">
                      <a:noAutofit/>
                    </a:bodyPr>
                    <a:lstStyle/>
                    <a:p>
                      <a:r>
                        <a:rPr sz="2200" b="0">
                          <a:solidFill>
                            <a:srgbClr val="111827"/>
                          </a:solidFill>
                          <a:latin typeface="Calibri"/>
                          <a:ea typeface="Calibri"/>
                          <a:cs typeface="Calibri"/>
                        </a:rPr>
                        <a:t>Use the documented video-reference input and safe error handling</a:t>
                      </a:r>
                    </a:p>
                  </a:txBody>
                  <a:tcPr marL="165100" marR="165100" marT="63500" marB="63500" anchor="ctr">
                    <a:solidFill>
                      <a:srgbClr val="FFFFFF"/>
                    </a:solidFill>
                  </a:tcPr>
                </a:tc>
              </a:tr>
              <a:tr h="624114">
                <a:tc>
                  <a:txBody>
                    <a:bodyPr wrap="square">
                      <a:noAutofit/>
                    </a:bodyPr>
                    <a:lstStyle/>
                    <a:p>
                      <a:r>
                        <a:rPr sz="2200" b="0">
                          <a:solidFill>
                            <a:srgbClr val="111827"/>
                          </a:solidFill>
                          <a:latin typeface="Calibri"/>
                          <a:ea typeface="Calibri"/>
                          <a:cs typeface="Calibri"/>
                        </a:rPr>
                        <a:t>Backend and data</a:t>
                      </a:r>
                    </a:p>
                  </a:txBody>
                  <a:tcPr marL="165100" marR="165100" marT="63500" marB="63500" anchor="ctr">
                    <a:solidFill>
                      <a:srgbClr val="F3F8FB"/>
                    </a:solidFill>
                  </a:tcPr>
                </a:tc>
                <a:tc>
                  <a:txBody>
                    <a:bodyPr wrap="square">
                      <a:noAutofit/>
                    </a:bodyPr>
                    <a:lstStyle/>
                    <a:p>
                      <a:r>
                        <a:rPr sz="2200" b="0">
                          <a:solidFill>
                            <a:srgbClr val="111827"/>
                          </a:solidFill>
                          <a:latin typeface="Calibri"/>
                          <a:ea typeface="Calibri"/>
                          <a:cs typeface="Calibri"/>
                        </a:rPr>
                        <a:t>Normalize and store an immutable canonical video ID with review state</a:t>
                      </a:r>
                    </a:p>
                  </a:txBody>
                  <a:tcPr marL="165100" marR="165100" marT="63500" marB="63500" anchor="ctr">
                    <a:solidFill>
                      <a:srgbClr val="F3F8FB"/>
                    </a:solidFill>
                  </a:tcPr>
                </a:tc>
              </a:tr>
              <a:tr h="624114">
                <a:tc>
                  <a:txBody>
                    <a:bodyPr wrap="square">
                      <a:noAutofit/>
                    </a:bodyPr>
                    <a:lstStyle/>
                    <a:p>
                      <a:r>
                        <a:rPr sz="2200" b="0">
                          <a:solidFill>
                            <a:srgbClr val="111827"/>
                          </a:solidFill>
                          <a:latin typeface="Calibri"/>
                          <a:ea typeface="Calibri"/>
                          <a:cs typeface="Calibri"/>
                        </a:rPr>
                        <a:t>Verification</a:t>
                      </a:r>
                    </a:p>
                  </a:txBody>
                  <a:tcPr marL="165100" marR="165100" marT="63500" marB="63500" anchor="ctr">
                    <a:solidFill>
                      <a:srgbClr val="FFFFFF"/>
                    </a:solidFill>
                  </a:tcPr>
                </a:tc>
                <a:tc>
                  <a:txBody>
                    <a:bodyPr wrap="square">
                      <a:noAutofit/>
                    </a:bodyPr>
                    <a:lstStyle/>
                    <a:p>
                      <a:r>
                        <a:rPr sz="2200" b="0">
                          <a:solidFill>
                            <a:srgbClr val="111827"/>
                          </a:solidFill>
                          <a:latin typeface="Calibri"/>
                          <a:ea typeface="Calibri"/>
                          <a:cs typeface="Calibri"/>
                        </a:rPr>
                        <a:t>Test accepted links, unsupported inputs, and unchanged source identity</a:t>
                      </a:r>
                    </a:p>
                  </a:txBody>
                  <a:tcPr marL="165100" marR="165100" marT="63500" marB="63500" anchor="ctr">
                    <a:solidFill>
                      <a:srgbClr val="FFFFFF"/>
                    </a:solidFill>
                  </a:tcPr>
                </a:tc>
              </a:tr>
              <a:tr h="624114">
                <a:tc>
                  <a:txBody>
                    <a:bodyPr wrap="square">
                      <a:noAutofit/>
                    </a:bodyPr>
                    <a:lstStyle/>
                    <a:p>
                      <a:r>
                        <a:rPr sz="2200" b="0">
                          <a:solidFill>
                            <a:srgbClr val="111827"/>
                          </a:solidFill>
                          <a:latin typeface="Calibri"/>
                          <a:ea typeface="Calibri"/>
                          <a:cs typeface="Calibri"/>
                        </a:rPr>
                        <a:t>Schema evolution</a:t>
                      </a:r>
                    </a:p>
                  </a:txBody>
                  <a:tcPr marL="165100" marR="165100" marT="63500" marB="63500" anchor="ctr">
                    <a:solidFill>
                      <a:srgbClr val="F3F8FB"/>
                    </a:solidFill>
                  </a:tcPr>
                </a:tc>
                <a:tc>
                  <a:txBody>
                    <a:bodyPr wrap="square">
                      <a:noAutofit/>
                    </a:bodyPr>
                    <a:lstStyle/>
                    <a:p>
                      <a:r>
                        <a:rPr sz="2200" b="0">
                          <a:solidFill>
                            <a:srgbClr val="111827"/>
                          </a:solidFill>
                          <a:latin typeface="Calibri"/>
                          <a:ea typeface="Calibri"/>
                          <a:cs typeface="Calibri"/>
                        </a:rPr>
                        <a:t>Apply the canonical forward migration for the revised data constraints</a:t>
                      </a:r>
                    </a:p>
                  </a:txBody>
                  <a:tcPr marL="165100" marR="165100" marT="63500" marB="63500" anchor="ctr">
                    <a:solidFill>
                      <a:srgbClr val="F3F8FB"/>
                    </a:solidFill>
                  </a:tcPr>
                </a:tc>
              </a:tr>
            </a:tbl>
          </a:graphicData>
        </a:graphic>
      </p:graphicFrame>
      <p:sp>
        <p:nvSpPr>
          <p:cNvPr id="16" name="text">
            <a:extLst xmlns:a="http://schemas.openxmlformats.org/drawingml/2006/main">
              <a:ext uri="{FF2B5EF4-FFF2-40B4-BE49-F238E27FC236}">
                <a16:creationId xmlns:a16="http://schemas.microsoft.com/office/drawing/2014/main" id="{4D771B3A-7E5A-4574-9114-41B0A0097195}"/>
              </a:ext>
            </a:extLst>
          </p:cNvPr>
          <p:cNvSpPr>
            <a:spLocks xmlns:a="http://schemas.openxmlformats.org/drawingml/2006/main" noGrp="1"/>
          </p:cNvSpPr>
          <p:nvPr/>
        </p:nvSpPr>
        <p:spPr>
          <a:xfrm xmlns:a="http://schemas.openxmlformats.org/drawingml/2006/main">
            <a:off x="762000" y="8394700"/>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Product result:</a:t>
            </a:r>
            <a:r>
              <a:rPr b="0">
                <a:latin typeface="Calibri"/>
                <a:ea typeface="Calibri"/>
                <a:cs typeface="Calibri"/>
              </a:rPr>
              <a:t> The application registers a video reference without uploading or downloading video bytes. Learner playback uses the permitted embedded player.</a:t>
            </a:r>
          </a:p>
        </p:txBody>
      </p:sp>
      <p:sp>
        <p:nvSpPr>
          <p:cNvPr id="17" name="text">
            <a:extLst xmlns:a="http://schemas.openxmlformats.org/drawingml/2006/main">
              <a:ext uri="{FF2B5EF4-FFF2-40B4-BE49-F238E27FC236}">
                <a16:creationId xmlns:a16="http://schemas.microsoft.com/office/drawing/2014/main" id="{79D6299B-CEAD-460F-B8E4-D45376C326A1}"/>
              </a:ext>
            </a:extLst>
          </p:cNvPr>
          <p:cNvSpPr>
            <a:spLocks xmlns:a="http://schemas.openxmlformats.org/drawingml/2006/main" noGrp="1"/>
          </p:cNvSpPr>
          <p:nvPr/>
        </p:nvSpPr>
        <p:spPr>
          <a:xfrm xmlns:a="http://schemas.openxmlformats.org/drawingml/2006/main">
            <a:off x="762000" y="9194800"/>
            <a:ext cx="1676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64748B"/>
                </a:solidFill>
                <a:latin typeface="Calibri"/>
                <a:ea typeface="Calibri"/>
                <a:cs typeface="Calibri"/>
              </a:defRPr>
            </a:pPr>
            <a:r>
              <a:rPr sz="2000" b="0">
                <a:solidFill>
                  <a:srgbClr val="64748B"/>
                </a:solidFill>
                <a:latin typeface="Calibri"/>
                <a:ea typeface="Calibri"/>
                <a:cs typeface="Calibri"/>
              </a:rPr>
              <a:t>Recorded revision: 11 September 2026, F04 T032–T039. Player delivery is a dependent feature.</a:t>
            </a:r>
          </a:p>
        </p:txBody>
      </p:sp>
    </p:spTree>
    <p:extLst>
      <p:ext uri="{BB962C8B-B14F-4D97-AF65-F5344CB8AC3E}">
        <p14:creationId xmlns:p14="http://schemas.microsoft.com/office/powerpoint/2010/main" val="5391561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F703ACEC-6C52-4ABB-A68A-142B91FB5662}"/>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6.5. Current Evidence and Limitations</a:t>
            </a:r>
          </a:p>
        </p:txBody>
      </p:sp>
      <p:sp>
        <p:nvSpPr>
          <p:cNvPr id="2" name="">
            <a:extLst xmlns:a="http://schemas.openxmlformats.org/drawingml/2006/main">
              <a:ext uri="{FF2B5EF4-FFF2-40B4-BE49-F238E27FC236}">
                <a16:creationId xmlns:a16="http://schemas.microsoft.com/office/drawing/2014/main" id="{47E1D24D-ABBD-4B4E-A87E-4411952C1AD0}"/>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40DC5C85-A982-4C0E-B528-1B36091ADD4E}"/>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6AD78994-3A09-4640-A8D3-D0A0C43E0EB5}"/>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and F11 tasks; F12 Draft; MVP feature map</a:t>
            </a:r>
          </a:p>
        </p:txBody>
      </p:sp>
      <p:sp>
        <p:nvSpPr>
          <p:cNvPr id="5" name="text">
            <a:extLst xmlns:a="http://schemas.openxmlformats.org/drawingml/2006/main">
              <a:ext uri="{FF2B5EF4-FFF2-40B4-BE49-F238E27FC236}">
                <a16:creationId xmlns:a16="http://schemas.microsoft.com/office/drawing/2014/main" id="{223414E7-BF86-4164-A753-83D06A169CC1}"/>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25 / 32</a:t>
            </a:r>
          </a:p>
        </p:txBody>
      </p:sp>
      <p:sp>
        <p:nvSpPr>
          <p:cNvPr id="6" name="text">
            <a:extLst xmlns:a="http://schemas.openxmlformats.org/drawingml/2006/main">
              <a:ext uri="{FF2B5EF4-FFF2-40B4-BE49-F238E27FC236}">
                <a16:creationId xmlns:a16="http://schemas.microsoft.com/office/drawing/2014/main" id="{A3D210B5-29BE-4DD6-9DA4-8E0CD2FE73B1}"/>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Schinese demonstrates a specification-control process through selected features, with important verification work still open.</a:t>
            </a:r>
          </a:p>
        </p:txBody>
      </p:sp>
      <p:graphicFrame>
        <p:nvGraphicFramePr>
          <p:cNvPr id="16" name=""/>
          <p:cNvGraphicFramePr/>
          <p:nvPr/>
        </p:nvGraphicFramePr>
        <p:xfrm>
          <a:off xmlns:a="http://schemas.openxmlformats.org/drawingml/2006/main" x="762000" y="2473325"/>
          <a:ext xmlns:a="http://schemas.openxmlformats.org/drawingml/2006/main" cx="16764000" cy="5148072"/>
        </p:xfrm>
        <a:graphic xmlns:a="http://schemas.openxmlformats.org/drawingml/2006/main">
          <a:graphicData uri="http://schemas.openxmlformats.org/drawingml/2006/table">
            <a:tbl>
              <a:tblPr firstRow="1" bandRow="0"/>
              <a:tblGrid>
                <a:gridCol w="7879080"/>
                <a:gridCol w="8884920"/>
              </a:tblGrid>
              <a:tr h="858012">
                <a:tc>
                  <a:txBody>
                    <a:bodyPr wrap="square">
                      <a:noAutofit/>
                    </a:bodyPr>
                    <a:lstStyle/>
                    <a:p>
                      <a:r>
                        <a:rPr sz="2400" b="1">
                          <a:solidFill>
                            <a:srgbClr val="111827"/>
                          </a:solidFill>
                          <a:latin typeface="Calibri"/>
                          <a:ea typeface="Calibri"/>
                          <a:cs typeface="Calibri"/>
                        </a:rPr>
                        <a:t>Evidence available</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Remaining gap</a:t>
                      </a:r>
                    </a:p>
                  </a:txBody>
                  <a:tcPr marL="165100" marR="165100" marT="127000" marB="127000" anchor="ctr">
                    <a:solidFill>
                      <a:srgbClr val="D8EDF4"/>
                    </a:solidFill>
                  </a:tcPr>
                </a:tc>
              </a:tr>
              <a:tr h="858012">
                <a:tc>
                  <a:txBody>
                    <a:bodyPr wrap="square">
                      <a:noAutofit/>
                    </a:bodyPr>
                    <a:lstStyle/>
                    <a:p>
                      <a:r>
                        <a:rPr sz="2400" b="0">
                          <a:solidFill>
                            <a:srgbClr val="111827"/>
                          </a:solidFill>
                          <a:latin typeface="Calibri"/>
                          <a:ea typeface="Calibri"/>
                          <a:cs typeface="Calibri"/>
                        </a:rPr>
                        <a:t>Project rules, feature specs, plans, and contracts exist</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Draft status and approval records require alignment</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F04 publication has a requirement/task/code/test trace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Full catalog and learning-flow acceptance needs more evidence</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Fifteen selected unit tests passed in the recorded run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Integration, migration, concurrency, and E2E are outside that result</a:t>
                      </a:r>
                    </a:p>
                  </a:txBody>
                  <a:tcPr marL="165100" marR="165100" marT="127000" marB="127000" anchor="ctr">
                    <a:solidFill>
                      <a:srgbClr val="FFFFFF"/>
                    </a:solidFill>
                  </a:tcPr>
                </a:tc>
              </a:tr>
              <a:tr h="858012">
                <a:tc>
                  <a:txBody>
                    <a:bodyPr wrap="square">
                      <a:noAutofit/>
                    </a:bodyPr>
                    <a:lstStyle/>
                    <a:p>
                      <a:r>
                        <a:rPr sz="2400" b="0">
                          <a:solidFill>
                            <a:srgbClr val="111827"/>
                          </a:solidFill>
                          <a:latin typeface="Calibri"/>
                          <a:ea typeface="Calibri"/>
                          <a:cs typeface="Calibri"/>
                        </a:rPr>
                        <a:t>F11 has implementation work in progress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Its task list does not establish completed acceptance</a:t>
                      </a:r>
                    </a:p>
                  </a:txBody>
                  <a:tcPr marL="165100" marR="165100" marT="127000" marB="127000" anchor="ctr">
                    <a:solidFill>
                      <a:srgbClr val="F3F8FB"/>
                    </a:solidFill>
                  </a:tcPr>
                </a:tc>
              </a:tr>
              <a:tr h="858012">
                <a:tc>
                  <a:txBody>
                    <a:bodyPr wrap="square">
                      <a:noAutofit/>
                    </a:bodyPr>
                    <a:lstStyle/>
                    <a:p>
                      <a:r>
                        <a:rPr sz="2400" b="0">
                          <a:solidFill>
                            <a:srgbClr val="111827"/>
                          </a:solidFill>
                          <a:latin typeface="Calibri"/>
                          <a:ea typeface="Calibri"/>
                          <a:cs typeface="Calibri"/>
                        </a:rPr>
                        <a:t>F12 has a separate Draft specification</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The F00–F11 feature map needs scope alignment</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4C876663-B206-4F1A-BCE8-43E0E6817451}"/>
              </a:ext>
            </a:extLst>
          </p:cNvPr>
          <p:cNvSpPr>
            <a:spLocks xmlns:a="http://schemas.openxmlformats.org/drawingml/2006/main" noGrp="1"/>
          </p:cNvSpPr>
          <p:nvPr/>
        </p:nvSpPr>
        <p:spPr>
          <a:xfrm xmlns:a="http://schemas.openxmlformats.org/drawingml/2006/main">
            <a:off x="762000" y="7849997"/>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Conclusion supported today</a:t>
            </a:r>
            <a:r>
              <a:rPr b="0">
                <a:latin typeface="Calibri"/>
                <a:ea typeface="Calibri"/>
                <a:cs typeface="Calibri"/>
              </a:rPr>
              <a:t>  
Selected behaviors are traceable and tested. Overall readiness, learning effectiveness, and production scale remain to be demonstrated.</a:t>
            </a:r>
          </a:p>
        </p:txBody>
      </p:sp>
      <p:sp>
        <p:nvSpPr>
          <p:cNvPr id="9" name="text">
            <a:extLst xmlns:a="http://schemas.openxmlformats.org/drawingml/2006/main">
              <a:ext uri="{FF2B5EF4-FFF2-40B4-BE49-F238E27FC236}">
                <a16:creationId xmlns:a16="http://schemas.microsoft.com/office/drawing/2014/main" id="{8C101001-71F8-4AFA-A53B-485F306481E6}"/>
              </a:ext>
            </a:extLst>
          </p:cNvPr>
          <p:cNvSpPr>
            <a:spLocks xmlns:a="http://schemas.openxmlformats.org/drawingml/2006/main" noGrp="1"/>
          </p:cNvSpPr>
          <p:nvPr/>
        </p:nvSpPr>
        <p:spPr>
          <a:xfrm xmlns:a="http://schemas.openxmlformats.org/drawingml/2006/main">
            <a:off x="762000" y="8705469"/>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Evidence snapshot: 11 September 2026.</a:t>
            </a:r>
          </a:p>
        </p:txBody>
      </p:sp>
    </p:spTree>
    <p:extLst>
      <p:ext uri="{BB962C8B-B14F-4D97-AF65-F5344CB8AC3E}">
        <p14:creationId xmlns:p14="http://schemas.microsoft.com/office/powerpoint/2010/main" val="129277760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1857FDEE-2D88-41B8-9C04-9BB82E32A1F2}"/>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7.1. AI-Generated Functions and Algorithm Optimization</a:t>
            </a:r>
          </a:p>
        </p:txBody>
      </p:sp>
      <p:sp>
        <p:nvSpPr>
          <p:cNvPr id="2" name="">
            <a:extLst xmlns:a="http://schemas.openxmlformats.org/drawingml/2006/main">
              <a:ext uri="{FF2B5EF4-FFF2-40B4-BE49-F238E27FC236}">
                <a16:creationId xmlns:a16="http://schemas.microsoft.com/office/drawing/2014/main" id="{F52827FC-EE91-4C57-9056-89CDAD5DE043}"/>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B09992CB-C55C-42EB-9B74-246AA67C24BE}"/>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A0BCAB4D-6605-4A0E-948B-65B5167C6A05}"/>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Hypothetical example based on F04 FR-004/008</a:t>
            </a:r>
          </a:p>
        </p:txBody>
      </p:sp>
      <p:sp>
        <p:nvSpPr>
          <p:cNvPr id="5" name="text">
            <a:extLst xmlns:a="http://schemas.openxmlformats.org/drawingml/2006/main">
              <a:ext uri="{FF2B5EF4-FFF2-40B4-BE49-F238E27FC236}">
                <a16:creationId xmlns:a16="http://schemas.microsoft.com/office/drawing/2014/main" id="{EC37831C-4448-4F7A-A79A-3745E70638F3}"/>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26 / 32</a:t>
            </a:r>
          </a:p>
        </p:txBody>
      </p:sp>
      <p:sp>
        <p:nvSpPr>
          <p:cNvPr id="6" name="text">
            <a:extLst xmlns:a="http://schemas.openxmlformats.org/drawingml/2006/main">
              <a:ext uri="{FF2B5EF4-FFF2-40B4-BE49-F238E27FC236}">
                <a16:creationId xmlns:a16="http://schemas.microsoft.com/office/drawing/2014/main" id="{54C9C2FC-920A-478B-95F9-F12AE8DCDAE2}"/>
              </a:ext>
            </a:extLst>
          </p:cNvPr>
          <p:cNvSpPr>
            <a:spLocks xmlns:a="http://schemas.openxmlformats.org/drawingml/2006/main" noGrp="1"/>
          </p:cNvSpPr>
          <p:nvPr/>
        </p:nvSpPr>
        <p:spPr>
          <a:xfrm xmlns:a="http://schemas.openxmlformats.org/drawingml/2006/main">
            <a:off x="762000" y="1790700"/>
            <a:ext cx="167640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specification constrains behavior, but often leaves internal algorithms and helper functions open to implementation choices.</a:t>
            </a:r>
          </a:p>
        </p:txBody>
      </p:sp>
      <p:sp>
        <p:nvSpPr>
          <p:cNvPr id="7" name="text">
            <a:extLst xmlns:a="http://schemas.openxmlformats.org/drawingml/2006/main">
              <a:ext uri="{FF2B5EF4-FFF2-40B4-BE49-F238E27FC236}">
                <a16:creationId xmlns:a16="http://schemas.microsoft.com/office/drawing/2014/main" id="{5263C267-A263-491A-9BB5-A6C3580F9B86}"/>
              </a:ext>
            </a:extLst>
          </p:cNvPr>
          <p:cNvSpPr>
            <a:spLocks xmlns:a="http://schemas.openxmlformats.org/drawingml/2006/main" noGrp="1"/>
          </p:cNvSpPr>
          <p:nvPr/>
        </p:nvSpPr>
        <p:spPr>
          <a:xfrm xmlns:a="http://schemas.openxmlformats.org/drawingml/2006/main">
            <a:off x="762000" y="2959100"/>
            <a:ext cx="746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0070C0"/>
                </a:solidFill>
                <a:latin typeface="Calibri"/>
                <a:ea typeface="Calibri"/>
                <a:cs typeface="Calibri"/>
              </a:defRPr>
            </a:pPr>
            <a:r>
              <a:rPr sz="2800" b="1">
                <a:solidFill>
                  <a:srgbClr val="0070C0"/>
                </a:solidFill>
                <a:latin typeface="Calibri"/>
                <a:ea typeface="Calibri"/>
                <a:cs typeface="Calibri"/>
              </a:rPr>
              <a:t>Where control can become weaker</a:t>
            </a:r>
          </a:p>
        </p:txBody>
      </p:sp>
      <p:sp>
        <p:nvSpPr>
          <p:cNvPr id="8" name="text">
            <a:extLst xmlns:a="http://schemas.openxmlformats.org/drawingml/2006/main">
              <a:ext uri="{FF2B5EF4-FFF2-40B4-BE49-F238E27FC236}">
                <a16:creationId xmlns:a16="http://schemas.microsoft.com/office/drawing/2014/main" id="{0311FCD9-45D5-44C7-8938-E3F2AAF7D56D}"/>
              </a:ext>
            </a:extLst>
          </p:cNvPr>
          <p:cNvSpPr>
            <a:spLocks xmlns:a="http://schemas.openxmlformats.org/drawingml/2006/main" noGrp="1"/>
          </p:cNvSpPr>
          <p:nvPr/>
        </p:nvSpPr>
        <p:spPr>
          <a:xfrm xmlns:a="http://schemas.openxmlformats.org/drawingml/2006/main">
            <a:off x="762000" y="3835400"/>
            <a:ext cx="73533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55600" indent="-254000" algn="l">
              <a:spcAft>
                <a:spcPts val="48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AI may add helpers, change data structures, or reuse intermediate results while attempting an optimization.</a:t>
            </a:r>
          </a:p>
          <a:p xmlns:a="http://schemas.openxmlformats.org/drawingml/2006/main">
            <a:pPr marL="355600" indent="-254000" algn="l">
              <a:spcAft>
                <a:spcPts val="48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New code may introduce assumptions, side effects, or failure paths that have not been reviewed.</a:t>
            </a:r>
          </a:p>
          <a:p xmlns:a="http://schemas.openxmlformats.org/drawingml/2006/main">
            <a:pPr marL="355600" indent="-254000" algn="l">
              <a:spcAft>
                <a:spcPts val="48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Existing functional tests may pass without covering changed state or larger inputs.</a:t>
            </a:r>
          </a:p>
        </p:txBody>
      </p:sp>
      <p:sp>
        <p:nvSpPr>
          <p:cNvPr id="9" name="text">
            <a:extLst xmlns:a="http://schemas.openxmlformats.org/drawingml/2006/main">
              <a:ext uri="{FF2B5EF4-FFF2-40B4-BE49-F238E27FC236}">
                <a16:creationId xmlns:a16="http://schemas.microsoft.com/office/drawing/2014/main" id="{F20CE31C-955C-4154-BBC6-7A495FE5E1CF}"/>
              </a:ext>
            </a:extLst>
          </p:cNvPr>
          <p:cNvSpPr>
            <a:spLocks xmlns:a="http://schemas.openxmlformats.org/drawingml/2006/main" noGrp="1"/>
          </p:cNvSpPr>
          <p:nvPr/>
        </p:nvSpPr>
        <p:spPr>
          <a:xfrm xmlns:a="http://schemas.openxmlformats.org/drawingml/2006/main">
            <a:off x="9017000" y="2959100"/>
            <a:ext cx="850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F47719"/>
                </a:solidFill>
                <a:latin typeface="Calibri"/>
                <a:ea typeface="Calibri"/>
                <a:cs typeface="Calibri"/>
              </a:defRPr>
            </a:pPr>
            <a:r>
              <a:rPr sz="2800" b="1">
                <a:solidFill>
                  <a:srgbClr val="F47719"/>
                </a:solidFill>
                <a:latin typeface="Calibri"/>
                <a:ea typeface="Calibri"/>
                <a:cs typeface="Calibri"/>
              </a:rPr>
              <a:t>Hypothetical F04 example</a:t>
            </a:r>
          </a:p>
        </p:txBody>
      </p:sp>
      <p:sp>
        <p:nvSpPr>
          <p:cNvPr id="10" name="text">
            <a:extLst xmlns:a="http://schemas.openxmlformats.org/drawingml/2006/main">
              <a:ext uri="{FF2B5EF4-FFF2-40B4-BE49-F238E27FC236}">
                <a16:creationId xmlns:a16="http://schemas.microsoft.com/office/drawing/2014/main" id="{4E2DF9B7-7B96-4C02-9CB0-7FA5FE4219BC}"/>
              </a:ext>
            </a:extLst>
          </p:cNvPr>
          <p:cNvSpPr>
            <a:spLocks xmlns:a="http://schemas.openxmlformats.org/drawingml/2006/main" noGrp="1"/>
          </p:cNvSpPr>
          <p:nvPr/>
        </p:nvSpPr>
        <p:spPr>
          <a:xfrm xmlns:a="http://schemas.openxmlformats.org/drawingml/2006/main">
            <a:off x="9029700" y="3975100"/>
            <a:ext cx="50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F47719"/>
                </a:solidFill>
                <a:latin typeface="Calibri"/>
                <a:ea typeface="Calibri"/>
                <a:cs typeface="Calibri"/>
              </a:defRPr>
            </a:pPr>
            <a:r>
              <a:rPr sz="3400" b="1">
                <a:solidFill>
                  <a:srgbClr val="F47719"/>
                </a:solidFill>
                <a:latin typeface="Calibri"/>
                <a:ea typeface="Calibri"/>
                <a:cs typeface="Calibri"/>
              </a:rPr>
              <a:t>1</a:t>
            </a:r>
          </a:p>
        </p:txBody>
      </p:sp>
      <p:sp>
        <p:nvSpPr>
          <p:cNvPr id="11" name="text">
            <a:extLst xmlns:a="http://schemas.openxmlformats.org/drawingml/2006/main">
              <a:ext uri="{FF2B5EF4-FFF2-40B4-BE49-F238E27FC236}">
                <a16:creationId xmlns:a16="http://schemas.microsoft.com/office/drawing/2014/main" id="{A4CB07A6-C8C4-4903-AC72-BAB7EC1BC784}"/>
              </a:ext>
            </a:extLst>
          </p:cNvPr>
          <p:cNvSpPr>
            <a:spLocks xmlns:a="http://schemas.openxmlformats.org/drawingml/2006/main" noGrp="1"/>
          </p:cNvSpPr>
          <p:nvPr/>
        </p:nvSpPr>
        <p:spPr>
          <a:xfrm xmlns:a="http://schemas.openxmlformats.org/drawingml/2006/main">
            <a:off x="9817100" y="3848100"/>
            <a:ext cx="7708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F47719"/>
                </a:solidFill>
                <a:latin typeface="Calibri"/>
                <a:ea typeface="Calibri"/>
                <a:cs typeface="Calibri"/>
              </a:defRPr>
            </a:pPr>
            <a:r>
              <a:rPr sz="2600" b="1">
                <a:solidFill>
                  <a:srgbClr val="F47719"/>
                </a:solidFill>
                <a:latin typeface="Calibri"/>
                <a:ea typeface="Calibri"/>
                <a:cs typeface="Calibri"/>
              </a:rPr>
              <a:t>APPROVED</a:t>
            </a:r>
          </a:p>
        </p:txBody>
      </p:sp>
      <p:sp>
        <p:nvSpPr>
          <p:cNvPr id="12" name="text">
            <a:extLst xmlns:a="http://schemas.openxmlformats.org/drawingml/2006/main">
              <a:ext uri="{FF2B5EF4-FFF2-40B4-BE49-F238E27FC236}">
                <a16:creationId xmlns:a16="http://schemas.microsoft.com/office/drawing/2014/main" id="{7A88D3EC-A116-4274-9AC1-6145E04A8434}"/>
              </a:ext>
            </a:extLst>
          </p:cNvPr>
          <p:cNvSpPr>
            <a:spLocks xmlns:a="http://schemas.openxmlformats.org/drawingml/2006/main" noGrp="1"/>
          </p:cNvSpPr>
          <p:nvPr/>
        </p:nvSpPr>
        <p:spPr>
          <a:xfrm xmlns:a="http://schemas.openxmlformats.org/drawingml/2006/main">
            <a:off x="9817100" y="4394200"/>
            <a:ext cx="77089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helper stores a successful publication-readiness check.</a:t>
            </a:r>
          </a:p>
        </p:txBody>
      </p:sp>
      <p:sp>
        <p:nvSpPr>
          <p:cNvPr id="13" name="">
            <a:extLst xmlns:a="http://schemas.openxmlformats.org/drawingml/2006/main">
              <a:ext uri="{FF2B5EF4-FFF2-40B4-BE49-F238E27FC236}">
                <a16:creationId xmlns:a16="http://schemas.microsoft.com/office/drawing/2014/main" id="{42E3586D-FA61-4C73-937D-6BFAA3E9C73B}"/>
              </a:ext>
            </a:extLst>
          </p:cNvPr>
          <p:cNvSpPr>
            <a:spLocks xmlns:a="http://schemas.openxmlformats.org/drawingml/2006/main" noGrp="1"/>
          </p:cNvSpPr>
          <p:nvPr/>
        </p:nvSpPr>
        <p:spPr>
          <a:xfrm xmlns:a="http://schemas.openxmlformats.org/drawingml/2006/main" flipH="0" flipV="0">
            <a:off x="9271000" y="4597400"/>
            <a:ext cx="0" cy="609600"/>
          </a:xfrm>
          <a:prstGeom xmlns:a="http://schemas.openxmlformats.org/drawingml/2006/main" prst="line">
            <a:avLst/>
          </a:prstGeom>
          <a:noFill xmlns:a="http://schemas.openxmlformats.org/drawingml/2006/main"/>
          <a:ln xmlns:a="http://schemas.openxmlformats.org/drawingml/2006/main" w="19050">
            <a:solidFill>
              <a:srgbClr val="F47719"/>
            </a:solidFill>
          </a:ln>
        </p:spPr>
      </p:sp>
      <p:sp>
        <p:nvSpPr>
          <p:cNvPr id="14" name="text">
            <a:extLst xmlns:a="http://schemas.openxmlformats.org/drawingml/2006/main">
              <a:ext uri="{FF2B5EF4-FFF2-40B4-BE49-F238E27FC236}">
                <a16:creationId xmlns:a16="http://schemas.microsoft.com/office/drawing/2014/main" id="{5D3E5EC7-431C-4EB1-A5E2-423B358E8F25}"/>
              </a:ext>
            </a:extLst>
          </p:cNvPr>
          <p:cNvSpPr>
            <a:spLocks xmlns:a="http://schemas.openxmlformats.org/drawingml/2006/main" noGrp="1"/>
          </p:cNvSpPr>
          <p:nvPr/>
        </p:nvSpPr>
        <p:spPr>
          <a:xfrm xmlns:a="http://schemas.openxmlformats.org/drawingml/2006/main">
            <a:off x="9029700" y="5308600"/>
            <a:ext cx="50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F47719"/>
                </a:solidFill>
                <a:latin typeface="Calibri"/>
                <a:ea typeface="Calibri"/>
                <a:cs typeface="Calibri"/>
              </a:defRPr>
            </a:pPr>
            <a:r>
              <a:rPr sz="3400" b="1">
                <a:solidFill>
                  <a:srgbClr val="F47719"/>
                </a:solidFill>
                <a:latin typeface="Calibri"/>
                <a:ea typeface="Calibri"/>
                <a:cs typeface="Calibri"/>
              </a:rPr>
              <a:t>2</a:t>
            </a:r>
          </a:p>
        </p:txBody>
      </p:sp>
      <p:sp>
        <p:nvSpPr>
          <p:cNvPr id="15" name="text">
            <a:extLst xmlns:a="http://schemas.openxmlformats.org/drawingml/2006/main">
              <a:ext uri="{FF2B5EF4-FFF2-40B4-BE49-F238E27FC236}">
                <a16:creationId xmlns:a16="http://schemas.microsoft.com/office/drawing/2014/main" id="{1016AB48-7163-459B-92A9-EA30B04579F6}"/>
              </a:ext>
            </a:extLst>
          </p:cNvPr>
          <p:cNvSpPr>
            <a:spLocks xmlns:a="http://schemas.openxmlformats.org/drawingml/2006/main" noGrp="1"/>
          </p:cNvSpPr>
          <p:nvPr/>
        </p:nvSpPr>
        <p:spPr>
          <a:xfrm xmlns:a="http://schemas.openxmlformats.org/drawingml/2006/main">
            <a:off x="9817100" y="5181600"/>
            <a:ext cx="7708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F47719"/>
                </a:solidFill>
                <a:latin typeface="Calibri"/>
                <a:ea typeface="Calibri"/>
                <a:cs typeface="Calibri"/>
              </a:defRPr>
            </a:pPr>
            <a:r>
              <a:rPr sz="2600" b="1">
                <a:solidFill>
                  <a:srgbClr val="F47719"/>
                </a:solidFill>
                <a:latin typeface="Calibri"/>
                <a:ea typeface="Calibri"/>
                <a:cs typeface="Calibri"/>
              </a:rPr>
              <a:t>QUARANTINED</a:t>
            </a:r>
          </a:p>
        </p:txBody>
      </p:sp>
      <p:sp>
        <p:nvSpPr>
          <p:cNvPr id="16" name="text">
            <a:extLst xmlns:a="http://schemas.openxmlformats.org/drawingml/2006/main">
              <a:ext uri="{FF2B5EF4-FFF2-40B4-BE49-F238E27FC236}">
                <a16:creationId xmlns:a16="http://schemas.microsoft.com/office/drawing/2014/main" id="{EADE6606-1E0B-4DD0-8050-A63CB621A5EF}"/>
              </a:ext>
            </a:extLst>
          </p:cNvPr>
          <p:cNvSpPr>
            <a:spLocks xmlns:a="http://schemas.openxmlformats.org/drawingml/2006/main" noGrp="1"/>
          </p:cNvSpPr>
          <p:nvPr/>
        </p:nvSpPr>
        <p:spPr>
          <a:xfrm xmlns:a="http://schemas.openxmlformats.org/drawingml/2006/main">
            <a:off x="9817100" y="5727700"/>
            <a:ext cx="77089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referenced media asset later changes state.</a:t>
            </a:r>
          </a:p>
        </p:txBody>
      </p:sp>
      <p:sp>
        <p:nvSpPr>
          <p:cNvPr id="17" name="">
            <a:extLst xmlns:a="http://schemas.openxmlformats.org/drawingml/2006/main">
              <a:ext uri="{FF2B5EF4-FFF2-40B4-BE49-F238E27FC236}">
                <a16:creationId xmlns:a16="http://schemas.microsoft.com/office/drawing/2014/main" id="{1B8A44A9-0877-48DC-99E2-48C05FAB0175}"/>
              </a:ext>
            </a:extLst>
          </p:cNvPr>
          <p:cNvSpPr>
            <a:spLocks xmlns:a="http://schemas.openxmlformats.org/drawingml/2006/main" noGrp="1"/>
          </p:cNvSpPr>
          <p:nvPr/>
        </p:nvSpPr>
        <p:spPr>
          <a:xfrm xmlns:a="http://schemas.openxmlformats.org/drawingml/2006/main" flipH="0" flipV="0">
            <a:off x="9271000" y="5930900"/>
            <a:ext cx="0" cy="609600"/>
          </a:xfrm>
          <a:prstGeom xmlns:a="http://schemas.openxmlformats.org/drawingml/2006/main" prst="line">
            <a:avLst/>
          </a:prstGeom>
          <a:noFill xmlns:a="http://schemas.openxmlformats.org/drawingml/2006/main"/>
          <a:ln xmlns:a="http://schemas.openxmlformats.org/drawingml/2006/main" w="19050">
            <a:solidFill>
              <a:srgbClr val="F47719"/>
            </a:solidFill>
          </a:ln>
        </p:spPr>
      </p:sp>
      <p:sp>
        <p:nvSpPr>
          <p:cNvPr id="18" name="text">
            <a:extLst xmlns:a="http://schemas.openxmlformats.org/drawingml/2006/main">
              <a:ext uri="{FF2B5EF4-FFF2-40B4-BE49-F238E27FC236}">
                <a16:creationId xmlns:a16="http://schemas.microsoft.com/office/drawing/2014/main" id="{57D337F9-8017-4A19-A8A2-B1856251EA82}"/>
              </a:ext>
            </a:extLst>
          </p:cNvPr>
          <p:cNvSpPr>
            <a:spLocks xmlns:a="http://schemas.openxmlformats.org/drawingml/2006/main" noGrp="1"/>
          </p:cNvSpPr>
          <p:nvPr/>
        </p:nvSpPr>
        <p:spPr>
          <a:xfrm xmlns:a="http://schemas.openxmlformats.org/drawingml/2006/main">
            <a:off x="9029700" y="6642100"/>
            <a:ext cx="50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F47719"/>
                </a:solidFill>
                <a:latin typeface="Calibri"/>
                <a:ea typeface="Calibri"/>
                <a:cs typeface="Calibri"/>
              </a:defRPr>
            </a:pPr>
            <a:r>
              <a:rPr sz="3400" b="1">
                <a:solidFill>
                  <a:srgbClr val="F47719"/>
                </a:solidFill>
                <a:latin typeface="Calibri"/>
                <a:ea typeface="Calibri"/>
                <a:cs typeface="Calibri"/>
              </a:rPr>
              <a:t>3</a:t>
            </a:r>
          </a:p>
        </p:txBody>
      </p:sp>
      <p:sp>
        <p:nvSpPr>
          <p:cNvPr id="19" name="text">
            <a:extLst xmlns:a="http://schemas.openxmlformats.org/drawingml/2006/main">
              <a:ext uri="{FF2B5EF4-FFF2-40B4-BE49-F238E27FC236}">
                <a16:creationId xmlns:a16="http://schemas.microsoft.com/office/drawing/2014/main" id="{5E39995F-D2AC-4F0B-8163-11B82510A6D8}"/>
              </a:ext>
            </a:extLst>
          </p:cNvPr>
          <p:cNvSpPr>
            <a:spLocks xmlns:a="http://schemas.openxmlformats.org/drawingml/2006/main" noGrp="1"/>
          </p:cNvSpPr>
          <p:nvPr/>
        </p:nvSpPr>
        <p:spPr>
          <a:xfrm xmlns:a="http://schemas.openxmlformats.org/drawingml/2006/main">
            <a:off x="9817100" y="6515100"/>
            <a:ext cx="7708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1">
                <a:solidFill>
                  <a:srgbClr val="F47719"/>
                </a:solidFill>
                <a:latin typeface="Calibri"/>
                <a:ea typeface="Calibri"/>
                <a:cs typeface="Calibri"/>
              </a:defRPr>
            </a:pPr>
            <a:r>
              <a:rPr sz="2600" b="1">
                <a:solidFill>
                  <a:srgbClr val="F47719"/>
                </a:solidFill>
                <a:latin typeface="Calibri"/>
                <a:ea typeface="Calibri"/>
                <a:cs typeface="Calibri"/>
              </a:rPr>
              <a:t>Old result reused</a:t>
            </a:r>
          </a:p>
        </p:txBody>
      </p:sp>
      <p:sp>
        <p:nvSpPr>
          <p:cNvPr id="20" name="text">
            <a:extLst xmlns:a="http://schemas.openxmlformats.org/drawingml/2006/main">
              <a:ext uri="{FF2B5EF4-FFF2-40B4-BE49-F238E27FC236}">
                <a16:creationId xmlns:a16="http://schemas.microsoft.com/office/drawing/2014/main" id="{E357BF28-2DF3-4BAA-AC79-CB5CE1E8FDD1}"/>
              </a:ext>
            </a:extLst>
          </p:cNvPr>
          <p:cNvSpPr>
            <a:spLocks xmlns:a="http://schemas.openxmlformats.org/drawingml/2006/main" noGrp="1"/>
          </p:cNvSpPr>
          <p:nvPr/>
        </p:nvSpPr>
        <p:spPr>
          <a:xfrm xmlns:a="http://schemas.openxmlformats.org/drawingml/2006/main">
            <a:off x="9817100" y="7061200"/>
            <a:ext cx="77089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Invalid publication could be accepted unless the design</a:t>
            </a:r>
          </a:p>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handles invalidation.</a:t>
            </a:r>
          </a:p>
        </p:txBody>
      </p:sp>
      <p:sp>
        <p:nvSpPr>
          <p:cNvPr id="21" name="text">
            <a:extLst xmlns:a="http://schemas.openxmlformats.org/drawingml/2006/main">
              <a:ext uri="{FF2B5EF4-FFF2-40B4-BE49-F238E27FC236}">
                <a16:creationId xmlns:a16="http://schemas.microsoft.com/office/drawing/2014/main" id="{77E65386-DAD9-466D-A9A7-4440463730FF}"/>
              </a:ext>
            </a:extLst>
          </p:cNvPr>
          <p:cNvSpPr>
            <a:spLocks xmlns:a="http://schemas.openxmlformats.org/drawingml/2006/main" noGrp="1"/>
          </p:cNvSpPr>
          <p:nvPr/>
        </p:nvSpPr>
        <p:spPr>
          <a:xfrm xmlns:a="http://schemas.openxmlformats.org/drawingml/2006/main">
            <a:off x="762000" y="8420100"/>
            <a:ext cx="16764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0070C0"/>
                </a:solidFill>
                <a:latin typeface="Calibri"/>
                <a:ea typeface="Calibri"/>
                <a:cs typeface="Calibri"/>
              </a:defRPr>
            </a:pPr>
            <a:r>
              <a:rPr sz="2300" b="1">
                <a:solidFill>
                  <a:srgbClr val="0070C0"/>
                </a:solidFill>
                <a:latin typeface="Calibri"/>
                <a:ea typeface="Calibri"/>
                <a:cs typeface="Calibri"/>
              </a:rPr>
              <a:t>Key limitation</a:t>
            </a:r>
          </a:p>
        </p:txBody>
      </p:sp>
      <p:sp>
        <p:nvSpPr>
          <p:cNvPr id="22" name="text">
            <a:extLst xmlns:a="http://schemas.openxmlformats.org/drawingml/2006/main">
              <a:ext uri="{FF2B5EF4-FFF2-40B4-BE49-F238E27FC236}">
                <a16:creationId xmlns:a16="http://schemas.microsoft.com/office/drawing/2014/main" id="{8A0902DA-38CA-48DC-98A6-A21579655DE6}"/>
              </a:ext>
            </a:extLst>
          </p:cNvPr>
          <p:cNvSpPr>
            <a:spLocks xmlns:a="http://schemas.openxmlformats.org/drawingml/2006/main" noGrp="1"/>
          </p:cNvSpPr>
          <p:nvPr/>
        </p:nvSpPr>
        <p:spPr>
          <a:xfrm xmlns:a="http://schemas.openxmlformats.org/drawingml/2006/main">
            <a:off x="762000" y="8864600"/>
            <a:ext cx="16764000" cy="411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0">
                <a:solidFill>
                  <a:srgbClr val="111827"/>
                </a:solidFill>
                <a:latin typeface="Calibri"/>
                <a:ea typeface="Calibri"/>
                <a:cs typeface="Calibri"/>
              </a:defRPr>
            </a:pPr>
            <a:r>
              <a:rPr sz="2300" b="0">
                <a:solidFill>
                  <a:srgbClr val="111827"/>
                </a:solidFill>
                <a:latin typeface="Calibri"/>
                <a:ea typeface="Calibri"/>
                <a:cs typeface="Calibri"/>
              </a:rPr>
              <a:t>Passing examples do not prove complete behavioral coverage or improved performance.</a:t>
            </a:r>
          </a:p>
        </p:txBody>
      </p:sp>
      <p:sp>
        <p:nvSpPr>
          <p:cNvPr id="23" name="text">
            <a:extLst xmlns:a="http://schemas.openxmlformats.org/drawingml/2006/main">
              <a:ext uri="{FF2B5EF4-FFF2-40B4-BE49-F238E27FC236}">
                <a16:creationId xmlns:a16="http://schemas.microsoft.com/office/drawing/2014/main" id="{BAC23F7D-53D3-4571-BEAC-8DA936F6666A}"/>
              </a:ext>
            </a:extLst>
          </p:cNvPr>
          <p:cNvSpPr>
            <a:spLocks xmlns:a="http://schemas.openxmlformats.org/drawingml/2006/main" noGrp="1"/>
          </p:cNvSpPr>
          <p:nvPr/>
        </p:nvSpPr>
        <p:spPr>
          <a:xfrm xmlns:a="http://schemas.openxmlformats.org/drawingml/2006/main">
            <a:off x="762000" y="9283700"/>
            <a:ext cx="1676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64748B"/>
                </a:solidFill>
                <a:latin typeface="Calibri"/>
                <a:ea typeface="Calibri"/>
                <a:cs typeface="Calibri"/>
              </a:defRPr>
            </a:pPr>
            <a:r>
              <a:rPr sz="2000" b="0">
                <a:solidFill>
                  <a:srgbClr val="64748B"/>
                </a:solidFill>
                <a:latin typeface="Calibri"/>
                <a:ea typeface="Calibri"/>
                <a:cs typeface="Calibri"/>
              </a:rPr>
              <a:t>Illustrative scenario only. No such optimization defect is claimed as observed in Schinese.</a:t>
            </a:r>
          </a:p>
        </p:txBody>
      </p:sp>
    </p:spTree>
    <p:extLst>
      <p:ext uri="{BB962C8B-B14F-4D97-AF65-F5344CB8AC3E}">
        <p14:creationId xmlns:p14="http://schemas.microsoft.com/office/powerpoint/2010/main" val="190926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F7EDC6C7-8AB4-4F53-A514-0B0AC42BA8DB}"/>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7.2. Review and Verification of Optimization Changes</a:t>
            </a:r>
          </a:p>
        </p:txBody>
      </p:sp>
      <p:sp>
        <p:nvSpPr>
          <p:cNvPr id="2" name="">
            <a:extLst xmlns:a="http://schemas.openxmlformats.org/drawingml/2006/main">
              <a:ext uri="{FF2B5EF4-FFF2-40B4-BE49-F238E27FC236}">
                <a16:creationId xmlns:a16="http://schemas.microsoft.com/office/drawing/2014/main" id="{7524D556-4812-4789-B9BD-B63E7721DDA4}"/>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F8515EE5-9A77-485D-9B5D-3DD62F79083F}"/>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516C290E-3FE5-4BBA-B066-698C827FB4F8}"/>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Proposed review and verification procedure</a:t>
            </a:r>
          </a:p>
        </p:txBody>
      </p:sp>
      <p:sp>
        <p:nvSpPr>
          <p:cNvPr id="5" name="text">
            <a:extLst xmlns:a="http://schemas.openxmlformats.org/drawingml/2006/main">
              <a:ext uri="{FF2B5EF4-FFF2-40B4-BE49-F238E27FC236}">
                <a16:creationId xmlns:a16="http://schemas.microsoft.com/office/drawing/2014/main" id="{B43C8B88-FC0B-42AA-9B34-9B064FEAF863}"/>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27 / 32</a:t>
            </a:r>
          </a:p>
        </p:txBody>
      </p:sp>
      <p:sp>
        <p:nvSpPr>
          <p:cNvPr id="6" name="text">
            <a:extLst xmlns:a="http://schemas.openxmlformats.org/drawingml/2006/main">
              <a:ext uri="{FF2B5EF4-FFF2-40B4-BE49-F238E27FC236}">
                <a16:creationId xmlns:a16="http://schemas.microsoft.com/office/drawing/2014/main" id="{58B0124B-39C4-418A-8650-7D32407AEA8F}"/>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An optimization claim needs both preserved behavior and measured improvement under defined conditions.</a:t>
            </a:r>
          </a:p>
        </p:txBody>
      </p:sp>
      <p:graphicFrame>
        <p:nvGraphicFramePr>
          <p:cNvPr id="16" name=""/>
          <p:cNvGraphicFramePr/>
          <p:nvPr/>
        </p:nvGraphicFramePr>
        <p:xfrm>
          <a:off xmlns:a="http://schemas.openxmlformats.org/drawingml/2006/main" x="762000" y="2473325"/>
          <a:ext xmlns:a="http://schemas.openxmlformats.org/drawingml/2006/main" cx="16764000" cy="4858131"/>
        </p:xfrm>
        <a:graphic xmlns:a="http://schemas.openxmlformats.org/drawingml/2006/main">
          <a:graphicData uri="http://schemas.openxmlformats.org/drawingml/2006/table">
            <a:tbl>
              <a:tblPr firstRow="1" bandRow="0"/>
              <a:tblGrid>
                <a:gridCol w="6202680"/>
                <a:gridCol w="10561320"/>
              </a:tblGrid>
              <a:tr h="749237">
                <a:tc>
                  <a:txBody>
                    <a:bodyPr wrap="square">
                      <a:noAutofit/>
                    </a:bodyPr>
                    <a:lstStyle/>
                    <a:p>
                      <a:r>
                        <a:rPr sz="2400" b="1">
                          <a:solidFill>
                            <a:srgbClr val="111827"/>
                          </a:solidFill>
                          <a:latin typeface="Calibri"/>
                          <a:ea typeface="Calibri"/>
                          <a:cs typeface="Calibri"/>
                        </a:rPr>
                        <a:t>Review question</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Evidence to inspect</a:t>
                      </a:r>
                    </a:p>
                  </a:txBody>
                  <a:tcPr marL="165100" marR="165100" marT="127000" marB="127000" anchor="ctr">
                    <a:solidFill>
                      <a:srgbClr val="D8EDF4"/>
                    </a:solidFill>
                  </a:tcPr>
                </a:tc>
              </a:tr>
              <a:tr h="749237">
                <a:tc>
                  <a:txBody>
                    <a:bodyPr wrap="square">
                      <a:noAutofit/>
                    </a:bodyPr>
                    <a:lstStyle/>
                    <a:p>
                      <a:r>
                        <a:rPr sz="2400" b="0">
                          <a:solidFill>
                            <a:srgbClr val="111827"/>
                          </a:solidFill>
                          <a:latin typeface="Calibri"/>
                          <a:ea typeface="Calibri"/>
                          <a:cs typeface="Calibri"/>
                        </a:rPr>
                        <a:t>What problem does the new function solve?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Linked task, callers, and the source diff</a:t>
                      </a:r>
                    </a:p>
                  </a:txBody>
                  <a:tcPr marL="165100" marR="165100" marT="127000" marB="127000" anchor="ctr">
                    <a:solidFill>
                      <a:srgbClr val="FFFFFF"/>
                    </a:solidFill>
                  </a:tcPr>
                </a:tc>
              </a:tr>
              <a:tr h="1111948">
                <a:tc>
                  <a:txBody>
                    <a:bodyPr wrap="square">
                      <a:noAutofit/>
                    </a:bodyPr>
                    <a:lstStyle/>
                    <a:p>
                      <a:r>
                        <a:rPr sz="2400" b="0">
                          <a:solidFill>
                            <a:srgbClr val="111827"/>
                          </a:solidFill>
                          <a:latin typeface="Calibri"/>
                          <a:ea typeface="Calibri"/>
                          <a:cs typeface="Calibri"/>
                        </a:rPr>
                        <a:t>What assumptions or side effects does it introduce?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Inputs, outputs, state changes, and error paths</a:t>
                      </a:r>
                    </a:p>
                  </a:txBody>
                  <a:tcPr marL="165100" marR="165100" marT="127000" marB="127000" anchor="ctr">
                    <a:solidFill>
                      <a:srgbClr val="F3F8FB"/>
                    </a:solidFill>
                  </a:tcPr>
                </a:tc>
              </a:tr>
              <a:tr h="749237">
                <a:tc>
                  <a:txBody>
                    <a:bodyPr wrap="square">
                      <a:noAutofit/>
                    </a:bodyPr>
                    <a:lstStyle/>
                    <a:p>
                      <a:r>
                        <a:rPr sz="2400" b="0">
                          <a:solidFill>
                            <a:srgbClr val="111827"/>
                          </a:solidFill>
                          <a:latin typeface="Calibri"/>
                          <a:ea typeface="Calibri"/>
                          <a:cs typeface="Calibri"/>
                        </a:rPr>
                        <a:t>Which rules must remain true?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Ownership, publication conditions, quota, and retry invariants</a:t>
                      </a:r>
                    </a:p>
                  </a:txBody>
                  <a:tcPr marL="165100" marR="165100" marT="127000" marB="127000" anchor="ctr">
                    <a:solidFill>
                      <a:srgbClr val="FFFFFF"/>
                    </a:solidFill>
                  </a:tcPr>
                </a:tc>
              </a:tr>
              <a:tr h="749237">
                <a:tc>
                  <a:txBody>
                    <a:bodyPr wrap="square">
                      <a:noAutofit/>
                    </a:bodyPr>
                    <a:lstStyle/>
                    <a:p>
                      <a:r>
                        <a:rPr sz="2400" b="0">
                          <a:solidFill>
                            <a:srgbClr val="111827"/>
                          </a:solidFill>
                          <a:latin typeface="Calibri"/>
                          <a:ea typeface="Calibri"/>
                          <a:cs typeface="Calibri"/>
                        </a:rPr>
                        <a:t>What happens as input size increases?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Complexity analysis and representative workloads</a:t>
                      </a:r>
                    </a:p>
                  </a:txBody>
                  <a:tcPr marL="165100" marR="165100" marT="127000" marB="127000" anchor="ctr">
                    <a:solidFill>
                      <a:srgbClr val="F3F8FB"/>
                    </a:solidFill>
                  </a:tcPr>
                </a:tc>
              </a:tr>
              <a:tr h="749237">
                <a:tc>
                  <a:txBody>
                    <a:bodyPr wrap="square">
                      <a:noAutofit/>
                    </a:bodyPr>
                    <a:lstStyle/>
                    <a:p>
                      <a:r>
                        <a:rPr sz="2400" b="0">
                          <a:solidFill>
                            <a:srgbClr val="111827"/>
                          </a:solidFill>
                          <a:latin typeface="Calibri"/>
                          <a:ea typeface="Calibri"/>
                          <a:cs typeface="Calibri"/>
                        </a:rPr>
                        <a:t>Is the change actually faster or cheaper?</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Before/after measurements in the same environment</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B1208F0B-AACC-40F0-B1E6-10903D3EFBC4}"/>
              </a:ext>
            </a:extLst>
          </p:cNvPr>
          <p:cNvSpPr>
            <a:spLocks xmlns:a="http://schemas.openxmlformats.org/drawingml/2006/main" noGrp="1"/>
          </p:cNvSpPr>
          <p:nvPr/>
        </p:nvSpPr>
        <p:spPr>
          <a:xfrm xmlns:a="http://schemas.openxmlformats.org/drawingml/2006/main">
            <a:off x="762000" y="7560056"/>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Acceptance rule</a:t>
            </a:r>
            <a:r>
              <a:rPr b="0">
                <a:latin typeface="Calibri"/>
                <a:ea typeface="Calibri"/>
                <a:cs typeface="Calibri"/>
              </a:rPr>
              <a:t>  
Preserve required behavior, review significant algorithm decisions, and measure the intended improvement.</a:t>
            </a:r>
          </a:p>
        </p:txBody>
      </p:sp>
      <p:sp>
        <p:nvSpPr>
          <p:cNvPr id="9" name="text">
            <a:extLst xmlns:a="http://schemas.openxmlformats.org/drawingml/2006/main">
              <a:ext uri="{FF2B5EF4-FFF2-40B4-BE49-F238E27FC236}">
                <a16:creationId xmlns:a16="http://schemas.microsoft.com/office/drawing/2014/main" id="{E1341C2D-B8AC-4ED6-8998-DE50B7307213}"/>
              </a:ext>
            </a:extLst>
          </p:cNvPr>
          <p:cNvSpPr>
            <a:spLocks xmlns:a="http://schemas.openxmlformats.org/drawingml/2006/main" noGrp="1"/>
          </p:cNvSpPr>
          <p:nvPr/>
        </p:nvSpPr>
        <p:spPr>
          <a:xfrm xmlns:a="http://schemas.openxmlformats.org/drawingml/2006/main">
            <a:off x="762000" y="8415528"/>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Remaining limit</a:t>
            </a:r>
            <a:r>
              <a:rPr b="0">
                <a:latin typeface="Calibri"/>
                <a:ea typeface="Calibri"/>
                <a:cs typeface="Calibri"/>
              </a:rPr>
              <a:t>  
Tests and benchmarks cover defined cases and workloads. They do not establish correctness for every possible situation.</a:t>
            </a:r>
          </a:p>
        </p:txBody>
      </p:sp>
    </p:spTree>
    <p:extLst>
      <p:ext uri="{BB962C8B-B14F-4D97-AF65-F5344CB8AC3E}">
        <p14:creationId xmlns:p14="http://schemas.microsoft.com/office/powerpoint/2010/main" val="203277629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D1BEA024-AC95-4FEE-9FC1-F69AAD5B4BC0}"/>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8.1. Measuring Specification Control</a:t>
            </a:r>
          </a:p>
        </p:txBody>
      </p:sp>
      <p:sp>
        <p:nvSpPr>
          <p:cNvPr id="2" name="">
            <a:extLst xmlns:a="http://schemas.openxmlformats.org/drawingml/2006/main">
              <a:ext uri="{FF2B5EF4-FFF2-40B4-BE49-F238E27FC236}">
                <a16:creationId xmlns:a16="http://schemas.microsoft.com/office/drawing/2014/main" id="{7624D4C2-9BD7-4A5A-AA71-EBB187B16ECD}"/>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849385B5-3AD7-4AAB-BCC8-E978340FCA4F}"/>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5CA94ADA-80C0-4E0B-BA03-42BEF4BCCB32}"/>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Proposed framework; F04 spec, tasks and quickstart</a:t>
            </a:r>
          </a:p>
        </p:txBody>
      </p:sp>
      <p:sp>
        <p:nvSpPr>
          <p:cNvPr id="5" name="text">
            <a:extLst xmlns:a="http://schemas.openxmlformats.org/drawingml/2006/main">
              <a:ext uri="{FF2B5EF4-FFF2-40B4-BE49-F238E27FC236}">
                <a16:creationId xmlns:a16="http://schemas.microsoft.com/office/drawing/2014/main" id="{8CC67FE6-D8BF-40B9-83D5-88BB351F3775}"/>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28 / 32</a:t>
            </a:r>
          </a:p>
        </p:txBody>
      </p:sp>
      <p:sp>
        <p:nvSpPr>
          <p:cNvPr id="6" name="text">
            <a:extLst xmlns:a="http://schemas.openxmlformats.org/drawingml/2006/main">
              <a:ext uri="{FF2B5EF4-FFF2-40B4-BE49-F238E27FC236}">
                <a16:creationId xmlns:a16="http://schemas.microsoft.com/office/drawing/2014/main" id="{0D7A251A-A6A1-4B8D-9A12-4050CC4B718A}"/>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Measurements should identify the scope, version, denominator, and unverified cases.</a:t>
            </a:r>
          </a:p>
        </p:txBody>
      </p:sp>
      <p:graphicFrame>
        <p:nvGraphicFramePr>
          <p:cNvPr id="18" name=""/>
          <p:cNvGraphicFramePr/>
          <p:nvPr/>
        </p:nvGraphicFramePr>
        <p:xfrm>
          <a:off xmlns:a="http://schemas.openxmlformats.org/drawingml/2006/main" x="762000" y="2473325"/>
          <a:ext xmlns:a="http://schemas.openxmlformats.org/drawingml/2006/main" cx="16764000" cy="3812159"/>
        </p:xfrm>
        <a:graphic xmlns:a="http://schemas.openxmlformats.org/drawingml/2006/main">
          <a:graphicData uri="http://schemas.openxmlformats.org/drawingml/2006/table">
            <a:tbl>
              <a:tblPr firstRow="1" bandRow="0"/>
              <a:tblGrid>
                <a:gridCol w="4693920"/>
                <a:gridCol w="12070080"/>
              </a:tblGrid>
              <a:tr h="762432">
                <a:tc>
                  <a:txBody>
                    <a:bodyPr wrap="square">
                      <a:noAutofit/>
                    </a:bodyPr>
                    <a:lstStyle/>
                    <a:p>
                      <a:r>
                        <a:rPr sz="2400" b="1">
                          <a:solidFill>
                            <a:srgbClr val="111827"/>
                          </a:solidFill>
                          <a:latin typeface="Calibri"/>
                          <a:ea typeface="Calibri"/>
                          <a:cs typeface="Calibri"/>
                        </a:rPr>
                        <a:t>Proposed measure</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Definition</a:t>
                      </a:r>
                    </a:p>
                  </a:txBody>
                  <a:tcPr marL="165100" marR="165100" marT="127000" marB="127000" anchor="ctr">
                    <a:solidFill>
                      <a:srgbClr val="D8EDF4"/>
                    </a:solidFill>
                  </a:tcPr>
                </a:tc>
              </a:tr>
              <a:tr h="762432">
                <a:tc>
                  <a:txBody>
                    <a:bodyPr wrap="square">
                      <a:noAutofit/>
                    </a:bodyPr>
                    <a:lstStyle/>
                    <a:p>
                      <a:r>
                        <a:rPr sz="2400" b="0">
                          <a:solidFill>
                            <a:srgbClr val="111827"/>
                          </a:solidFill>
                          <a:latin typeface="Calibri"/>
                          <a:ea typeface="Calibri"/>
                          <a:cs typeface="Calibri"/>
                        </a:rPr>
                        <a:t>Traceability coverage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In-scope requirements linked to implementation and verification / all in-scope requirements</a:t>
                      </a:r>
                    </a:p>
                  </a:txBody>
                  <a:tcPr marL="165100" marR="165100" marT="127000" marB="127000" anchor="ctr">
                    <a:solidFill>
                      <a:srgbClr val="FFFFFF"/>
                    </a:solidFill>
                  </a:tcPr>
                </a:tc>
              </a:tr>
              <a:tr h="762432">
                <a:tc>
                  <a:txBody>
                    <a:bodyPr wrap="square">
                      <a:noAutofit/>
                    </a:bodyPr>
                    <a:lstStyle/>
                    <a:p>
                      <a:r>
                        <a:rPr sz="2400" b="0">
                          <a:solidFill>
                            <a:srgbClr val="111827"/>
                          </a:solidFill>
                          <a:latin typeface="Calibri"/>
                          <a:ea typeface="Calibri"/>
                          <a:cs typeface="Calibri"/>
                        </a:rPr>
                        <a:t>Acceptance completion</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Passed acceptance scenarios / all scenarios in the agreed baseline</a:t>
                      </a:r>
                    </a:p>
                  </a:txBody>
                  <a:tcPr marL="165100" marR="165100" marT="127000" marB="127000" anchor="ctr">
                    <a:solidFill>
                      <a:srgbClr val="F3F8FB"/>
                    </a:solidFill>
                  </a:tcPr>
                </a:tc>
              </a:tr>
              <a:tr h="762432">
                <a:tc>
                  <a:txBody>
                    <a:bodyPr wrap="square">
                      <a:noAutofit/>
                    </a:bodyPr>
                    <a:lstStyle/>
                    <a:p>
                      <a:r>
                        <a:rPr sz="2400" b="0">
                          <a:solidFill>
                            <a:srgbClr val="111827"/>
                          </a:solidFill>
                          <a:latin typeface="Calibri"/>
                          <a:ea typeface="Calibri"/>
                          <a:cs typeface="Calibri"/>
                        </a:rPr>
                        <a:t>Unresolved critical gaps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Open high-risk issues, their owners, and time remaining unresolved</a:t>
                      </a:r>
                    </a:p>
                  </a:txBody>
                  <a:tcPr marL="165100" marR="165100" marT="127000" marB="127000" anchor="ctr">
                    <a:solidFill>
                      <a:srgbClr val="FFFFFF"/>
                    </a:solidFill>
                  </a:tcPr>
                </a:tc>
              </a:tr>
              <a:tr h="762432">
                <a:tc>
                  <a:txBody>
                    <a:bodyPr wrap="square">
                      <a:noAutofit/>
                    </a:bodyPr>
                    <a:lstStyle/>
                    <a:p>
                      <a:r>
                        <a:rPr sz="2400" b="0">
                          <a:solidFill>
                            <a:srgbClr val="111827"/>
                          </a:solidFill>
                          <a:latin typeface="Calibri"/>
                          <a:ea typeface="Calibri"/>
                          <a:cs typeface="Calibri"/>
                        </a:rPr>
                        <a:t>Change consistency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Reviewed changes with all affected artifacts updated / reviewed changes sampled</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CD0F940C-3E62-463D-9EDD-50A708257C65}"/>
              </a:ext>
            </a:extLst>
          </p:cNvPr>
          <p:cNvSpPr>
            <a:spLocks xmlns:a="http://schemas.openxmlformats.org/drawingml/2006/main" noGrp="1"/>
          </p:cNvSpPr>
          <p:nvPr/>
        </p:nvSpPr>
        <p:spPr>
          <a:xfrm xmlns:a="http://schemas.openxmlformats.org/drawingml/2006/main">
            <a:off x="762000" y="651408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Record each check as:</a:t>
            </a:r>
            <a:r>
              <a:rPr b="0">
                <a:latin typeface="Calibri"/>
                <a:ea typeface="Calibri"/>
                <a:cs typeface="Calibri"/>
              </a:rPr>
              <a:t> Passed, Failed, Skipped, or Not Run.</a:t>
            </a:r>
          </a:p>
        </p:txBody>
      </p:sp>
      <p:sp>
        <p:nvSpPr>
          <p:cNvPr id="9" name="text">
            <a:extLst xmlns:a="http://schemas.openxmlformats.org/drawingml/2006/main">
              <a:ext uri="{FF2B5EF4-FFF2-40B4-BE49-F238E27FC236}">
                <a16:creationId xmlns:a16="http://schemas.microsoft.com/office/drawing/2014/main" id="{A318114B-D80E-4830-9629-5495082CA0A8}"/>
              </a:ext>
            </a:extLst>
          </p:cNvPr>
          <p:cNvSpPr>
            <a:spLocks xmlns:a="http://schemas.openxmlformats.org/drawingml/2006/main" noGrp="1"/>
          </p:cNvSpPr>
          <p:nvPr/>
        </p:nvSpPr>
        <p:spPr>
          <a:xfrm xmlns:a="http://schemas.openxmlformats.org/drawingml/2006/main">
            <a:off x="762000" y="7037070"/>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F04 example</a:t>
            </a:r>
            <a:r>
              <a:rPr b="0">
                <a:latin typeface="Calibri"/>
                <a:ea typeface="Calibri"/>
                <a:cs typeface="Calibri"/>
              </a:rPr>
              <a:t>  
Map each publication condition to code and a scenario. Record missing checks explicitly.</a:t>
            </a:r>
          </a:p>
        </p:txBody>
      </p:sp>
      <p:sp>
        <p:nvSpPr>
          <p:cNvPr id="10" name="text">
            <a:extLst xmlns:a="http://schemas.openxmlformats.org/drawingml/2006/main">
              <a:ext uri="{FF2B5EF4-FFF2-40B4-BE49-F238E27FC236}">
                <a16:creationId xmlns:a16="http://schemas.microsoft.com/office/drawing/2014/main" id="{53E894BD-50C7-4644-ABAC-7412FF3B2624}"/>
              </a:ext>
            </a:extLst>
          </p:cNvPr>
          <p:cNvSpPr>
            <a:spLocks xmlns:a="http://schemas.openxmlformats.org/drawingml/2006/main" noGrp="1"/>
          </p:cNvSpPr>
          <p:nvPr/>
        </p:nvSpPr>
        <p:spPr>
          <a:xfrm xmlns:a="http://schemas.openxmlformats.org/drawingml/2006/main">
            <a:off x="762000" y="7892542"/>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Decision rule</a:t>
            </a:r>
            <a:r>
              <a:rPr b="0">
                <a:latin typeface="Calibri"/>
                <a:ea typeface="Calibri"/>
                <a:cs typeface="Calibri"/>
              </a:rPr>
              <a:t>  
An unresolved ownership or data-integrity defect can block acceptance even when the overall pass rate is high.</a:t>
            </a:r>
          </a:p>
        </p:txBody>
      </p:sp>
      <p:sp>
        <p:nvSpPr>
          <p:cNvPr id="11" name="text">
            <a:extLst xmlns:a="http://schemas.openxmlformats.org/drawingml/2006/main">
              <a:ext uri="{FF2B5EF4-FFF2-40B4-BE49-F238E27FC236}">
                <a16:creationId xmlns:a16="http://schemas.microsoft.com/office/drawing/2014/main" id="{575D3DD6-3A36-4D86-AC6D-DB07090385F6}"/>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These are proposed measures. No project-wide percentages have been established.</a:t>
            </a:r>
          </a:p>
        </p:txBody>
      </p:sp>
    </p:spTree>
    <p:extLst>
      <p:ext uri="{BB962C8B-B14F-4D97-AF65-F5344CB8AC3E}">
        <p14:creationId xmlns:p14="http://schemas.microsoft.com/office/powerpoint/2010/main" val="15245952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7D77E5B8-3B94-4593-9D4C-B0454DC69B96}"/>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8.2. Defining Project Quality</a:t>
            </a:r>
          </a:p>
        </p:txBody>
      </p:sp>
      <p:sp>
        <p:nvSpPr>
          <p:cNvPr id="2" name="">
            <a:extLst xmlns:a="http://schemas.openxmlformats.org/drawingml/2006/main">
              <a:ext uri="{FF2B5EF4-FFF2-40B4-BE49-F238E27FC236}">
                <a16:creationId xmlns:a16="http://schemas.microsoft.com/office/drawing/2014/main" id="{F3576ED2-B996-4A1C-AEB3-3A7BCF681EE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C4642742-DFD4-44EA-B93D-B7632D64411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A332BF56-691E-4AF1-A637-9B4F10F27EAD}"/>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MVP feature map; F06 spec; F11 spec</a:t>
            </a:r>
          </a:p>
        </p:txBody>
      </p:sp>
      <p:sp>
        <p:nvSpPr>
          <p:cNvPr id="5" name="text">
            <a:extLst xmlns:a="http://schemas.openxmlformats.org/drawingml/2006/main">
              <a:ext uri="{FF2B5EF4-FFF2-40B4-BE49-F238E27FC236}">
                <a16:creationId xmlns:a16="http://schemas.microsoft.com/office/drawing/2014/main" id="{04D6BC3C-F49C-456C-89F3-E54A960F38A9}"/>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29 / 32</a:t>
            </a:r>
          </a:p>
        </p:txBody>
      </p:sp>
      <p:sp>
        <p:nvSpPr>
          <p:cNvPr id="6" name="text">
            <a:extLst xmlns:a="http://schemas.openxmlformats.org/drawingml/2006/main">
              <a:ext uri="{FF2B5EF4-FFF2-40B4-BE49-F238E27FC236}">
                <a16:creationId xmlns:a16="http://schemas.microsoft.com/office/drawing/2014/main" id="{9EA08772-BAC9-40E9-ACED-698AE07B3172}"/>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 good Schinese release should support useful learning journeys while preserving access rules and data integrity.</a:t>
            </a:r>
          </a:p>
        </p:txBody>
      </p:sp>
      <p:graphicFrame>
        <p:nvGraphicFramePr>
          <p:cNvPr id="15" name=""/>
          <p:cNvGraphicFramePr/>
          <p:nvPr/>
        </p:nvGraphicFramePr>
        <p:xfrm>
          <a:off xmlns:a="http://schemas.openxmlformats.org/drawingml/2006/main" x="762000" y="2473325"/>
          <a:ext xmlns:a="http://schemas.openxmlformats.org/drawingml/2006/main" cx="16764000" cy="5713603"/>
        </p:xfrm>
        <a:graphic xmlns:a="http://schemas.openxmlformats.org/drawingml/2006/main">
          <a:graphicData uri="http://schemas.openxmlformats.org/drawingml/2006/table">
            <a:tbl>
              <a:tblPr firstRow="1" bandRow="0"/>
              <a:tblGrid>
                <a:gridCol w="3688080"/>
                <a:gridCol w="7543800"/>
                <a:gridCol w="5532120"/>
              </a:tblGrid>
              <a:tr h="770911">
                <a:tc>
                  <a:txBody>
                    <a:bodyPr wrap="square">
                      <a:noAutofit/>
                    </a:bodyPr>
                    <a:lstStyle/>
                    <a:p>
                      <a:r>
                        <a:rPr sz="2400" b="1">
                          <a:solidFill>
                            <a:srgbClr val="111827"/>
                          </a:solidFill>
                          <a:latin typeface="Calibri"/>
                          <a:ea typeface="Calibri"/>
                          <a:cs typeface="Calibri"/>
                        </a:rPr>
                        <a:t>Quality goal</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Schinese outcome</a:t>
                      </a:r>
                    </a:p>
                  </a:txBody>
                  <a:tcPr marL="165100" marR="165100" marT="127000" marB="127000" anchor="ctr">
                    <a:solidFill>
                      <a:srgbClr val="D8EDF4"/>
                    </a:solidFill>
                  </a:tcPr>
                </a:tc>
                <a:tc>
                  <a:txBody>
                    <a:bodyPr wrap="square">
                      <a:noAutofit/>
                    </a:bodyPr>
                    <a:lstStyle/>
                    <a:p>
                      <a:r>
                        <a:rPr sz="2400" b="1">
                          <a:solidFill>
                            <a:srgbClr val="111827"/>
                          </a:solidFill>
                          <a:latin typeface="Calibri"/>
                          <a:ea typeface="Calibri"/>
                          <a:cs typeface="Calibri"/>
                        </a:rPr>
                        <a:t>Evaluation method</a:t>
                      </a:r>
                    </a:p>
                  </a:txBody>
                  <a:tcPr marL="165100" marR="165100" marT="127000" marB="127000" anchor="ctr">
                    <a:solidFill>
                      <a:srgbClr val="D8EDF4"/>
                    </a:solidFill>
                  </a:tcPr>
                </a:tc>
              </a:tr>
              <a:tr h="1133623">
                <a:tc>
                  <a:txBody>
                    <a:bodyPr wrap="square">
                      <a:noAutofit/>
                    </a:bodyPr>
                    <a:lstStyle/>
                    <a:p>
                      <a:r>
                        <a:rPr sz="2400" b="0">
                          <a:solidFill>
                            <a:srgbClr val="111827"/>
                          </a:solidFill>
                          <a:latin typeface="Calibri"/>
                          <a:ea typeface="Calibri"/>
                          <a:cs typeface="Calibri"/>
                        </a:rPr>
                        <a:t>Functional correctness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Learners access eligible lessons and resume their own progress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Acceptance and E2E scenarios</a:t>
                      </a:r>
                    </a:p>
                  </a:txBody>
                  <a:tcPr marL="165100" marR="165100" marT="127000" marB="127000" anchor="ctr">
                    <a:solidFill>
                      <a:srgbClr val="FFFFFF"/>
                    </a:solidFill>
                  </a:tcPr>
                </a:tc>
              </a:tr>
              <a:tr h="1133623">
                <a:tc>
                  <a:txBody>
                    <a:bodyPr wrap="square">
                      <a:noAutofit/>
                    </a:bodyPr>
                    <a:lstStyle/>
                    <a:p>
                      <a:r>
                        <a:rPr sz="2400" b="0">
                          <a:solidFill>
                            <a:srgbClr val="111827"/>
                          </a:solidFill>
                          <a:latin typeface="Calibri"/>
                          <a:ea typeface="Calibri"/>
                          <a:cs typeface="Calibri"/>
                        </a:rPr>
                        <a:t>Reliability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Retries and failures do not duplicate allowance use or corrupt state</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Integration and fault scenarios</a:t>
                      </a:r>
                    </a:p>
                  </a:txBody>
                  <a:tcPr marL="165100" marR="165100" marT="127000" marB="127000" anchor="ctr">
                    <a:solidFill>
                      <a:srgbClr val="F3F8FB"/>
                    </a:solidFill>
                  </a:tcPr>
                </a:tc>
              </a:tr>
              <a:tr h="770911">
                <a:tc>
                  <a:txBody>
                    <a:bodyPr wrap="square">
                      <a:noAutofit/>
                    </a:bodyPr>
                    <a:lstStyle/>
                    <a:p>
                      <a:r>
                        <a:rPr sz="2400" b="0">
                          <a:solidFill>
                            <a:srgbClr val="111827"/>
                          </a:solidFill>
                          <a:latin typeface="Calibri"/>
                          <a:ea typeface="Calibri"/>
                          <a:cs typeface="Calibri"/>
                        </a:rPr>
                        <a:t>Privacy and access</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Private conversations remain restricted to their owner</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Authorization and isolation tests</a:t>
                      </a:r>
                    </a:p>
                  </a:txBody>
                  <a:tcPr marL="165100" marR="165100" marT="127000" marB="127000" anchor="ctr">
                    <a:solidFill>
                      <a:srgbClr val="FFFFFF"/>
                    </a:solidFill>
                  </a:tcPr>
                </a:tc>
              </a:tr>
              <a:tr h="1133623">
                <a:tc>
                  <a:txBody>
                    <a:bodyPr wrap="square">
                      <a:noAutofit/>
                    </a:bodyPr>
                    <a:lstStyle/>
                    <a:p>
                      <a:r>
                        <a:rPr sz="2400" b="0">
                          <a:solidFill>
                            <a:srgbClr val="111827"/>
                          </a:solidFill>
                          <a:latin typeface="Calibri"/>
                          <a:ea typeface="Calibri"/>
                          <a:cs typeface="Calibri"/>
                        </a:rPr>
                        <a:t>Maintainability</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A changed rule has an identifiable impact on code and contracts</a:t>
                      </a:r>
                    </a:p>
                  </a:txBody>
                  <a:tcPr marL="165100" marR="165100" marT="127000" marB="127000" anchor="ctr">
                    <a:solidFill>
                      <a:srgbClr val="F3F8FB"/>
                    </a:solidFill>
                  </a:tcPr>
                </a:tc>
                <a:tc>
                  <a:txBody>
                    <a:bodyPr wrap="square">
                      <a:noAutofit/>
                    </a:bodyPr>
                    <a:lstStyle/>
                    <a:p>
                      <a:r>
                        <a:rPr sz="2400" b="0">
                          <a:solidFill>
                            <a:srgbClr val="111827"/>
                          </a:solidFill>
                          <a:latin typeface="Calibri"/>
                          <a:ea typeface="Calibri"/>
                          <a:cs typeface="Calibri"/>
                        </a:rPr>
                        <a:t>Review and traceability checks</a:t>
                      </a:r>
                    </a:p>
                  </a:txBody>
                  <a:tcPr marL="165100" marR="165100" marT="127000" marB="127000" anchor="ctr">
                    <a:solidFill>
                      <a:srgbClr val="F3F8FB"/>
                    </a:solidFill>
                  </a:tcPr>
                </a:tc>
              </a:tr>
              <a:tr h="770911">
                <a:tc>
                  <a:txBody>
                    <a:bodyPr wrap="square">
                      <a:noAutofit/>
                    </a:bodyPr>
                    <a:lstStyle/>
                    <a:p>
                      <a:r>
                        <a:rPr sz="2400" b="0">
                          <a:solidFill>
                            <a:srgbClr val="111827"/>
                          </a:solidFill>
                          <a:latin typeface="Calibri"/>
                          <a:ea typeface="Calibri"/>
                          <a:cs typeface="Calibri"/>
                        </a:rPr>
                        <a:t>Learning value</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AI explanations are accurate, understandable, and useful</a:t>
                      </a:r>
                    </a:p>
                  </a:txBody>
                  <a:tcPr marL="165100" marR="165100" marT="127000" marB="127000" anchor="ctr">
                    <a:solidFill>
                      <a:srgbClr val="FFFFFF"/>
                    </a:solidFill>
                  </a:tcPr>
                </a:tc>
                <a:tc>
                  <a:txBody>
                    <a:bodyPr wrap="square">
                      <a:noAutofit/>
                    </a:bodyPr>
                    <a:lstStyle/>
                    <a:p>
                      <a:r>
                        <a:rPr sz="2400" b="0">
                          <a:solidFill>
                            <a:srgbClr val="111827"/>
                          </a:solidFill>
                          <a:latin typeface="Calibri"/>
                          <a:ea typeface="Calibri"/>
                          <a:cs typeface="Calibri"/>
                        </a:rPr>
                        <a:t>Domain review and learner evaluation</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AD4E04F9-A501-4A16-99A7-AF6DC351FE58}"/>
              </a:ext>
            </a:extLst>
          </p:cNvPr>
          <p:cNvSpPr>
            <a:spLocks xmlns:a="http://schemas.openxmlformats.org/drawingml/2006/main" noGrp="1"/>
          </p:cNvSpPr>
          <p:nvPr/>
        </p:nvSpPr>
        <p:spPr>
          <a:xfrm xmlns:a="http://schemas.openxmlformats.org/drawingml/2006/main">
            <a:off x="762000" y="8415528"/>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Evidence boundary</a:t>
            </a:r>
            <a:r>
              <a:rPr b="0">
                <a:latin typeface="Calibri"/>
                <a:ea typeface="Calibri"/>
                <a:cs typeface="Calibri"/>
              </a:rPr>
              <a:t>  
Selected unit tests support defined behaviors. Learning effectiveness and production reliability require additional studies and measurements.</a:t>
            </a:r>
          </a:p>
        </p:txBody>
      </p:sp>
    </p:spTree>
    <p:extLst>
      <p:ext uri="{BB962C8B-B14F-4D97-AF65-F5344CB8AC3E}">
        <p14:creationId xmlns:p14="http://schemas.microsoft.com/office/powerpoint/2010/main" val="123463086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45CD4100-DAA2-4FC9-BA7A-99413467116D}"/>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8.3. Experimental Validation</a:t>
            </a:r>
          </a:p>
        </p:txBody>
      </p:sp>
      <p:sp>
        <p:nvSpPr>
          <p:cNvPr id="2" name="">
            <a:extLst xmlns:a="http://schemas.openxmlformats.org/drawingml/2006/main">
              <a:ext uri="{FF2B5EF4-FFF2-40B4-BE49-F238E27FC236}">
                <a16:creationId xmlns:a16="http://schemas.microsoft.com/office/drawing/2014/main" id="{6C1A5A27-9659-42D2-9B7A-73CA618EA48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4CA089FA-B96F-4A84-8A79-7A17DDF9EB97}"/>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650A7D9-D06D-48C8-B0BF-0FB113C62D1C}"/>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Proposed experiment; Playbook §5.4, §8.5</a:t>
            </a:r>
          </a:p>
        </p:txBody>
      </p:sp>
      <p:sp>
        <p:nvSpPr>
          <p:cNvPr id="5" name="text">
            <a:extLst xmlns:a="http://schemas.openxmlformats.org/drawingml/2006/main">
              <a:ext uri="{FF2B5EF4-FFF2-40B4-BE49-F238E27FC236}">
                <a16:creationId xmlns:a16="http://schemas.microsoft.com/office/drawing/2014/main" id="{68BE78D5-E619-488A-9688-6CDF84D4591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30 / 32</a:t>
            </a:r>
          </a:p>
        </p:txBody>
      </p:sp>
      <p:sp>
        <p:nvSpPr>
          <p:cNvPr id="6" name="text">
            <a:extLst xmlns:a="http://schemas.openxmlformats.org/drawingml/2006/main">
              <a:ext uri="{FF2B5EF4-FFF2-40B4-BE49-F238E27FC236}">
                <a16:creationId xmlns:a16="http://schemas.microsoft.com/office/drawing/2014/main" id="{CC6FE53B-54D7-4451-A774-FDE3758AECF0}"/>
              </a:ext>
            </a:extLst>
          </p:cNvPr>
          <p:cNvSpPr>
            <a:spLocks xmlns:a="http://schemas.openxmlformats.org/drawingml/2006/main" noGrp="1"/>
          </p:cNvSpPr>
          <p:nvPr/>
        </p:nvSpPr>
        <p:spPr>
          <a:xfrm xmlns:a="http://schemas.openxmlformats.org/drawingml/2006/main">
            <a:off x="762000" y="1790700"/>
            <a:ext cx="167640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A controlled comparison can test whether clearer specifications improve delivery outcomes on selected tasks.</a:t>
            </a:r>
          </a:p>
        </p:txBody>
      </p:sp>
      <p:sp>
        <p:nvSpPr>
          <p:cNvPr id="7" name="text">
            <a:extLst xmlns:a="http://schemas.openxmlformats.org/drawingml/2006/main">
              <a:ext uri="{FF2B5EF4-FFF2-40B4-BE49-F238E27FC236}">
                <a16:creationId xmlns:a16="http://schemas.microsoft.com/office/drawing/2014/main" id="{95803C63-4527-4185-B506-8C03228C97A3}"/>
              </a:ext>
            </a:extLst>
          </p:cNvPr>
          <p:cNvSpPr>
            <a:spLocks xmlns:a="http://schemas.openxmlformats.org/drawingml/2006/main" noGrp="1"/>
          </p:cNvSpPr>
          <p:nvPr/>
        </p:nvSpPr>
        <p:spPr>
          <a:xfrm xmlns:a="http://schemas.openxmlformats.org/drawingml/2006/main">
            <a:off x="762000" y="2908300"/>
            <a:ext cx="1676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11827"/>
                </a:solidFill>
                <a:latin typeface="Calibri"/>
                <a:ea typeface="Calibri"/>
                <a:cs typeface="Calibri"/>
              </a:defRPr>
            </a:pPr>
            <a:r>
              <a:rPr sz="2800" b="1">
                <a:solidFill>
                  <a:srgbClr val="111827"/>
                </a:solidFill>
                <a:latin typeface="Calibri"/>
                <a:ea typeface="Calibri"/>
                <a:cs typeface="Calibri"/>
              </a:rPr>
              <a:t>Task: Implement a bounded F04 publication behavior</a:t>
            </a:r>
          </a:p>
        </p:txBody>
      </p:sp>
      <p:sp>
        <p:nvSpPr>
          <p:cNvPr id="8" name="Condition A">
            <a:extLst xmlns:a="http://schemas.openxmlformats.org/drawingml/2006/main">
              <a:ext uri="{FF2B5EF4-FFF2-40B4-BE49-F238E27FC236}">
                <a16:creationId xmlns:a16="http://schemas.microsoft.com/office/drawing/2014/main" id="{14F50503-1AC7-4133-BD30-5AEB29C4E57D}"/>
              </a:ext>
            </a:extLst>
          </p:cNvPr>
          <p:cNvSpPr>
            <a:spLocks xmlns:a="http://schemas.openxmlformats.org/drawingml/2006/main" noGrp="1"/>
          </p:cNvSpPr>
          <p:nvPr/>
        </p:nvSpPr>
        <p:spPr>
          <a:xfrm xmlns:a="http://schemas.openxmlformats.org/drawingml/2006/main">
            <a:off x="762000" y="3759200"/>
            <a:ext cx="8064500" cy="18669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9" name="heading">
            <a:extLst xmlns:a="http://schemas.openxmlformats.org/drawingml/2006/main">
              <a:ext uri="{FF2B5EF4-FFF2-40B4-BE49-F238E27FC236}">
                <a16:creationId xmlns:a16="http://schemas.microsoft.com/office/drawing/2014/main" id="{C1A3D59B-69D2-42C7-8F09-96231A8124E1}"/>
              </a:ext>
            </a:extLst>
          </p:cNvPr>
          <p:cNvSpPr>
            <a:spLocks xmlns:a="http://schemas.openxmlformats.org/drawingml/2006/main" noGrp="1"/>
          </p:cNvSpPr>
          <p:nvPr/>
        </p:nvSpPr>
        <p:spPr>
          <a:xfrm xmlns:a="http://schemas.openxmlformats.org/drawingml/2006/main">
            <a:off x="762000" y="3759200"/>
            <a:ext cx="8064500" cy="520700"/>
          </a:xfrm>
          <a:prstGeom xmlns:a="http://schemas.openxmlformats.org/drawingml/2006/main" prst="rect">
            <a:avLst/>
          </a:prstGeom>
          <a:solidFill xmlns:a="http://schemas.openxmlformats.org/drawingml/2006/main">
            <a:srgbClr val="F47719"/>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C5D4DE0C-20D6-4F27-85B2-8FEEA9944629}"/>
              </a:ext>
            </a:extLst>
          </p:cNvPr>
          <p:cNvSpPr>
            <a:spLocks xmlns:a="http://schemas.openxmlformats.org/drawingml/2006/main" noGrp="1"/>
          </p:cNvSpPr>
          <p:nvPr/>
        </p:nvSpPr>
        <p:spPr>
          <a:xfrm xmlns:a="http://schemas.openxmlformats.org/drawingml/2006/main">
            <a:off x="914400" y="3835400"/>
            <a:ext cx="775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00" b="1">
                <a:solidFill>
                  <a:srgbClr val="FFFFFF"/>
                </a:solidFill>
                <a:latin typeface="Calibri"/>
                <a:ea typeface="Calibri"/>
                <a:cs typeface="Calibri"/>
              </a:defRPr>
            </a:pPr>
            <a:r>
              <a:rPr sz="2800" b="1">
                <a:solidFill>
                  <a:srgbClr val="FFFFFF"/>
                </a:solidFill>
                <a:latin typeface="Calibri"/>
                <a:ea typeface="Calibri"/>
                <a:cs typeface="Calibri"/>
              </a:rPr>
              <a:t>Condition A</a:t>
            </a:r>
          </a:p>
        </p:txBody>
      </p:sp>
      <p:sp>
        <p:nvSpPr>
          <p:cNvPr id="11" name="text">
            <a:extLst xmlns:a="http://schemas.openxmlformats.org/drawingml/2006/main">
              <a:ext uri="{FF2B5EF4-FFF2-40B4-BE49-F238E27FC236}">
                <a16:creationId xmlns:a16="http://schemas.microsoft.com/office/drawing/2014/main" id="{49D9F46C-E6FB-4D40-83AB-77B3FDDE0B0A}"/>
              </a:ext>
            </a:extLst>
          </p:cNvPr>
          <p:cNvSpPr>
            <a:spLocks xmlns:a="http://schemas.openxmlformats.org/drawingml/2006/main" noGrp="1"/>
          </p:cNvSpPr>
          <p:nvPr/>
        </p:nvSpPr>
        <p:spPr>
          <a:xfrm xmlns:a="http://schemas.openxmlformats.org/drawingml/2006/main">
            <a:off x="939800" y="4432300"/>
            <a:ext cx="77089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A short requirement with limited detail</a:t>
            </a:r>
          </a:p>
        </p:txBody>
      </p:sp>
      <p:sp>
        <p:nvSpPr>
          <p:cNvPr id="12" name="Condition B">
            <a:extLst xmlns:a="http://schemas.openxmlformats.org/drawingml/2006/main">
              <a:ext uri="{FF2B5EF4-FFF2-40B4-BE49-F238E27FC236}">
                <a16:creationId xmlns:a16="http://schemas.microsoft.com/office/drawing/2014/main" id="{632D7B06-2537-463F-9F4E-A553651E5A27}"/>
              </a:ext>
            </a:extLst>
          </p:cNvPr>
          <p:cNvSpPr>
            <a:spLocks xmlns:a="http://schemas.openxmlformats.org/drawingml/2006/main" noGrp="1"/>
          </p:cNvSpPr>
          <p:nvPr/>
        </p:nvSpPr>
        <p:spPr>
          <a:xfrm xmlns:a="http://schemas.openxmlformats.org/drawingml/2006/main">
            <a:off x="9461500" y="3759200"/>
            <a:ext cx="8064500" cy="1866900"/>
          </a:xfrm>
          <a:prstGeom xmlns:a="http://schemas.openxmlformats.org/drawingml/2006/main" prst="rect">
            <a:avLst/>
          </a:prstGeom>
          <a:solidFill xmlns:a="http://schemas.openxmlformats.org/drawingml/2006/main">
            <a:srgbClr val="FFFFFF"/>
          </a:solidFill>
          <a:ln xmlns:a="http://schemas.openxmlformats.org/drawingml/2006/main" w="12700">
            <a:solidFill>
              <a:srgbClr val="9CAAB3"/>
            </a:solidFill>
          </a:ln>
        </p:spPr>
      </p:sp>
      <p:sp>
        <p:nvSpPr>
          <p:cNvPr id="13" name="heading">
            <a:extLst xmlns:a="http://schemas.openxmlformats.org/drawingml/2006/main">
              <a:ext uri="{FF2B5EF4-FFF2-40B4-BE49-F238E27FC236}">
                <a16:creationId xmlns:a16="http://schemas.microsoft.com/office/drawing/2014/main" id="{4732E3F4-CA23-452D-9B71-2503EF0550CA}"/>
              </a:ext>
            </a:extLst>
          </p:cNvPr>
          <p:cNvSpPr>
            <a:spLocks xmlns:a="http://schemas.openxmlformats.org/drawingml/2006/main" noGrp="1"/>
          </p:cNvSpPr>
          <p:nvPr/>
        </p:nvSpPr>
        <p:spPr>
          <a:xfrm xmlns:a="http://schemas.openxmlformats.org/drawingml/2006/main">
            <a:off x="9461500" y="3759200"/>
            <a:ext cx="8064500" cy="520700"/>
          </a:xfrm>
          <a:prstGeom xmlns:a="http://schemas.openxmlformats.org/drawingml/2006/main" prst="rect">
            <a:avLst/>
          </a:prstGeom>
          <a:solidFill xmlns:a="http://schemas.openxmlformats.org/drawingml/2006/main">
            <a:srgbClr val="0070C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B85F1A9-706B-491F-BEEF-F45B0D9187DC}"/>
              </a:ext>
            </a:extLst>
          </p:cNvPr>
          <p:cNvSpPr>
            <a:spLocks xmlns:a="http://schemas.openxmlformats.org/drawingml/2006/main" noGrp="1"/>
          </p:cNvSpPr>
          <p:nvPr/>
        </p:nvSpPr>
        <p:spPr>
          <a:xfrm xmlns:a="http://schemas.openxmlformats.org/drawingml/2006/main">
            <a:off x="9613900" y="3835400"/>
            <a:ext cx="775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00" b="1">
                <a:solidFill>
                  <a:srgbClr val="FFFFFF"/>
                </a:solidFill>
                <a:latin typeface="Calibri"/>
                <a:ea typeface="Calibri"/>
                <a:cs typeface="Calibri"/>
              </a:defRPr>
            </a:pPr>
            <a:r>
              <a:rPr sz="2800" b="1">
                <a:solidFill>
                  <a:srgbClr val="FFFFFF"/>
                </a:solidFill>
                <a:latin typeface="Calibri"/>
                <a:ea typeface="Calibri"/>
                <a:cs typeface="Calibri"/>
              </a:rPr>
              <a:t>Condition B</a:t>
            </a:r>
          </a:p>
        </p:txBody>
      </p:sp>
      <p:sp>
        <p:nvSpPr>
          <p:cNvPr id="15" name="text">
            <a:extLst xmlns:a="http://schemas.openxmlformats.org/drawingml/2006/main">
              <a:ext uri="{FF2B5EF4-FFF2-40B4-BE49-F238E27FC236}">
                <a16:creationId xmlns:a16="http://schemas.microsoft.com/office/drawing/2014/main" id="{1DEFC563-F59C-4A56-A1D5-D7C89CE394D1}"/>
              </a:ext>
            </a:extLst>
          </p:cNvPr>
          <p:cNvSpPr>
            <a:spLocks xmlns:a="http://schemas.openxmlformats.org/drawingml/2006/main" noGrp="1"/>
          </p:cNvSpPr>
          <p:nvPr/>
        </p:nvSpPr>
        <p:spPr>
          <a:xfrm xmlns:a="http://schemas.openxmlformats.org/drawingml/2006/main">
            <a:off x="9639300" y="4432300"/>
            <a:ext cx="77089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A clarified specification with explicit rules and edge</a:t>
            </a:r>
          </a:p>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cases</a:t>
            </a:r>
          </a:p>
        </p:txBody>
      </p:sp>
      <p:sp>
        <p:nvSpPr>
          <p:cNvPr id="16" name="text">
            <a:extLst xmlns:a="http://schemas.openxmlformats.org/drawingml/2006/main">
              <a:ext uri="{FF2B5EF4-FFF2-40B4-BE49-F238E27FC236}">
                <a16:creationId xmlns:a16="http://schemas.microsoft.com/office/drawing/2014/main" id="{F5FA99A9-9C3B-4316-A3E8-5B246D52F8AA}"/>
              </a:ext>
            </a:extLst>
          </p:cNvPr>
          <p:cNvSpPr>
            <a:spLocks xmlns:a="http://schemas.openxmlformats.org/drawingml/2006/main" noGrp="1"/>
          </p:cNvSpPr>
          <p:nvPr/>
        </p:nvSpPr>
        <p:spPr>
          <a:xfrm xmlns:a="http://schemas.openxmlformats.org/drawingml/2006/main">
            <a:off x="762000" y="6045200"/>
            <a:ext cx="1676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0070C0"/>
                </a:solidFill>
                <a:latin typeface="Calibri"/>
                <a:ea typeface="Calibri"/>
                <a:cs typeface="Calibri"/>
              </a:defRPr>
            </a:pPr>
            <a:r>
              <a:rPr sz="2800" b="1">
                <a:solidFill>
                  <a:srgbClr val="0070C0"/>
                </a:solidFill>
                <a:latin typeface="Calibri"/>
                <a:ea typeface="Calibri"/>
                <a:cs typeface="Calibri"/>
              </a:rPr>
              <a:t>Same baseline and evaluation conditions</a:t>
            </a:r>
          </a:p>
        </p:txBody>
      </p:sp>
      <p:sp>
        <p:nvSpPr>
          <p:cNvPr id="17" name="text">
            <a:extLst xmlns:a="http://schemas.openxmlformats.org/drawingml/2006/main">
              <a:ext uri="{FF2B5EF4-FFF2-40B4-BE49-F238E27FC236}">
                <a16:creationId xmlns:a16="http://schemas.microsoft.com/office/drawing/2014/main" id="{B45CB110-823F-4EFD-B64E-E7852C9A77F9}"/>
              </a:ext>
            </a:extLst>
          </p:cNvPr>
          <p:cNvSpPr>
            <a:spLocks xmlns:a="http://schemas.openxmlformats.org/drawingml/2006/main" noGrp="1"/>
          </p:cNvSpPr>
          <p:nvPr/>
        </p:nvSpPr>
        <p:spPr>
          <a:xfrm xmlns:a="http://schemas.openxmlformats.org/drawingml/2006/main">
            <a:off x="762000" y="6604000"/>
            <a:ext cx="1676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sz="2500" b="0">
                <a:solidFill>
                  <a:srgbClr val="111827"/>
                </a:solidFill>
                <a:latin typeface="Calibri"/>
                <a:ea typeface="Calibri"/>
                <a:cs typeface="Calibri"/>
              </a:rPr>
              <a:t>Same starting code, tools, model configuration, and total effort budget.</a:t>
            </a:r>
          </a:p>
        </p:txBody>
      </p:sp>
      <p:sp>
        <p:nvSpPr>
          <p:cNvPr id="18" name="text">
            <a:extLst xmlns:a="http://schemas.openxmlformats.org/drawingml/2006/main">
              <a:ext uri="{FF2B5EF4-FFF2-40B4-BE49-F238E27FC236}">
                <a16:creationId xmlns:a16="http://schemas.microsoft.com/office/drawing/2014/main" id="{CCD57793-28EA-45A8-B0F8-DE59F64C37D8}"/>
              </a:ext>
            </a:extLst>
          </p:cNvPr>
          <p:cNvSpPr>
            <a:spLocks xmlns:a="http://schemas.openxmlformats.org/drawingml/2006/main" noGrp="1"/>
          </p:cNvSpPr>
          <p:nvPr/>
        </p:nvSpPr>
        <p:spPr>
          <a:xfrm xmlns:a="http://schemas.openxmlformats.org/drawingml/2006/main">
            <a:off x="762000" y="7213600"/>
            <a:ext cx="1676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Calibri"/>
                <a:ea typeface="Calibri"/>
                <a:cs typeface="Calibri"/>
              </a:defRPr>
            </a:pPr>
            <a:r>
              <a:rPr sz="2400" b="0">
                <a:solidFill>
                  <a:srgbClr val="111827"/>
                </a:solidFill>
                <a:latin typeface="Calibri"/>
                <a:ea typeface="Calibri"/>
                <a:cs typeface="Calibri"/>
              </a:rPr>
              <a:t>Independent checks: A reviewer-defined acceptance suite not fully disclosed to the coding agent.</a:t>
            </a:r>
          </a:p>
        </p:txBody>
      </p:sp>
      <p:sp>
        <p:nvSpPr>
          <p:cNvPr id="19" name="text">
            <a:extLst xmlns:a="http://schemas.openxmlformats.org/drawingml/2006/main">
              <a:ext uri="{FF2B5EF4-FFF2-40B4-BE49-F238E27FC236}">
                <a16:creationId xmlns:a16="http://schemas.microsoft.com/office/drawing/2014/main" id="{E265DEDA-EB02-4211-BABA-4E8CD8F064AA}"/>
              </a:ext>
            </a:extLst>
          </p:cNvPr>
          <p:cNvSpPr>
            <a:spLocks xmlns:a="http://schemas.openxmlformats.org/drawingml/2006/main" noGrp="1"/>
          </p:cNvSpPr>
          <p:nvPr/>
        </p:nvSpPr>
        <p:spPr>
          <a:xfrm xmlns:a="http://schemas.openxmlformats.org/drawingml/2006/main">
            <a:off x="762000" y="7848600"/>
            <a:ext cx="1676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827"/>
                </a:solidFill>
                <a:latin typeface="Calibri"/>
                <a:ea typeface="Calibri"/>
                <a:cs typeface="Calibri"/>
              </a:defRPr>
            </a:pPr>
            <a:r>
              <a:rPr sz="2400" b="1">
                <a:solidFill>
                  <a:srgbClr val="111827"/>
                </a:solidFill>
                <a:latin typeface="Calibri"/>
                <a:ea typeface="Calibri"/>
                <a:cs typeface="Calibri"/>
              </a:rPr>
              <a:t>Outcomes: Business-rule defects, failed edge cases, rework, and total effort.</a:t>
            </a:r>
          </a:p>
        </p:txBody>
      </p:sp>
      <p:sp>
        <p:nvSpPr>
          <p:cNvPr id="20" name="text">
            <a:extLst xmlns:a="http://schemas.openxmlformats.org/drawingml/2006/main">
              <a:ext uri="{FF2B5EF4-FFF2-40B4-BE49-F238E27FC236}">
                <a16:creationId xmlns:a16="http://schemas.microsoft.com/office/drawing/2014/main" id="{C7FF7FBD-A47F-4B5F-8A83-5E0C8136ECA0}"/>
              </a:ext>
            </a:extLst>
          </p:cNvPr>
          <p:cNvSpPr>
            <a:spLocks xmlns:a="http://schemas.openxmlformats.org/drawingml/2006/main" noGrp="1"/>
          </p:cNvSpPr>
          <p:nvPr/>
        </p:nvSpPr>
        <p:spPr>
          <a:xfrm xmlns:a="http://schemas.openxmlformats.org/drawingml/2006/main">
            <a:off x="762000" y="8483600"/>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Include specification writing and review in total effort. Repeat across tasks and vary execution order.</a:t>
            </a:r>
          </a:p>
        </p:txBody>
      </p:sp>
      <p:sp>
        <p:nvSpPr>
          <p:cNvPr id="21" name="text">
            <a:extLst xmlns:a="http://schemas.openxmlformats.org/drawingml/2006/main">
              <a:ext uri="{FF2B5EF4-FFF2-40B4-BE49-F238E27FC236}">
                <a16:creationId xmlns:a16="http://schemas.microsoft.com/office/drawing/2014/main" id="{C2802396-1A7A-4148-8EA5-AEA43E663815}"/>
              </a:ext>
            </a:extLst>
          </p:cNvPr>
          <p:cNvSpPr>
            <a:spLocks xmlns:a="http://schemas.openxmlformats.org/drawingml/2006/main" noGrp="1"/>
          </p:cNvSpPr>
          <p:nvPr/>
        </p:nvSpPr>
        <p:spPr>
          <a:xfrm xmlns:a="http://schemas.openxmlformats.org/drawingml/2006/main">
            <a:off x="762000" y="9006586"/>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Status:</a:t>
            </a:r>
            <a:r>
              <a:rPr b="0">
                <a:latin typeface="Calibri"/>
                <a:ea typeface="Calibri"/>
                <a:cs typeface="Calibri"/>
              </a:rPr>
              <a:t> Proposed experiment, not yet performed. One comparison illustrates a case and cannot establish a universal effect.</a:t>
            </a:r>
          </a:p>
        </p:txBody>
      </p:sp>
    </p:spTree>
    <p:extLst>
      <p:ext uri="{BB962C8B-B14F-4D97-AF65-F5344CB8AC3E}">
        <p14:creationId xmlns:p14="http://schemas.microsoft.com/office/powerpoint/2010/main" val="16072606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02C152E8-0F03-4855-ACCE-7CFD9C110F15}"/>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8.4. Implementation Roadmap</a:t>
            </a:r>
          </a:p>
        </p:txBody>
      </p:sp>
      <p:sp>
        <p:nvSpPr>
          <p:cNvPr id="2" name="">
            <a:extLst xmlns:a="http://schemas.openxmlformats.org/drawingml/2006/main">
              <a:ext uri="{FF2B5EF4-FFF2-40B4-BE49-F238E27FC236}">
                <a16:creationId xmlns:a16="http://schemas.microsoft.com/office/drawing/2014/main" id="{38785BCB-A699-48D5-88BA-6BF2C41CAEA7}"/>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75F755E7-264C-4DF8-98E7-EDFE9EB06F65}"/>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DD6A3CB9-FADF-4978-BC47-B3E57216CF9F}"/>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tasks; F11 tasks; F12 Draft</a:t>
            </a:r>
          </a:p>
        </p:txBody>
      </p:sp>
      <p:sp>
        <p:nvSpPr>
          <p:cNvPr id="5" name="text">
            <a:extLst xmlns:a="http://schemas.openxmlformats.org/drawingml/2006/main">
              <a:ext uri="{FF2B5EF4-FFF2-40B4-BE49-F238E27FC236}">
                <a16:creationId xmlns:a16="http://schemas.microsoft.com/office/drawing/2014/main" id="{92413059-5A3E-4119-8B3D-08B6F6603510}"/>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31 / 32</a:t>
            </a:r>
          </a:p>
        </p:txBody>
      </p:sp>
      <p:sp>
        <p:nvSpPr>
          <p:cNvPr id="6" name="text">
            <a:extLst xmlns:a="http://schemas.openxmlformats.org/drawingml/2006/main">
              <a:ext uri="{FF2B5EF4-FFF2-40B4-BE49-F238E27FC236}">
                <a16:creationId xmlns:a16="http://schemas.microsoft.com/office/drawing/2014/main" id="{E8554627-E25E-4BFF-9E82-E1C56FA2B7BE}"/>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The next steps should close verification gaps before expanding claims about product readiness.</a:t>
            </a:r>
          </a:p>
        </p:txBody>
      </p:sp>
      <p:graphicFrame>
        <p:nvGraphicFramePr>
          <p:cNvPr id="16" name=""/>
          <p:cNvGraphicFramePr/>
          <p:nvPr/>
        </p:nvGraphicFramePr>
        <p:xfrm>
          <a:off xmlns:a="http://schemas.openxmlformats.org/drawingml/2006/main" x="762000" y="2473325"/>
          <a:ext xmlns:a="http://schemas.openxmlformats.org/drawingml/2006/main" cx="16764000" cy="5523103"/>
        </p:xfrm>
        <a:graphic xmlns:a="http://schemas.openxmlformats.org/drawingml/2006/main">
          <a:graphicData uri="http://schemas.openxmlformats.org/drawingml/2006/table">
            <a:tbl>
              <a:tblPr firstRow="1" bandRow="0"/>
              <a:tblGrid>
                <a:gridCol w="1508760"/>
                <a:gridCol w="8214360"/>
                <a:gridCol w="7040880"/>
              </a:tblGrid>
              <a:tr h="807170">
                <a:tc>
                  <a:txBody>
                    <a:bodyPr wrap="square">
                      <a:noAutofit/>
                    </a:bodyPr>
                    <a:lstStyle/>
                    <a:p>
                      <a:r>
                        <a:rPr sz="2250" b="1">
                          <a:solidFill>
                            <a:srgbClr val="111827"/>
                          </a:solidFill>
                          <a:latin typeface="Calibri"/>
                          <a:ea typeface="Calibri"/>
                          <a:cs typeface="Calibri"/>
                        </a:rPr>
                        <a:t>Priority</a:t>
                      </a:r>
                    </a:p>
                  </a:txBody>
                  <a:tcPr marL="165100" marR="165100" marT="127000" marB="127000" anchor="ctr">
                    <a:solidFill>
                      <a:srgbClr val="D8EDF4"/>
                    </a:solidFill>
                  </a:tcPr>
                </a:tc>
                <a:tc>
                  <a:txBody>
                    <a:bodyPr wrap="square">
                      <a:noAutofit/>
                    </a:bodyPr>
                    <a:lstStyle/>
                    <a:p>
                      <a:r>
                        <a:rPr sz="2250" b="1">
                          <a:solidFill>
                            <a:srgbClr val="111827"/>
                          </a:solidFill>
                          <a:latin typeface="Calibri"/>
                          <a:ea typeface="Calibri"/>
                          <a:cs typeface="Calibri"/>
                        </a:rPr>
                        <a:t>Next work</a:t>
                      </a:r>
                    </a:p>
                  </a:txBody>
                  <a:tcPr marL="165100" marR="165100" marT="127000" marB="127000" anchor="ctr">
                    <a:solidFill>
                      <a:srgbClr val="D8EDF4"/>
                    </a:solidFill>
                  </a:tcPr>
                </a:tc>
                <a:tc>
                  <a:txBody>
                    <a:bodyPr wrap="square">
                      <a:noAutofit/>
                    </a:bodyPr>
                    <a:lstStyle/>
                    <a:p>
                      <a:r>
                        <a:rPr sz="2250" b="1">
                          <a:solidFill>
                            <a:srgbClr val="111827"/>
                          </a:solidFill>
                          <a:latin typeface="Calibri"/>
                          <a:ea typeface="Calibri"/>
                          <a:cs typeface="Calibri"/>
                        </a:rPr>
                        <a:t>Exit evidence</a:t>
                      </a:r>
                    </a:p>
                  </a:txBody>
                  <a:tcPr marL="165100" marR="165100" marT="127000" marB="127000" anchor="ctr">
                    <a:solidFill>
                      <a:srgbClr val="D8EDF4"/>
                    </a:solidFill>
                  </a:tcPr>
                </a:tc>
              </a:tr>
              <a:tr h="807170">
                <a:tc>
                  <a:txBody>
                    <a:bodyPr wrap="square">
                      <a:noAutofit/>
                    </a:bodyPr>
                    <a:lstStyle/>
                    <a:p>
                      <a:r>
                        <a:rPr sz="2250" b="0">
                          <a:solidFill>
                            <a:srgbClr val="111827"/>
                          </a:solidFill>
                          <a:latin typeface="Calibri"/>
                          <a:ea typeface="Calibri"/>
                          <a:cs typeface="Calibri"/>
                        </a:rPr>
                        <a:t>1</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Align owners, review status, effective decisions, and feature scope</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A reviewed specification baseline</a:t>
                      </a:r>
                    </a:p>
                  </a:txBody>
                  <a:tcPr marL="165100" marR="165100" marT="127000" marB="127000" anchor="ctr">
                    <a:solidFill>
                      <a:srgbClr val="FFFFFF"/>
                    </a:solidFill>
                  </a:tcPr>
                </a:tc>
              </a:tr>
              <a:tr h="807170">
                <a:tc>
                  <a:txBody>
                    <a:bodyPr wrap="square">
                      <a:noAutofit/>
                    </a:bodyPr>
                    <a:lstStyle/>
                    <a:p>
                      <a:r>
                        <a:rPr sz="2250" b="0">
                          <a:solidFill>
                            <a:srgbClr val="111827"/>
                          </a:solidFill>
                          <a:latin typeface="Calibri"/>
                          <a:ea typeface="Calibri"/>
                          <a:cs typeface="Calibri"/>
                        </a:rPr>
                        <a:t>2</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Complete F04 migration, API, lifecycle, and E2E checks</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Reproducible results with pass/fail/skip states</a:t>
                      </a:r>
                    </a:p>
                  </a:txBody>
                  <a:tcPr marL="165100" marR="165100" marT="127000" marB="127000" anchor="ctr">
                    <a:solidFill>
                      <a:srgbClr val="F3F8FB"/>
                    </a:solidFill>
                  </a:tcPr>
                </a:tc>
              </a:tr>
              <a:tr h="1147212">
                <a:tc>
                  <a:txBody>
                    <a:bodyPr wrap="square">
                      <a:noAutofit/>
                    </a:bodyPr>
                    <a:lstStyle/>
                    <a:p>
                      <a:r>
                        <a:rPr sz="2250" b="0">
                          <a:solidFill>
                            <a:srgbClr val="111827"/>
                          </a:solidFill>
                          <a:latin typeface="Calibri"/>
                          <a:ea typeface="Calibri"/>
                          <a:cs typeface="Calibri"/>
                        </a:rPr>
                        <a:t>3</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Strengthen automated gates and optimization review</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Blocking checks and documented algorithm-change evidence</a:t>
                      </a:r>
                    </a:p>
                  </a:txBody>
                  <a:tcPr marL="165100" marR="165100" marT="127000" marB="127000" anchor="ctr">
                    <a:solidFill>
                      <a:srgbClr val="FFFFFF"/>
                    </a:solidFill>
                  </a:tcPr>
                </a:tc>
              </a:tr>
              <a:tr h="807170">
                <a:tc>
                  <a:txBody>
                    <a:bodyPr wrap="square">
                      <a:noAutofit/>
                    </a:bodyPr>
                    <a:lstStyle/>
                    <a:p>
                      <a:r>
                        <a:rPr sz="2250" b="0">
                          <a:solidFill>
                            <a:srgbClr val="111827"/>
                          </a:solidFill>
                          <a:latin typeface="Calibri"/>
                          <a:ea typeface="Calibri"/>
                          <a:cs typeface="Calibri"/>
                        </a:rPr>
                        <a:t>4</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Verify F11 ownership, retries, timeout, invalid output, and deletion</a:t>
                      </a:r>
                    </a:p>
                  </a:txBody>
                  <a:tcPr marL="165100" marR="165100" marT="127000" marB="127000" anchor="ctr">
                    <a:solidFill>
                      <a:srgbClr val="F3F8FB"/>
                    </a:solidFill>
                  </a:tcPr>
                </a:tc>
                <a:tc>
                  <a:txBody>
                    <a:bodyPr wrap="square">
                      <a:noAutofit/>
                    </a:bodyPr>
                    <a:lstStyle/>
                    <a:p>
                      <a:r>
                        <a:rPr sz="2250" b="0">
                          <a:solidFill>
                            <a:srgbClr val="111827"/>
                          </a:solidFill>
                          <a:latin typeface="Calibri"/>
                          <a:ea typeface="Calibri"/>
                          <a:cs typeface="Calibri"/>
                        </a:rPr>
                        <a:t>Contract, integration, concurrency, and recovery results</a:t>
                      </a:r>
                    </a:p>
                  </a:txBody>
                  <a:tcPr marL="165100" marR="165100" marT="127000" marB="127000" anchor="ctr">
                    <a:solidFill>
                      <a:srgbClr val="F3F8FB"/>
                    </a:solidFill>
                  </a:tcPr>
                </a:tc>
              </a:tr>
              <a:tr h="1147212">
                <a:tc>
                  <a:txBody>
                    <a:bodyPr wrap="square">
                      <a:noAutofit/>
                    </a:bodyPr>
                    <a:lstStyle/>
                    <a:p>
                      <a:r>
                        <a:rPr sz="2250" b="0">
                          <a:solidFill>
                            <a:srgbClr val="111827"/>
                          </a:solidFill>
                          <a:latin typeface="Calibri"/>
                          <a:ea typeface="Calibri"/>
                          <a:cs typeface="Calibri"/>
                        </a:rPr>
                        <a:t>5</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Evaluate learning quality and operational behavior</a:t>
                      </a:r>
                    </a:p>
                  </a:txBody>
                  <a:tcPr marL="165100" marR="165100" marT="127000" marB="127000" anchor="ctr">
                    <a:solidFill>
                      <a:srgbClr val="FFFFFF"/>
                    </a:solidFill>
                  </a:tcPr>
                </a:tc>
                <a:tc>
                  <a:txBody>
                    <a:bodyPr wrap="square">
                      <a:noAutofit/>
                    </a:bodyPr>
                    <a:lstStyle/>
                    <a:p>
                      <a:r>
                        <a:rPr sz="2250" b="0">
                          <a:solidFill>
                            <a:srgbClr val="111827"/>
                          </a:solidFill>
                          <a:latin typeface="Calibri"/>
                          <a:ea typeface="Calibri"/>
                          <a:cs typeface="Calibri"/>
                        </a:rPr>
                        <a:t>Domain-review findings, user feedback, and measurements</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89F6D64C-365C-4B51-BCBF-B995EA64A46A}"/>
              </a:ext>
            </a:extLst>
          </p:cNvPr>
          <p:cNvSpPr>
            <a:spLocks xmlns:a="http://schemas.openxmlformats.org/drawingml/2006/main" noGrp="1"/>
          </p:cNvSpPr>
          <p:nvPr/>
        </p:nvSpPr>
        <p:spPr>
          <a:xfrm xmlns:a="http://schemas.openxmlformats.org/drawingml/2006/main">
            <a:off x="762000" y="8225028"/>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F12 dependency:</a:t>
            </a:r>
            <a:r>
              <a:rPr b="0">
                <a:latin typeface="Calibri"/>
                <a:ea typeface="Calibri"/>
                <a:cs typeface="Calibri"/>
              </a:rPr>
              <a:t> Align policy administration and monitoring with the feature map and validated data boundaries.</a:t>
            </a:r>
          </a:p>
        </p:txBody>
      </p:sp>
      <p:sp>
        <p:nvSpPr>
          <p:cNvPr id="9" name="text">
            <a:extLst xmlns:a="http://schemas.openxmlformats.org/drawingml/2006/main">
              <a:ext uri="{FF2B5EF4-FFF2-40B4-BE49-F238E27FC236}">
                <a16:creationId xmlns:a16="http://schemas.microsoft.com/office/drawing/2014/main" id="{58C10F6B-53C6-462F-B029-FC1BCBBF99C5}"/>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Sequence proposal. Dates and resource commitments are not yet established.</a:t>
            </a:r>
          </a:p>
        </p:txBody>
      </p:sp>
    </p:spTree>
    <p:extLst>
      <p:ext uri="{BB962C8B-B14F-4D97-AF65-F5344CB8AC3E}">
        <p14:creationId xmlns:p14="http://schemas.microsoft.com/office/powerpoint/2010/main" val="96492849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08A1E778-60E0-4A1A-A294-BAF8DEC4FDEB}"/>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8.5. Conclusion</a:t>
            </a:r>
          </a:p>
        </p:txBody>
      </p:sp>
      <p:sp>
        <p:nvSpPr>
          <p:cNvPr id="2" name="">
            <a:extLst xmlns:a="http://schemas.openxmlformats.org/drawingml/2006/main">
              <a:ext uri="{FF2B5EF4-FFF2-40B4-BE49-F238E27FC236}">
                <a16:creationId xmlns:a16="http://schemas.microsoft.com/office/drawing/2014/main" id="{DB4415FE-7B5E-4814-8024-C992EAD47B40}"/>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12604076-F795-45EF-92D4-AECE64B7AF98}"/>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92E39960-28D9-427D-B385-3D68E912426E}"/>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Synthesis of slides 21–31; recorded run of 11 September 2026</a:t>
            </a:r>
          </a:p>
        </p:txBody>
      </p:sp>
      <p:sp>
        <p:nvSpPr>
          <p:cNvPr id="5" name="text">
            <a:extLst xmlns:a="http://schemas.openxmlformats.org/drawingml/2006/main">
              <a:ext uri="{FF2B5EF4-FFF2-40B4-BE49-F238E27FC236}">
                <a16:creationId xmlns:a16="http://schemas.microsoft.com/office/drawing/2014/main" id="{9648D86B-ED36-4FD6-B17E-F93A12887166}"/>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32 / 32</a:t>
            </a:r>
          </a:p>
        </p:txBody>
      </p:sp>
      <p:sp>
        <p:nvSpPr>
          <p:cNvPr id="6" name="text">
            <a:extLst xmlns:a="http://schemas.openxmlformats.org/drawingml/2006/main">
              <a:ext uri="{FF2B5EF4-FFF2-40B4-BE49-F238E27FC236}">
                <a16:creationId xmlns:a16="http://schemas.microsoft.com/office/drawing/2014/main" id="{4AA75870-1313-4EAD-8612-435C94061DDC}"/>
              </a:ext>
            </a:extLst>
          </p:cNvPr>
          <p:cNvSpPr>
            <a:spLocks xmlns:a="http://schemas.openxmlformats.org/drawingml/2006/main" noGrp="1"/>
          </p:cNvSpPr>
          <p:nvPr/>
        </p:nvSpPr>
        <p:spPr>
          <a:xfrm xmlns:a="http://schemas.openxmlformats.org/drawingml/2006/main">
            <a:off x="762000" y="1790700"/>
            <a:ext cx="16764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a:solidFill>
                  <a:srgbClr val="111827"/>
                </a:solidFill>
                <a:latin typeface="Calibri"/>
                <a:ea typeface="Calibri"/>
                <a:cs typeface="Calibri"/>
              </a:defRPr>
            </a:pPr>
            <a:r>
              <a:rPr sz="2800" b="0">
                <a:solidFill>
                  <a:srgbClr val="111827"/>
                </a:solidFill>
                <a:latin typeface="Calibri"/>
                <a:ea typeface="Calibri"/>
                <a:cs typeface="Calibri"/>
              </a:rPr>
              <a:t>Specification control makes important product decisions explicit, traceable, and open to verification.</a:t>
            </a:r>
          </a:p>
        </p:txBody>
      </p:sp>
      <p:sp>
        <p:nvSpPr>
          <p:cNvPr id="7" name="text">
            <a:extLst xmlns:a="http://schemas.openxmlformats.org/drawingml/2006/main">
              <a:ext uri="{FF2B5EF4-FFF2-40B4-BE49-F238E27FC236}">
                <a16:creationId xmlns:a16="http://schemas.microsoft.com/office/drawing/2014/main" id="{279CEA2D-CE3C-490F-90E8-0DB83CD4F8DA}"/>
              </a:ext>
            </a:extLst>
          </p:cNvPr>
          <p:cNvSpPr>
            <a:spLocks xmlns:a="http://schemas.openxmlformats.org/drawingml/2006/main" noGrp="1"/>
          </p:cNvSpPr>
          <p:nvPr/>
        </p:nvSpPr>
        <p:spPr>
          <a:xfrm xmlns:a="http://schemas.openxmlformats.org/drawingml/2006/main">
            <a:off x="762000" y="3111500"/>
            <a:ext cx="1676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b="1">
                <a:solidFill>
                  <a:srgbClr val="0070C0"/>
                </a:solidFill>
                <a:latin typeface="Calibri"/>
                <a:ea typeface="Calibri"/>
                <a:cs typeface="Calibri"/>
              </a:defRPr>
            </a:pPr>
            <a:r>
              <a:rPr sz="2900" b="1">
                <a:solidFill>
                  <a:srgbClr val="0070C0"/>
                </a:solidFill>
                <a:latin typeface="Calibri"/>
                <a:ea typeface="Calibri"/>
                <a:cs typeface="Calibri"/>
              </a:rPr>
              <a:t>What Schinese demonstrates</a:t>
            </a:r>
          </a:p>
        </p:txBody>
      </p:sp>
      <p:sp>
        <p:nvSpPr>
          <p:cNvPr id="8" name="text">
            <a:extLst xmlns:a="http://schemas.openxmlformats.org/drawingml/2006/main">
              <a:ext uri="{FF2B5EF4-FFF2-40B4-BE49-F238E27FC236}">
                <a16:creationId xmlns:a16="http://schemas.microsoft.com/office/drawing/2014/main" id="{74549B11-A5E3-4F75-8FE4-4235907038AE}"/>
              </a:ext>
            </a:extLst>
          </p:cNvPr>
          <p:cNvSpPr>
            <a:spLocks xmlns:a="http://schemas.openxmlformats.org/drawingml/2006/main" noGrp="1"/>
          </p:cNvSpPr>
          <p:nvPr/>
        </p:nvSpPr>
        <p:spPr>
          <a:xfrm xmlns:a="http://schemas.openxmlformats.org/drawingml/2006/main">
            <a:off x="762000" y="3835400"/>
            <a:ext cx="167640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F04 connects publication requirements to tasks, implementation, and selected tests.</a:t>
            </a:r>
          </a:p>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The recorded run passed 15 unit tests across publication, media input, and allowance behavior.</a:t>
            </a:r>
          </a:p>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Architecture assigns responsibility for access, product state, and AI processing.</a:t>
            </a:r>
          </a:p>
        </p:txBody>
      </p:sp>
      <p:sp>
        <p:nvSpPr>
          <p:cNvPr id="9" name="">
            <a:extLst xmlns:a="http://schemas.openxmlformats.org/drawingml/2006/main">
              <a:ext uri="{FF2B5EF4-FFF2-40B4-BE49-F238E27FC236}">
                <a16:creationId xmlns:a16="http://schemas.microsoft.com/office/drawing/2014/main" id="{6F715A7F-562D-4CCD-8AF4-B2DA8CCE54F0}"/>
              </a:ext>
            </a:extLst>
          </p:cNvPr>
          <p:cNvSpPr>
            <a:spLocks xmlns:a="http://schemas.openxmlformats.org/drawingml/2006/main" noGrp="1"/>
          </p:cNvSpPr>
          <p:nvPr/>
        </p:nvSpPr>
        <p:spPr>
          <a:xfrm xmlns:a="http://schemas.openxmlformats.org/drawingml/2006/main" flipH="0" flipV="0">
            <a:off x="762000" y="5626100"/>
            <a:ext cx="16764000" cy="0"/>
          </a:xfrm>
          <a:prstGeom xmlns:a="http://schemas.openxmlformats.org/drawingml/2006/main" prst="line">
            <a:avLst/>
          </a:prstGeom>
          <a:noFill xmlns:a="http://schemas.openxmlformats.org/drawingml/2006/main"/>
          <a:ln xmlns:a="http://schemas.openxmlformats.org/drawingml/2006/main" w="12700">
            <a:solidFill>
              <a:srgbClr val="9CAAB3"/>
            </a:solidFill>
          </a:ln>
        </p:spPr>
      </p:sp>
      <p:sp>
        <p:nvSpPr>
          <p:cNvPr id="10" name="text">
            <a:extLst xmlns:a="http://schemas.openxmlformats.org/drawingml/2006/main">
              <a:ext uri="{FF2B5EF4-FFF2-40B4-BE49-F238E27FC236}">
                <a16:creationId xmlns:a16="http://schemas.microsoft.com/office/drawing/2014/main" id="{F9398FB4-B442-455B-ACD2-712CE2E3EDFC}"/>
              </a:ext>
            </a:extLst>
          </p:cNvPr>
          <p:cNvSpPr>
            <a:spLocks xmlns:a="http://schemas.openxmlformats.org/drawingml/2006/main" noGrp="1"/>
          </p:cNvSpPr>
          <p:nvPr/>
        </p:nvSpPr>
        <p:spPr>
          <a:xfrm xmlns:a="http://schemas.openxmlformats.org/drawingml/2006/main">
            <a:off x="762000" y="6007100"/>
            <a:ext cx="1676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b="1">
                <a:solidFill>
                  <a:srgbClr val="F47719"/>
                </a:solidFill>
                <a:latin typeface="Calibri"/>
                <a:ea typeface="Calibri"/>
                <a:cs typeface="Calibri"/>
              </a:defRPr>
            </a:pPr>
            <a:r>
              <a:rPr sz="2900" b="1">
                <a:solidFill>
                  <a:srgbClr val="F47719"/>
                </a:solidFill>
                <a:latin typeface="Calibri"/>
                <a:ea typeface="Calibri"/>
                <a:cs typeface="Calibri"/>
              </a:rPr>
              <a:t>What still requires evidence</a:t>
            </a:r>
          </a:p>
        </p:txBody>
      </p:sp>
      <p:sp>
        <p:nvSpPr>
          <p:cNvPr id="11" name="text">
            <a:extLst xmlns:a="http://schemas.openxmlformats.org/drawingml/2006/main">
              <a:ext uri="{FF2B5EF4-FFF2-40B4-BE49-F238E27FC236}">
                <a16:creationId xmlns:a16="http://schemas.microsoft.com/office/drawing/2014/main" id="{E62AF219-E2BC-4D38-B96B-26D29A5D2109}"/>
              </a:ext>
            </a:extLst>
          </p:cNvPr>
          <p:cNvSpPr>
            <a:spLocks xmlns:a="http://schemas.openxmlformats.org/drawingml/2006/main" noGrp="1"/>
          </p:cNvSpPr>
          <p:nvPr/>
        </p:nvSpPr>
        <p:spPr>
          <a:xfrm xmlns:a="http://schemas.openxmlformats.org/drawingml/2006/main">
            <a:off x="762000" y="6718300"/>
            <a:ext cx="167640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Complete integrated journeys, concurrent behavior, and operational readiness.</a:t>
            </a:r>
          </a:p>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The correctness and performance of significant AI-generated algorithm changes.</a:t>
            </a:r>
          </a:p>
          <a:p xmlns:a="http://schemas.openxmlformats.org/drawingml/2006/main">
            <a:pPr marL="355600" indent="-254000" algn="l">
              <a:spcAft>
                <a:spcPts val="1000"/>
              </a:spcAft>
              <a:buChar char="•"/>
              <a:defRPr sz="2500" b="0">
                <a:solidFill>
                  <a:srgbClr val="111827"/>
                </a:solidFill>
                <a:latin typeface="Calibri"/>
                <a:ea typeface="Calibri"/>
                <a:cs typeface="Calibri"/>
              </a:defRPr>
            </a:pPr>
            <a:r>
              <a:rPr sz="2500" b="0">
                <a:solidFill>
                  <a:srgbClr val="111827"/>
                </a:solidFill>
                <a:latin typeface="Calibri"/>
                <a:ea typeface="Calibri"/>
                <a:cs typeface="Calibri"/>
              </a:rPr>
              <a:t>The usefulness and learning impact of the product.</a:t>
            </a:r>
          </a:p>
        </p:txBody>
      </p:sp>
      <p:sp>
        <p:nvSpPr>
          <p:cNvPr id="12" name="text">
            <a:extLst xmlns:a="http://schemas.openxmlformats.org/drawingml/2006/main">
              <a:ext uri="{FF2B5EF4-FFF2-40B4-BE49-F238E27FC236}">
                <a16:creationId xmlns:a16="http://schemas.microsoft.com/office/drawing/2014/main" id="{6FEA7652-0086-451A-8DC5-D04EEDF68753}"/>
              </a:ext>
            </a:extLst>
          </p:cNvPr>
          <p:cNvSpPr>
            <a:spLocks xmlns:a="http://schemas.openxmlformats.org/drawingml/2006/main" noGrp="1"/>
          </p:cNvSpPr>
          <p:nvPr/>
        </p:nvSpPr>
        <p:spPr>
          <a:xfrm xmlns:a="http://schemas.openxmlformats.org/drawingml/2006/main">
            <a:off x="762000" y="8597900"/>
            <a:ext cx="1676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11827"/>
                </a:solidFill>
                <a:latin typeface="Calibri"/>
                <a:ea typeface="Calibri"/>
                <a:cs typeface="Calibri"/>
              </a:defRPr>
            </a:pPr>
            <a:r>
              <a:rPr sz="2800" b="1">
                <a:solidFill>
                  <a:srgbClr val="111827"/>
                </a:solidFill>
                <a:latin typeface="Calibri"/>
                <a:ea typeface="Calibri"/>
                <a:cs typeface="Calibri"/>
              </a:rPr>
              <a:t>The project demonstrates selected, reviewable control mechanisms. Further verification is needed to support</a:t>
            </a:r>
          </a:p>
          <a:p xmlns:a="http://schemas.openxmlformats.org/drawingml/2006/main">
            <a:pPr algn="l">
              <a:defRPr sz="2800" b="1">
                <a:solidFill>
                  <a:srgbClr val="111827"/>
                </a:solidFill>
                <a:latin typeface="Calibri"/>
                <a:ea typeface="Calibri"/>
                <a:cs typeface="Calibri"/>
              </a:defRPr>
            </a:pPr>
            <a:r>
              <a:rPr sz="2800" b="1">
                <a:solidFill>
                  <a:srgbClr val="111827"/>
                </a:solidFill>
                <a:latin typeface="Calibri"/>
                <a:ea typeface="Calibri"/>
                <a:cs typeface="Calibri"/>
              </a:rPr>
              <a:t>broader quality claims.</a:t>
            </a:r>
          </a:p>
        </p:txBody>
      </p:sp>
    </p:spTree>
    <p:extLst>
      <p:ext uri="{BB962C8B-B14F-4D97-AF65-F5344CB8AC3E}">
        <p14:creationId xmlns:p14="http://schemas.microsoft.com/office/powerpoint/2010/main" val="14212798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1C339CD1-AA4E-48BB-BE30-798A42BD18C8}"/>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A1. What a Specification Package Must Explain</a:t>
            </a:r>
          </a:p>
        </p:txBody>
      </p:sp>
      <p:sp>
        <p:nvSpPr>
          <p:cNvPr id="2" name="">
            <a:extLst xmlns:a="http://schemas.openxmlformats.org/drawingml/2006/main">
              <a:ext uri="{FF2B5EF4-FFF2-40B4-BE49-F238E27FC236}">
                <a16:creationId xmlns:a16="http://schemas.microsoft.com/office/drawing/2014/main" id="{392FB88D-3B16-4111-97DA-D2016B195F08}"/>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91C26801-B940-4EAB-BBB9-1094525CF7BD}"/>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24E03E8A-8C46-46CB-A722-31B49B3ED281}"/>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§5.2; F04 specification package</a:t>
            </a:r>
          </a:p>
        </p:txBody>
      </p:sp>
      <p:sp>
        <p:nvSpPr>
          <p:cNvPr id="5" name="text">
            <a:extLst xmlns:a="http://schemas.openxmlformats.org/drawingml/2006/main">
              <a:ext uri="{FF2B5EF4-FFF2-40B4-BE49-F238E27FC236}">
                <a16:creationId xmlns:a16="http://schemas.microsoft.com/office/drawing/2014/main" id="{9A9D657F-F12B-490A-8954-EB97BCA9C9F5}"/>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A1 / A6</a:t>
            </a:r>
          </a:p>
        </p:txBody>
      </p:sp>
      <p:sp>
        <p:nvSpPr>
          <p:cNvPr id="6" name="text">
            <a:extLst xmlns:a="http://schemas.openxmlformats.org/drawingml/2006/main">
              <a:ext uri="{FF2B5EF4-FFF2-40B4-BE49-F238E27FC236}">
                <a16:creationId xmlns:a16="http://schemas.microsoft.com/office/drawing/2014/main" id="{53B33F90-E40A-49AD-9A35-CCFA748764EA}"/>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Each content group should resolve a concrete product or verification question.</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4023360"/>
                <a:gridCol w="5364480"/>
                <a:gridCol w="7376160"/>
              </a:tblGrid>
              <a:tr h="671788">
                <a:tc>
                  <a:txBody>
                    <a:bodyPr wrap="square">
                      <a:noAutofit/>
                    </a:bodyPr>
                    <a:lstStyle/>
                    <a:p>
                      <a:r>
                        <a:rPr sz="2150" b="1">
                          <a:solidFill>
                            <a:srgbClr val="111827"/>
                          </a:solidFill>
                          <a:latin typeface="Calibri"/>
                          <a:ea typeface="Calibri"/>
                          <a:cs typeface="Calibri"/>
                        </a:rPr>
                        <a:t>Content group</a:t>
                      </a:r>
                    </a:p>
                  </a:txBody>
                  <a:tcPr marL="165100" marR="165100" marT="127000" marB="127000" anchor="ctr">
                    <a:solidFill>
                      <a:srgbClr val="D8EDF4"/>
                    </a:solidFill>
                  </a:tcPr>
                </a:tc>
                <a:tc>
                  <a:txBody>
                    <a:bodyPr wrap="square">
                      <a:noAutofit/>
                    </a:bodyPr>
                    <a:lstStyle/>
                    <a:p>
                      <a:r>
                        <a:rPr sz="2150" b="1">
                          <a:solidFill>
                            <a:srgbClr val="111827"/>
                          </a:solidFill>
                          <a:latin typeface="Calibri"/>
                          <a:ea typeface="Calibri"/>
                          <a:cs typeface="Calibri"/>
                        </a:rPr>
                        <a:t>Question</a:t>
                      </a:r>
                    </a:p>
                  </a:txBody>
                  <a:tcPr marL="165100" marR="165100" marT="127000" marB="127000" anchor="ctr">
                    <a:solidFill>
                      <a:srgbClr val="D8EDF4"/>
                    </a:solidFill>
                  </a:tcPr>
                </a:tc>
                <a:tc>
                  <a:txBody>
                    <a:bodyPr wrap="square">
                      <a:noAutofit/>
                    </a:bodyPr>
                    <a:lstStyle/>
                    <a:p>
                      <a:r>
                        <a:rPr sz="2150" b="1">
                          <a:solidFill>
                            <a:srgbClr val="111827"/>
                          </a:solidFill>
                          <a:latin typeface="Calibri"/>
                          <a:ea typeface="Calibri"/>
                          <a:cs typeface="Calibri"/>
                        </a:rPr>
                        <a:t>Schinese example</a:t>
                      </a:r>
                    </a:p>
                  </a:txBody>
                  <a:tcPr marL="165100" marR="165100" marT="127000" marB="127000" anchor="ctr">
                    <a:solidFill>
                      <a:srgbClr val="D8EDF4"/>
                    </a:solidFill>
                  </a:tcPr>
                </a:tc>
              </a:tr>
              <a:tr h="671788">
                <a:tc>
                  <a:txBody>
                    <a:bodyPr wrap="square">
                      <a:noAutofit/>
                    </a:bodyPr>
                    <a:lstStyle/>
                    <a:p>
                      <a:r>
                        <a:rPr sz="2150" b="0">
                          <a:solidFill>
                            <a:srgbClr val="111827"/>
                          </a:solidFill>
                          <a:latin typeface="Calibri"/>
                          <a:ea typeface="Calibri"/>
                          <a:cs typeface="Calibri"/>
                        </a:rPr>
                        <a:t>Context and goal</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Why does this feature exist?</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Prepare usable Chinese-learning lessons</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Actors and roles</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Who can perform the action?</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Only an authorized ADMIN publishes content</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Functional requirements</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What must the system do?</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Check every publication prerequisite</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Quality requirements</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How well must it behave?</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Bounded responses and safe failure handling</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Data and invariants</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What must remain consistent?</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Published segments reference approved media</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Error handling</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What happens when conditions fail?</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Reject stale edits and preserve current state</a:t>
                      </a:r>
                    </a:p>
                  </a:txBody>
                  <a:tcPr marL="165100" marR="165100" marT="127000" marB="127000" anchor="ctr">
                    <a:solidFill>
                      <a:srgbClr val="F3F8FB"/>
                    </a:solidFill>
                  </a:tcPr>
                </a:tc>
              </a:tr>
              <a:tr h="671788">
                <a:tc>
                  <a:txBody>
                    <a:bodyPr wrap="square">
                      <a:noAutofit/>
                    </a:bodyPr>
                    <a:lstStyle/>
                    <a:p>
                      <a:r>
                        <a:rPr sz="2150" b="0">
                          <a:solidFill>
                            <a:srgbClr val="111827"/>
                          </a:solidFill>
                          <a:latin typeface="Calibri"/>
                          <a:ea typeface="Calibri"/>
                          <a:cs typeface="Calibri"/>
                        </a:rPr>
                        <a:t>Acceptance criteria</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How is completion assessed?</a:t>
                      </a:r>
                    </a:p>
                  </a:txBody>
                  <a:tcPr marL="165100" marR="165100" marT="127000" marB="127000" anchor="ctr">
                    <a:solidFill>
                      <a:srgbClr val="FFFFFF"/>
                    </a:solidFill>
                  </a:tcPr>
                </a:tc>
                <a:tc>
                  <a:txBody>
                    <a:bodyPr wrap="square">
                      <a:noAutofit/>
                    </a:bodyPr>
                    <a:lstStyle/>
                    <a:p>
                      <a:r>
                        <a:rPr sz="2150" b="0">
                          <a:solidFill>
                            <a:srgbClr val="111827"/>
                          </a:solidFill>
                          <a:latin typeface="Calibri"/>
                          <a:ea typeface="Calibri"/>
                          <a:cs typeface="Calibri"/>
                        </a:rPr>
                        <a:t>Execute valid and invalid publication scenarios</a:t>
                      </a:r>
                    </a:p>
                  </a:txBody>
                  <a:tcPr marL="165100" marR="165100" marT="127000" marB="127000" anchor="ctr">
                    <a:solidFill>
                      <a:srgbClr val="FFFFFF"/>
                    </a:solidFill>
                  </a:tcPr>
                </a:tc>
              </a:tr>
              <a:tr h="671788">
                <a:tc>
                  <a:txBody>
                    <a:bodyPr wrap="square">
                      <a:noAutofit/>
                    </a:bodyPr>
                    <a:lstStyle/>
                    <a:p>
                      <a:r>
                        <a:rPr sz="2150" b="0">
                          <a:solidFill>
                            <a:srgbClr val="111827"/>
                          </a:solidFill>
                          <a:latin typeface="Calibri"/>
                          <a:ea typeface="Calibri"/>
                          <a:cs typeface="Calibri"/>
                        </a:rPr>
                        <a:t>Out of scope</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What is deferred?</a:t>
                      </a:r>
                    </a:p>
                  </a:txBody>
                  <a:tcPr marL="165100" marR="165100" marT="127000" marB="127000" anchor="ctr">
                    <a:solidFill>
                      <a:srgbClr val="F3F8FB"/>
                    </a:solidFill>
                  </a:tcPr>
                </a:tc>
                <a:tc>
                  <a:txBody>
                    <a:bodyPr wrap="square">
                      <a:noAutofit/>
                    </a:bodyPr>
                    <a:lstStyle/>
                    <a:p>
                      <a:r>
                        <a:rPr sz="2150" b="0">
                          <a:solidFill>
                            <a:srgbClr val="111827"/>
                          </a:solidFill>
                          <a:latin typeface="Calibri"/>
                          <a:ea typeface="Calibri"/>
                          <a:cs typeface="Calibri"/>
                        </a:rPr>
                        <a:t>Paid Premium activation in the current MVP map</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A243DA0B-98B0-4987-89DD-E130A5B9C611}"/>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These groups may span linked files. A feature spec describes behavior, while design and contract files provide implementation detail.</a:t>
            </a:r>
          </a:p>
        </p:txBody>
      </p:sp>
    </p:spTree>
    <p:extLst>
      <p:ext uri="{BB962C8B-B14F-4D97-AF65-F5344CB8AC3E}">
        <p14:creationId xmlns:p14="http://schemas.microsoft.com/office/powerpoint/2010/main" val="163357148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8360C41C-CC4F-410F-8D14-CDD908DE3654}"/>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A2. Publication Verification Matrix</a:t>
            </a:r>
          </a:p>
        </p:txBody>
      </p:sp>
      <p:sp>
        <p:nvSpPr>
          <p:cNvPr id="2" name="">
            <a:extLst xmlns:a="http://schemas.openxmlformats.org/drawingml/2006/main">
              <a:ext uri="{FF2B5EF4-FFF2-40B4-BE49-F238E27FC236}">
                <a16:creationId xmlns:a16="http://schemas.microsoft.com/office/drawing/2014/main" id="{EE1F44E7-70B9-456D-B1B8-1B6F1168532F}"/>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EB5F3CF9-4B58-446F-861A-F09923FBEAA0}"/>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D57C22AC-BED4-4CF7-B8C4-01430AF7F8BB}"/>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Publication service, unit tests and F04 quickstart</a:t>
            </a:r>
          </a:p>
        </p:txBody>
      </p:sp>
      <p:sp>
        <p:nvSpPr>
          <p:cNvPr id="5" name="text">
            <a:extLst xmlns:a="http://schemas.openxmlformats.org/drawingml/2006/main">
              <a:ext uri="{FF2B5EF4-FFF2-40B4-BE49-F238E27FC236}">
                <a16:creationId xmlns:a16="http://schemas.microsoft.com/office/drawing/2014/main" id="{F2665BB7-927A-464F-8EEF-403D4B0FD512}"/>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A2 / A6</a:t>
            </a:r>
          </a:p>
        </p:txBody>
      </p:sp>
      <p:sp>
        <p:nvSpPr>
          <p:cNvPr id="6" name="text">
            <a:extLst xmlns:a="http://schemas.openxmlformats.org/drawingml/2006/main">
              <a:ext uri="{FF2B5EF4-FFF2-40B4-BE49-F238E27FC236}">
                <a16:creationId xmlns:a16="http://schemas.microsoft.com/office/drawing/2014/main" id="{8C88B52E-BAC9-41FD-AA7C-DC5AC9DBDE54}"/>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Evidence is recorded per scenario rather than inferred from the suite's overall result.</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5029200"/>
                <a:gridCol w="4526280"/>
                <a:gridCol w="7208520"/>
              </a:tblGrid>
              <a:tr h="671788">
                <a:tc>
                  <a:txBody>
                    <a:bodyPr wrap="square">
                      <a:noAutofit/>
                    </a:bodyPr>
                    <a:lstStyle/>
                    <a:p>
                      <a:r>
                        <a:rPr sz="2100" b="1">
                          <a:solidFill>
                            <a:srgbClr val="111827"/>
                          </a:solidFill>
                          <a:latin typeface="Calibri"/>
                          <a:ea typeface="Calibri"/>
                          <a:cs typeface="Calibri"/>
                        </a:rPr>
                        <a:t>Scenario</a:t>
                      </a:r>
                    </a:p>
                  </a:txBody>
                  <a:tcPr marL="165100" marR="165100" marT="127000" marB="127000" anchor="ctr">
                    <a:solidFill>
                      <a:srgbClr val="D8EDF4"/>
                    </a:solidFill>
                  </a:tcPr>
                </a:tc>
                <a:tc>
                  <a:txBody>
                    <a:bodyPr wrap="square">
                      <a:noAutofit/>
                    </a:bodyPr>
                    <a:lstStyle/>
                    <a:p>
                      <a:r>
                        <a:rPr sz="2100" b="1">
                          <a:solidFill>
                            <a:srgbClr val="111827"/>
                          </a:solidFill>
                          <a:latin typeface="Calibri"/>
                          <a:ea typeface="Calibri"/>
                          <a:cs typeface="Calibri"/>
                        </a:rPr>
                        <a:t>Expected result</a:t>
                      </a:r>
                    </a:p>
                  </a:txBody>
                  <a:tcPr marL="165100" marR="165100" marT="127000" marB="127000" anchor="ctr">
                    <a:solidFill>
                      <a:srgbClr val="D8EDF4"/>
                    </a:solidFill>
                  </a:tcPr>
                </a:tc>
                <a:tc>
                  <a:txBody>
                    <a:bodyPr wrap="square">
                      <a:noAutofit/>
                    </a:bodyPr>
                    <a:lstStyle/>
                    <a:p>
                      <a:r>
                        <a:rPr sz="2100" b="1">
                          <a:solidFill>
                            <a:srgbClr val="111827"/>
                          </a:solidFill>
                          <a:latin typeface="Calibri"/>
                          <a:ea typeface="Calibri"/>
                          <a:cs typeface="Calibri"/>
                        </a:rPr>
                        <a:t>Evidence in the selected run</a:t>
                      </a:r>
                    </a:p>
                  </a:txBody>
                  <a:tcPr marL="165100" marR="165100" marT="127000" marB="127000" anchor="ctr">
                    <a:solidFill>
                      <a:srgbClr val="D8EDF4"/>
                    </a:solidFill>
                  </a:tcPr>
                </a:tc>
              </a:tr>
              <a:tr h="671788">
                <a:tc>
                  <a:txBody>
                    <a:bodyPr wrap="square">
                      <a:noAutofit/>
                    </a:bodyPr>
                    <a:lstStyle/>
                    <a:p>
                      <a:r>
                        <a:rPr sz="2100" b="0">
                          <a:solidFill>
                            <a:srgbClr val="111827"/>
                          </a:solidFill>
                          <a:latin typeface="Calibri"/>
                          <a:ea typeface="Calibri"/>
                          <a:cs typeface="Calibri"/>
                        </a:rPr>
                        <a:t>All prerequisites hold</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Publish successfully</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Unit case passed</a:t>
                      </a:r>
                    </a:p>
                  </a:txBody>
                  <a:tcPr marL="165100" marR="165100" marT="127000" marB="127000" anchor="ctr">
                    <a:solidFill>
                      <a:srgbClr val="FFFFFF"/>
                    </a:solidFill>
                  </a:tcPr>
                </a:tc>
              </a:tr>
              <a:tr h="671788">
                <a:tc>
                  <a:txBody>
                    <a:bodyPr wrap="square">
                      <a:noAutofit/>
                    </a:bodyPr>
                    <a:lstStyle/>
                    <a:p>
                      <a:r>
                        <a:rPr sz="2100" b="0">
                          <a:solidFill>
                            <a:srgbClr val="111827"/>
                          </a:solidFill>
                          <a:latin typeface="Calibri"/>
                          <a:ea typeface="Calibri"/>
                          <a:cs typeface="Calibri"/>
                        </a:rPr>
                        <a:t>No segments</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Reject publication</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Unit case passed</a:t>
                      </a:r>
                    </a:p>
                  </a:txBody>
                  <a:tcPr marL="165100" marR="165100" marT="127000" marB="127000" anchor="ctr">
                    <a:solidFill>
                      <a:srgbClr val="F3F8FB"/>
                    </a:solidFill>
                  </a:tcPr>
                </a:tc>
              </a:tr>
              <a:tr h="671788">
                <a:tc>
                  <a:txBody>
                    <a:bodyPr wrap="square">
                      <a:noAutofit/>
                    </a:bodyPr>
                    <a:lstStyle/>
                    <a:p>
                      <a:r>
                        <a:rPr sz="2100" b="0">
                          <a:solidFill>
                            <a:srgbClr val="111827"/>
                          </a:solidFill>
                          <a:latin typeface="Calibri"/>
                          <a:ea typeface="Calibri"/>
                          <a:cs typeface="Calibri"/>
                        </a:rPr>
                        <a:t>A segment remains DRAFT</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Reject publication</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Unit case passed</a:t>
                      </a:r>
                    </a:p>
                  </a:txBody>
                  <a:tcPr marL="165100" marR="165100" marT="127000" marB="127000" anchor="ctr">
                    <a:solidFill>
                      <a:srgbClr val="FFFFFF"/>
                    </a:solidFill>
                  </a:tcPr>
                </a:tc>
              </a:tr>
              <a:tr h="671788">
                <a:tc>
                  <a:txBody>
                    <a:bodyPr wrap="square">
                      <a:noAutofit/>
                    </a:bodyPr>
                    <a:lstStyle/>
                    <a:p>
                      <a:r>
                        <a:rPr sz="2100" b="0">
                          <a:solidFill>
                            <a:srgbClr val="111827"/>
                          </a:solidFill>
                          <a:latin typeface="Calibri"/>
                          <a:ea typeface="Calibri"/>
                          <a:cs typeface="Calibri"/>
                        </a:rPr>
                        <a:t>Parent topic is not PUBLISHED</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Reject publication</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Guard inspected, case not run in the selected suite</a:t>
                      </a:r>
                    </a:p>
                  </a:txBody>
                  <a:tcPr marL="165100" marR="165100" marT="127000" marB="127000" anchor="ctr">
                    <a:solidFill>
                      <a:srgbClr val="F3F8FB"/>
                    </a:solidFill>
                  </a:tcPr>
                </a:tc>
              </a:tr>
              <a:tr h="671788">
                <a:tc>
                  <a:txBody>
                    <a:bodyPr wrap="square">
                      <a:noAutofit/>
                    </a:bodyPr>
                    <a:lstStyle/>
                    <a:p>
                      <a:r>
                        <a:rPr sz="2100" b="0">
                          <a:solidFill>
                            <a:srgbClr val="111827"/>
                          </a:solidFill>
                          <a:latin typeface="Calibri"/>
                          <a:ea typeface="Calibri"/>
                          <a:cs typeface="Calibri"/>
                        </a:rPr>
                        <a:t>Media is not APPROVED</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Reject publication</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Guard inspected, case not run in the selected suite</a:t>
                      </a:r>
                    </a:p>
                  </a:txBody>
                  <a:tcPr marL="165100" marR="165100" marT="127000" marB="127000" anchor="ctr">
                    <a:solidFill>
                      <a:srgbClr val="FFFFFF"/>
                    </a:solidFill>
                  </a:tcPr>
                </a:tc>
              </a:tr>
              <a:tr h="671788">
                <a:tc>
                  <a:txBody>
                    <a:bodyPr wrap="square">
                      <a:noAutofit/>
                    </a:bodyPr>
                    <a:lstStyle/>
                    <a:p>
                      <a:r>
                        <a:rPr sz="2100" b="0">
                          <a:solidFill>
                            <a:srgbClr val="111827"/>
                          </a:solidFill>
                          <a:latin typeface="Calibri"/>
                          <a:ea typeface="Calibri"/>
                          <a:cs typeface="Calibri"/>
                        </a:rPr>
                        <a:t>Request version is stale</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Return conflict, preserve current data</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Guard inspected, API verification still needed</a:t>
                      </a:r>
                    </a:p>
                  </a:txBody>
                  <a:tcPr marL="165100" marR="165100" marT="127000" marB="127000" anchor="ctr">
                    <a:solidFill>
                      <a:srgbClr val="F3F8FB"/>
                    </a:solidFill>
                  </a:tcPr>
                </a:tc>
              </a:tr>
              <a:tr h="671788">
                <a:tc>
                  <a:txBody>
                    <a:bodyPr wrap="square">
                      <a:noAutofit/>
                    </a:bodyPr>
                    <a:lstStyle/>
                    <a:p>
                      <a:r>
                        <a:rPr sz="2100" b="0">
                          <a:solidFill>
                            <a:srgbClr val="111827"/>
                          </a:solidFill>
                          <a:latin typeface="Calibri"/>
                          <a:ea typeface="Calibri"/>
                          <a:cs typeface="Calibri"/>
                        </a:rPr>
                        <a:t>Caller lacks ADMIN authority</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Reject access</a:t>
                      </a:r>
                    </a:p>
                  </a:txBody>
                  <a:tcPr marL="165100" marR="165100" marT="127000" marB="127000" anchor="ctr">
                    <a:solidFill>
                      <a:srgbClr val="FFFFFF"/>
                    </a:solidFill>
                  </a:tcPr>
                </a:tc>
                <a:tc>
                  <a:txBody>
                    <a:bodyPr wrap="square">
                      <a:noAutofit/>
                    </a:bodyPr>
                    <a:lstStyle/>
                    <a:p>
                      <a:r>
                        <a:rPr sz="2100" b="0">
                          <a:solidFill>
                            <a:srgbClr val="111827"/>
                          </a:solidFill>
                          <a:latin typeface="Calibri"/>
                          <a:ea typeface="Calibri"/>
                          <a:cs typeface="Calibri"/>
                        </a:rPr>
                        <a:t>Authorization integration evidence needed</a:t>
                      </a:r>
                    </a:p>
                  </a:txBody>
                  <a:tcPr marL="165100" marR="165100" marT="127000" marB="127000" anchor="ctr">
                    <a:solidFill>
                      <a:srgbClr val="FFFFFF"/>
                    </a:solidFill>
                  </a:tcPr>
                </a:tc>
              </a:tr>
              <a:tr h="671788">
                <a:tc>
                  <a:txBody>
                    <a:bodyPr wrap="square">
                      <a:noAutofit/>
                    </a:bodyPr>
                    <a:lstStyle/>
                    <a:p>
                      <a:r>
                        <a:rPr sz="2100" b="0">
                          <a:solidFill>
                            <a:srgbClr val="111827"/>
                          </a:solidFill>
                          <a:latin typeface="Calibri"/>
                          <a:ea typeface="Calibri"/>
                          <a:cs typeface="Calibri"/>
                        </a:rPr>
                        <a:t>Concurrent state changes</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Preserve the required invariants</a:t>
                      </a:r>
                    </a:p>
                  </a:txBody>
                  <a:tcPr marL="165100" marR="165100" marT="127000" marB="127000" anchor="ctr">
                    <a:solidFill>
                      <a:srgbClr val="F3F8FB"/>
                    </a:solidFill>
                  </a:tcPr>
                </a:tc>
                <a:tc>
                  <a:txBody>
                    <a:bodyPr wrap="square">
                      <a:noAutofit/>
                    </a:bodyPr>
                    <a:lstStyle/>
                    <a:p>
                      <a:r>
                        <a:rPr sz="2100" b="0">
                          <a:solidFill>
                            <a:srgbClr val="111827"/>
                          </a:solidFill>
                          <a:latin typeface="Calibri"/>
                          <a:ea typeface="Calibri"/>
                          <a:cs typeface="Calibri"/>
                        </a:rPr>
                        <a:t>Real database verification needed</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D332E4EE-32E7-4628-9B12-535E0B5C089A}"/>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The selected unit run does not establish complete F04 acceptance.</a:t>
            </a:r>
          </a:p>
        </p:txBody>
      </p:sp>
    </p:spTree>
    <p:extLst>
      <p:ext uri="{BB962C8B-B14F-4D97-AF65-F5344CB8AC3E}">
        <p14:creationId xmlns:p14="http://schemas.microsoft.com/office/powerpoint/2010/main" val="20540820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A32E00EF-D1ED-42ED-AFFD-9522C2354403}"/>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A3. Evaluating AI Buddy Responses</a:t>
            </a:r>
          </a:p>
        </p:txBody>
      </p:sp>
      <p:sp>
        <p:nvSpPr>
          <p:cNvPr id="2" name="">
            <a:extLst xmlns:a="http://schemas.openxmlformats.org/drawingml/2006/main">
              <a:ext uri="{FF2B5EF4-FFF2-40B4-BE49-F238E27FC236}">
                <a16:creationId xmlns:a16="http://schemas.microsoft.com/office/drawing/2014/main" id="{A8261B03-82B5-4D44-809B-CD36F736A0B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5786CC19-1913-4CFA-B864-557B08BD09CC}"/>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DDAE5BEB-3DDC-4E66-B3D8-C62ACC037CBC}"/>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F11 FR-010–FR-015 and success criteria</a:t>
            </a:r>
          </a:p>
        </p:txBody>
      </p:sp>
      <p:sp>
        <p:nvSpPr>
          <p:cNvPr id="5" name="text">
            <a:extLst xmlns:a="http://schemas.openxmlformats.org/drawingml/2006/main">
              <a:ext uri="{FF2B5EF4-FFF2-40B4-BE49-F238E27FC236}">
                <a16:creationId xmlns:a16="http://schemas.microsoft.com/office/drawing/2014/main" id="{5B5C8D14-C15D-4D3B-9A2D-F049950B2383}"/>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A3 / A6</a:t>
            </a:r>
          </a:p>
        </p:txBody>
      </p:sp>
      <p:sp>
        <p:nvSpPr>
          <p:cNvPr id="6" name="text">
            <a:extLst xmlns:a="http://schemas.openxmlformats.org/drawingml/2006/main">
              <a:ext uri="{FF2B5EF4-FFF2-40B4-BE49-F238E27FC236}">
                <a16:creationId xmlns:a16="http://schemas.microsoft.com/office/drawing/2014/main" id="{C62EF149-F50B-47DA-9899-10722C263B90}"/>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A well-formed response can still be inaccurate, unsuitable, or unsafe.</a:t>
            </a:r>
          </a:p>
        </p:txBody>
      </p:sp>
      <p:graphicFrame>
        <p:nvGraphicFramePr>
          <p:cNvPr id="16" name=""/>
          <p:cNvGraphicFramePr/>
          <p:nvPr/>
        </p:nvGraphicFramePr>
        <p:xfrm>
          <a:off xmlns:a="http://schemas.openxmlformats.org/drawingml/2006/main" x="762000" y="2473325"/>
          <a:ext xmlns:a="http://schemas.openxmlformats.org/drawingml/2006/main" cx="16764000" cy="5190617"/>
        </p:xfrm>
        <a:graphic xmlns:a="http://schemas.openxmlformats.org/drawingml/2006/main">
          <a:graphicData uri="http://schemas.openxmlformats.org/drawingml/2006/table">
            <a:tbl>
              <a:tblPr firstRow="1" bandRow="0"/>
              <a:tblGrid>
                <a:gridCol w="3352800"/>
                <a:gridCol w="7376160"/>
                <a:gridCol w="6035040"/>
              </a:tblGrid>
              <a:tr h="754274">
                <a:tc>
                  <a:txBody>
                    <a:bodyPr wrap="square">
                      <a:noAutofit/>
                    </a:bodyPr>
                    <a:lstStyle/>
                    <a:p>
                      <a:r>
                        <a:rPr sz="2200" b="1">
                          <a:solidFill>
                            <a:srgbClr val="111827"/>
                          </a:solidFill>
                          <a:latin typeface="Calibri"/>
                          <a:ea typeface="Calibri"/>
                          <a:cs typeface="Calibri"/>
                        </a:rPr>
                        <a:t>Evaluation area</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Check</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Suggested evidence</a:t>
                      </a:r>
                    </a:p>
                  </a:txBody>
                  <a:tcPr marL="165100" marR="165100" marT="127000" marB="127000" anchor="ctr">
                    <a:solidFill>
                      <a:srgbClr val="D8EDF4"/>
                    </a:solidFill>
                  </a:tcPr>
                </a:tc>
              </a:tr>
              <a:tr h="754274">
                <a:tc>
                  <a:txBody>
                    <a:bodyPr wrap="square">
                      <a:noAutofit/>
                    </a:bodyPr>
                    <a:lstStyle/>
                    <a:p>
                      <a:r>
                        <a:rPr sz="2200" b="0">
                          <a:solidFill>
                            <a:srgbClr val="111827"/>
                          </a:solidFill>
                          <a:latin typeface="Calibri"/>
                          <a:ea typeface="Calibri"/>
                          <a:cs typeface="Calibri"/>
                        </a:rPr>
                        <a:t>Structure</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Required fields, length, and suggestion count</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Schema and boundary tests</a:t>
                      </a:r>
                    </a:p>
                  </a:txBody>
                  <a:tcPr marL="165100" marR="165100" marT="127000" marB="127000" anchor="ctr">
                    <a:solidFill>
                      <a:srgbClr val="FFFFFF"/>
                    </a:solidFill>
                  </a:tcPr>
                </a:tc>
              </a:tr>
              <a:tr h="754274">
                <a:tc>
                  <a:txBody>
                    <a:bodyPr wrap="square">
                      <a:noAutofit/>
                    </a:bodyPr>
                    <a:lstStyle/>
                    <a:p>
                      <a:r>
                        <a:rPr sz="2200" b="0">
                          <a:solidFill>
                            <a:srgbClr val="111827"/>
                          </a:solidFill>
                          <a:latin typeface="Calibri"/>
                          <a:ea typeface="Calibri"/>
                          <a:cs typeface="Calibri"/>
                        </a:rPr>
                        <a:t>Activity and context</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Matches the selected activity and owned conversation</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Controlled conversation cases</a:t>
                      </a:r>
                    </a:p>
                  </a:txBody>
                  <a:tcPr marL="165100" marR="165100" marT="127000" marB="127000" anchor="ctr">
                    <a:solidFill>
                      <a:srgbClr val="F3F8FB"/>
                    </a:solidFill>
                  </a:tcPr>
                </a:tc>
              </a:tr>
              <a:tr h="1086760">
                <a:tc>
                  <a:txBody>
                    <a:bodyPr wrap="square">
                      <a:noAutofit/>
                    </a:bodyPr>
                    <a:lstStyle/>
                    <a:p>
                      <a:r>
                        <a:rPr sz="2200" b="0">
                          <a:solidFill>
                            <a:srgbClr val="111827"/>
                          </a:solidFill>
                          <a:latin typeface="Calibri"/>
                          <a:ea typeface="Calibri"/>
                          <a:cs typeface="Calibri"/>
                        </a:rPr>
                        <a:t>Language quality</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Accurate Chinese and clear Vietnamese explanation</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A defined rubric and competent language reviewers</a:t>
                      </a:r>
                    </a:p>
                  </a:txBody>
                  <a:tcPr marL="165100" marR="165100" marT="127000" marB="127000" anchor="ctr">
                    <a:solidFill>
                      <a:srgbClr val="FFFFFF"/>
                    </a:solidFill>
                  </a:tcPr>
                </a:tc>
              </a:tr>
              <a:tr h="1086760">
                <a:tc>
                  <a:txBody>
                    <a:bodyPr wrap="square">
                      <a:noAutofit/>
                    </a:bodyPr>
                    <a:lstStyle/>
                    <a:p>
                      <a:r>
                        <a:rPr sz="2200" b="0">
                          <a:solidFill>
                            <a:srgbClr val="111827"/>
                          </a:solidFill>
                          <a:latin typeface="Calibri"/>
                          <a:ea typeface="Calibri"/>
                          <a:cs typeface="Calibri"/>
                        </a:rPr>
                        <a:t>Safety decisions</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Accept permitted requests and reject prohibited ones</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Synthetic cases measuring false acceptance and false rejection</a:t>
                      </a:r>
                    </a:p>
                  </a:txBody>
                  <a:tcPr marL="165100" marR="165100" marT="127000" marB="127000" anchor="ctr">
                    <a:solidFill>
                      <a:srgbClr val="F3F8FB"/>
                    </a:solidFill>
                  </a:tcPr>
                </a:tc>
              </a:tr>
              <a:tr h="754274">
                <a:tc>
                  <a:txBody>
                    <a:bodyPr wrap="square">
                      <a:noAutofit/>
                    </a:bodyPr>
                    <a:lstStyle/>
                    <a:p>
                      <a:r>
                        <a:rPr sz="2200" b="0">
                          <a:solidFill>
                            <a:srgbClr val="111827"/>
                          </a:solidFill>
                          <a:latin typeface="Calibri"/>
                          <a:ea typeface="Calibri"/>
                          <a:cs typeface="Calibri"/>
                        </a:rPr>
                        <a:t>Failure behavior</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Handle timeout or invalid output without duplicate charges</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Provider stubs and integration checks</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EA9CB3C1-65BF-4220-AB5B-EC4AC48C5062}"/>
              </a:ext>
            </a:extLst>
          </p:cNvPr>
          <p:cNvSpPr>
            <a:spLocks xmlns:a="http://schemas.openxmlformats.org/drawingml/2006/main" noGrp="1"/>
          </p:cNvSpPr>
          <p:nvPr/>
        </p:nvSpPr>
        <p:spPr>
          <a:xfrm xmlns:a="http://schemas.openxmlformats.org/drawingml/2006/main">
            <a:off x="762000" y="7892542"/>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Illustrative activity</a:t>
            </a:r>
            <a:r>
              <a:rPr b="0">
                <a:latin typeface="Calibri"/>
                <a:ea typeface="Calibri"/>
                <a:cs typeface="Calibri"/>
              </a:rPr>
              <a:t>  
A learner asks how to greet a teacher. Evaluate meaning, appropriate language, explanation, and next-step usefulness.</a:t>
            </a:r>
          </a:p>
        </p:txBody>
      </p:sp>
      <p:sp>
        <p:nvSpPr>
          <p:cNvPr id="9" name="text">
            <a:extLst xmlns:a="http://schemas.openxmlformats.org/drawingml/2006/main">
              <a:ext uri="{FF2B5EF4-FFF2-40B4-BE49-F238E27FC236}">
                <a16:creationId xmlns:a16="http://schemas.microsoft.com/office/drawing/2014/main" id="{B38E5ECF-3771-4847-A7BD-D462493A5024}"/>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Limit:</a:t>
            </a:r>
            <a:r>
              <a:rPr b="0">
                <a:latin typeface="Calibri"/>
                <a:ea typeface="Calibri"/>
                <a:cs typeface="Calibri"/>
              </a:rPr>
              <a:t> Passing a finite evaluation set does not establish universal safety or learning effectiveness.</a:t>
            </a:r>
          </a:p>
        </p:txBody>
      </p:sp>
    </p:spTree>
    <p:extLst>
      <p:ext uri="{BB962C8B-B14F-4D97-AF65-F5344CB8AC3E}">
        <p14:creationId xmlns:p14="http://schemas.microsoft.com/office/powerpoint/2010/main" val="146842968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2B181806-B459-4D97-BCB5-BE569A2C9C27}"/>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A4. A Reproducible F04 Evidence Demonstration</a:t>
            </a:r>
          </a:p>
        </p:txBody>
      </p:sp>
      <p:sp>
        <p:nvSpPr>
          <p:cNvPr id="2" name="">
            <a:extLst xmlns:a="http://schemas.openxmlformats.org/drawingml/2006/main">
              <a:ext uri="{FF2B5EF4-FFF2-40B4-BE49-F238E27FC236}">
                <a16:creationId xmlns:a16="http://schemas.microsoft.com/office/drawing/2014/main" id="{36C22B7D-9018-4961-8F95-20509DCA50C3}"/>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61D0D9C0-F795-4D80-9B58-040594E2EA02}"/>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702D1E05-8091-44E6-88A4-81167CBE0E1B}"/>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F04 FR-004; T025; publication service and tests</a:t>
            </a:r>
          </a:p>
        </p:txBody>
      </p:sp>
      <p:sp>
        <p:nvSpPr>
          <p:cNvPr id="5" name="text">
            <a:extLst xmlns:a="http://schemas.openxmlformats.org/drawingml/2006/main">
              <a:ext uri="{FF2B5EF4-FFF2-40B4-BE49-F238E27FC236}">
                <a16:creationId xmlns:a16="http://schemas.microsoft.com/office/drawing/2014/main" id="{990AD063-B183-4BF3-A18B-CBADF1EFDB0F}"/>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A4 / A6</a:t>
            </a:r>
          </a:p>
        </p:txBody>
      </p:sp>
      <p:sp>
        <p:nvSpPr>
          <p:cNvPr id="6" name="text">
            <a:extLst xmlns:a="http://schemas.openxmlformats.org/drawingml/2006/main">
              <a:ext uri="{FF2B5EF4-FFF2-40B4-BE49-F238E27FC236}">
                <a16:creationId xmlns:a16="http://schemas.microsoft.com/office/drawing/2014/main" id="{29D9EA0F-C522-4D40-AF9D-F2E59CB8C3CD}"/>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Demonstrate one requirement through its implementation and recorded verification.</a:t>
            </a:r>
          </a:p>
        </p:txBody>
      </p:sp>
      <p:graphicFrame>
        <p:nvGraphicFramePr>
          <p:cNvPr id="16" name=""/>
          <p:cNvGraphicFramePr/>
          <p:nvPr/>
        </p:nvGraphicFramePr>
        <p:xfrm>
          <a:off xmlns:a="http://schemas.openxmlformats.org/drawingml/2006/main" x="762000" y="2473325"/>
          <a:ext xmlns:a="http://schemas.openxmlformats.org/drawingml/2006/main" cx="16764000" cy="4858131"/>
        </p:xfrm>
        <a:graphic xmlns:a="http://schemas.openxmlformats.org/drawingml/2006/main">
          <a:graphicData uri="http://schemas.openxmlformats.org/drawingml/2006/table">
            <a:tbl>
              <a:tblPr firstRow="1" bandRow="0"/>
              <a:tblGrid>
                <a:gridCol w="1173480"/>
                <a:gridCol w="6705600"/>
                <a:gridCol w="8884920"/>
              </a:tblGrid>
              <a:tr h="809689">
                <a:tc>
                  <a:txBody>
                    <a:bodyPr wrap="square">
                      <a:noAutofit/>
                    </a:bodyPr>
                    <a:lstStyle/>
                    <a:p>
                      <a:r>
                        <a:rPr sz="2200" b="1">
                          <a:solidFill>
                            <a:srgbClr val="111827"/>
                          </a:solidFill>
                          <a:latin typeface="Calibri"/>
                          <a:ea typeface="Calibri"/>
                          <a:cs typeface="Calibri"/>
                        </a:rPr>
                        <a:t>Step</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What to show</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Point to explain</a:t>
                      </a:r>
                    </a:p>
                  </a:txBody>
                  <a:tcPr marL="165100" marR="165100" marT="127000" marB="127000" anchor="ctr">
                    <a:solidFill>
                      <a:srgbClr val="D8EDF4"/>
                    </a:solidFill>
                  </a:tcPr>
                </a:tc>
              </a:tr>
              <a:tr h="809689">
                <a:tc>
                  <a:txBody>
                    <a:bodyPr wrap="square">
                      <a:noAutofit/>
                    </a:bodyPr>
                    <a:lstStyle/>
                    <a:p>
                      <a:r>
                        <a:rPr sz="2200" b="0">
                          <a:solidFill>
                            <a:srgbClr val="111827"/>
                          </a:solidFill>
                          <a:latin typeface="Calibri"/>
                          <a:ea typeface="Calibri"/>
                          <a:cs typeface="Calibri"/>
                        </a:rPr>
                        <a:t>1</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F04 FR-004</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A lesson requires at least one segment</a:t>
                      </a:r>
                    </a:p>
                  </a:txBody>
                  <a:tcPr marL="165100" marR="165100" marT="127000" marB="127000" anchor="ctr">
                    <a:solidFill>
                      <a:srgbClr val="FFFFFF"/>
                    </a:solidFill>
                  </a:tcPr>
                </a:tc>
              </a:tr>
              <a:tr h="809689">
                <a:tc>
                  <a:txBody>
                    <a:bodyPr wrap="square">
                      <a:noAutofit/>
                    </a:bodyPr>
                    <a:lstStyle/>
                    <a:p>
                      <a:r>
                        <a:rPr sz="2200" b="0">
                          <a:solidFill>
                            <a:srgbClr val="111827"/>
                          </a:solidFill>
                          <a:latin typeface="Calibri"/>
                          <a:ea typeface="Calibri"/>
                          <a:cs typeface="Calibri"/>
                        </a:rPr>
                        <a:t>2</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Task T025</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The publication rule has an implementation task</a:t>
                      </a:r>
                    </a:p>
                  </a:txBody>
                  <a:tcPr marL="165100" marR="165100" marT="127000" marB="127000" anchor="ctr">
                    <a:solidFill>
                      <a:srgbClr val="F3F8FB"/>
                    </a:solidFill>
                  </a:tcPr>
                </a:tc>
              </a:tr>
              <a:tr h="809689">
                <a:tc>
                  <a:txBody>
                    <a:bodyPr wrap="square">
                      <a:noAutofit/>
                    </a:bodyPr>
                    <a:lstStyle/>
                    <a:p>
                      <a:r>
                        <a:rPr sz="2200" b="0">
                          <a:solidFill>
                            <a:srgbClr val="111827"/>
                          </a:solidFill>
                          <a:latin typeface="Calibri"/>
                          <a:ea typeface="Calibri"/>
                          <a:cs typeface="Calibri"/>
                        </a:rPr>
                        <a:t>3</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publishLesson()</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The service rejects an empty segment list</a:t>
                      </a:r>
                    </a:p>
                  </a:txBody>
                  <a:tcPr marL="165100" marR="165100" marT="127000" marB="127000" anchor="ctr">
                    <a:solidFill>
                      <a:srgbClr val="FFFFFF"/>
                    </a:solidFill>
                  </a:tcPr>
                </a:tc>
              </a:tr>
              <a:tr h="809689">
                <a:tc>
                  <a:txBody>
                    <a:bodyPr wrap="square">
                      <a:noAutofit/>
                    </a:bodyPr>
                    <a:lstStyle/>
                    <a:p>
                      <a:r>
                        <a:rPr sz="2200" b="0">
                          <a:solidFill>
                            <a:srgbClr val="111827"/>
                          </a:solidFill>
                          <a:latin typeface="Calibri"/>
                          <a:ea typeface="Calibri"/>
                          <a:cs typeface="Calibri"/>
                        </a:rPr>
                        <a:t>4</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The no-segment and draft-segment unit cases</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Invalid content triggers the expected rejection</a:t>
                      </a:r>
                    </a:p>
                  </a:txBody>
                  <a:tcPr marL="165100" marR="165100" marT="127000" marB="127000" anchor="ctr">
                    <a:solidFill>
                      <a:srgbClr val="F3F8FB"/>
                    </a:solidFill>
                  </a:tcPr>
                </a:tc>
              </a:tr>
              <a:tr h="809689">
                <a:tc>
                  <a:txBody>
                    <a:bodyPr wrap="square">
                      <a:noAutofit/>
                    </a:bodyPr>
                    <a:lstStyle/>
                    <a:p>
                      <a:r>
                        <a:rPr sz="2200" b="0">
                          <a:solidFill>
                            <a:srgbClr val="111827"/>
                          </a:solidFill>
                          <a:latin typeface="Calibri"/>
                          <a:ea typeface="Calibri"/>
                          <a:cs typeface="Calibri"/>
                        </a:rPr>
                        <a:t>5</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Selected test command or recorded output</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Identify the result, version context, and remaining limits</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A75D6C0E-A2FC-4589-8F32-3CEB6D4D24E1}"/>
              </a:ext>
            </a:extLst>
          </p:cNvPr>
          <p:cNvSpPr>
            <a:spLocks xmlns:a="http://schemas.openxmlformats.org/drawingml/2006/main" noGrp="1"/>
          </p:cNvSpPr>
          <p:nvPr/>
        </p:nvSpPr>
        <p:spPr>
          <a:xfrm xmlns:a="http://schemas.openxmlformats.org/drawingml/2006/main">
            <a:off x="762000" y="7560056"/>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Evidence package</a:t>
            </a:r>
            <a:r>
              <a:rPr b="0">
                <a:latin typeface="Calibri"/>
                <a:ea typeface="Calibri"/>
                <a:cs typeface="Calibri"/>
              </a:rPr>
              <a:t>  
Record the source revision and working-tree changes, test date, environment, results, and unverified cases.</a:t>
            </a:r>
          </a:p>
        </p:txBody>
      </p:sp>
      <p:sp>
        <p:nvSpPr>
          <p:cNvPr id="9" name="text">
            <a:extLst xmlns:a="http://schemas.openxmlformats.org/drawingml/2006/main">
              <a:ext uri="{FF2B5EF4-FFF2-40B4-BE49-F238E27FC236}">
                <a16:creationId xmlns:a16="http://schemas.microsoft.com/office/drawing/2014/main" id="{722CE2A5-C3FF-4CFF-B4DE-FFE8EE90F512}"/>
              </a:ext>
            </a:extLst>
          </p:cNvPr>
          <p:cNvSpPr>
            <a:spLocks xmlns:a="http://schemas.openxmlformats.org/drawingml/2006/main" noGrp="1"/>
          </p:cNvSpPr>
          <p:nvPr/>
        </p:nvSpPr>
        <p:spPr>
          <a:xfrm xmlns:a="http://schemas.openxmlformats.org/drawingml/2006/main">
            <a:off x="762000" y="8415528"/>
            <a:ext cx="16764000" cy="728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1">
                <a:latin typeface="Calibri"/>
                <a:ea typeface="Calibri"/>
                <a:cs typeface="Calibri"/>
              </a:rPr>
              <a:t>Closing statement</a:t>
            </a:r>
            <a:r>
              <a:rPr b="0">
                <a:latin typeface="Calibri"/>
                <a:ea typeface="Calibri"/>
                <a:cs typeface="Calibri"/>
              </a:rPr>
              <a:t>  
This demonstration supports selected publication behavior. It does not establish full application acceptance.</a:t>
            </a:r>
          </a:p>
        </p:txBody>
      </p:sp>
    </p:spTree>
    <p:extLst>
      <p:ext uri="{BB962C8B-B14F-4D97-AF65-F5344CB8AC3E}">
        <p14:creationId xmlns:p14="http://schemas.microsoft.com/office/powerpoint/2010/main" val="179518064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AAD81C0-62AD-4AC7-8B71-E140D7818761}"/>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A5. Methodology Questions</a:t>
            </a:r>
          </a:p>
        </p:txBody>
      </p:sp>
      <p:sp>
        <p:nvSpPr>
          <p:cNvPr id="2" name="">
            <a:extLst xmlns:a="http://schemas.openxmlformats.org/drawingml/2006/main">
              <a:ext uri="{FF2B5EF4-FFF2-40B4-BE49-F238E27FC236}">
                <a16:creationId xmlns:a16="http://schemas.microsoft.com/office/drawing/2014/main" id="{B89D28DF-87D5-49F9-AE22-FFC513123809}"/>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74D65F4B-42D8-494A-A30A-1C1BDE1B0200}"/>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8F75B9F6-0210-4DE4-9767-64E20B549064}"/>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Playbook §8.2, §8.5, §13.6; Constitution review process</a:t>
            </a:r>
          </a:p>
        </p:txBody>
      </p:sp>
      <p:sp>
        <p:nvSpPr>
          <p:cNvPr id="5" name="text">
            <a:extLst xmlns:a="http://schemas.openxmlformats.org/drawingml/2006/main">
              <a:ext uri="{FF2B5EF4-FFF2-40B4-BE49-F238E27FC236}">
                <a16:creationId xmlns:a16="http://schemas.microsoft.com/office/drawing/2014/main" id="{EB77AE5C-AA62-41DF-83A9-CB07154AF424}"/>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A5 / A6</a:t>
            </a:r>
          </a:p>
        </p:txBody>
      </p:sp>
      <p:sp>
        <p:nvSpPr>
          <p:cNvPr id="6" name="text">
            <a:extLst xmlns:a="http://schemas.openxmlformats.org/drawingml/2006/main">
              <a:ext uri="{FF2B5EF4-FFF2-40B4-BE49-F238E27FC236}">
                <a16:creationId xmlns:a16="http://schemas.microsoft.com/office/drawing/2014/main" id="{99A7A5E2-C0DF-4850-A875-86E18B07F234}"/>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Specification control must include human judgment, independent checks, and managed change.</a:t>
            </a:r>
          </a:p>
        </p:txBody>
      </p:sp>
      <p:graphicFrame>
        <p:nvGraphicFramePr>
          <p:cNvPr id="15" name=""/>
          <p:cNvGraphicFramePr/>
          <p:nvPr/>
        </p:nvGraphicFramePr>
        <p:xfrm>
          <a:off xmlns:a="http://schemas.openxmlformats.org/drawingml/2006/main" x="762000" y="2473325"/>
          <a:ext xmlns:a="http://schemas.openxmlformats.org/drawingml/2006/main" cx="16764000" cy="5631688"/>
        </p:xfrm>
        <a:graphic xmlns:a="http://schemas.openxmlformats.org/drawingml/2006/main">
          <a:graphicData uri="http://schemas.openxmlformats.org/drawingml/2006/table">
            <a:tbl>
              <a:tblPr firstRow="1" bandRow="0"/>
              <a:tblGrid>
                <a:gridCol w="6705600"/>
                <a:gridCol w="10058400"/>
              </a:tblGrid>
              <a:tr h="827786">
                <a:tc>
                  <a:txBody>
                    <a:bodyPr wrap="square">
                      <a:noAutofit/>
                    </a:bodyPr>
                    <a:lstStyle/>
                    <a:p>
                      <a:r>
                        <a:rPr sz="2200" b="1">
                          <a:solidFill>
                            <a:srgbClr val="111827"/>
                          </a:solidFill>
                          <a:latin typeface="Calibri"/>
                          <a:ea typeface="Calibri"/>
                          <a:cs typeface="Calibri"/>
                        </a:rPr>
                        <a:t>Question</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Defensible answer</a:t>
                      </a:r>
                    </a:p>
                  </a:txBody>
                  <a:tcPr marL="165100" marR="165100" marT="127000" marB="127000" anchor="ctr">
                    <a:solidFill>
                      <a:srgbClr val="D8EDF4"/>
                    </a:solidFill>
                  </a:tcPr>
                </a:tc>
              </a:tr>
              <a:tr h="1160272">
                <a:tc>
                  <a:txBody>
                    <a:bodyPr wrap="square">
                      <a:noAutofit/>
                    </a:bodyPr>
                    <a:lstStyle/>
                    <a:p>
                      <a:r>
                        <a:rPr sz="2200" b="0">
                          <a:solidFill>
                            <a:srgbClr val="111827"/>
                          </a:solidFill>
                          <a:latin typeface="Calibri"/>
                          <a:ea typeface="Calibri"/>
                          <a:cs typeface="Calibri"/>
                        </a:rPr>
                        <a:t>Who validates the specification?</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The requirement owner and domain reviewers, supported by concrete scenarios and user feedback</a:t>
                      </a:r>
                    </a:p>
                  </a:txBody>
                  <a:tcPr marL="165100" marR="165100" marT="127000" marB="127000" anchor="ctr">
                    <a:solidFill>
                      <a:srgbClr val="FFFFFF"/>
                    </a:solidFill>
                  </a:tcPr>
                </a:tc>
              </a:tr>
              <a:tr h="827786">
                <a:tc>
                  <a:txBody>
                    <a:bodyPr wrap="square">
                      <a:noAutofit/>
                    </a:bodyPr>
                    <a:lstStyle/>
                    <a:p>
                      <a:r>
                        <a:rPr sz="2200" b="0">
                          <a:solidFill>
                            <a:srgbClr val="111827"/>
                          </a:solidFill>
                          <a:latin typeface="Calibri"/>
                          <a:ea typeface="Calibri"/>
                          <a:cs typeface="Calibri"/>
                        </a:rPr>
                        <a:t>Does this become Waterfall?</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Work in bounded features and revise the baseline through reviewed feedback</a:t>
                      </a:r>
                    </a:p>
                  </a:txBody>
                  <a:tcPr marL="165100" marR="165100" marT="127000" marB="127000" anchor="ctr">
                    <a:solidFill>
                      <a:srgbClr val="F3F8FB"/>
                    </a:solidFill>
                  </a:tcPr>
                </a:tc>
              </a:tr>
              <a:tr h="827786">
                <a:tc>
                  <a:txBody>
                    <a:bodyPr wrap="square">
                      <a:noAutofit/>
                    </a:bodyPr>
                    <a:lstStyle/>
                    <a:p>
                      <a:r>
                        <a:rPr sz="2200" b="0">
                          <a:solidFill>
                            <a:srgbClr val="111827"/>
                          </a:solidFill>
                          <a:latin typeface="Calibri"/>
                          <a:ea typeface="Calibri"/>
                          <a:cs typeface="Calibri"/>
                        </a:rPr>
                        <a:t>Why can passing tests still miss a defect?</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Tests may omit a case or share the implementation's mistaken assumption</a:t>
                      </a:r>
                    </a:p>
                  </a:txBody>
                  <a:tcPr marL="165100" marR="165100" marT="127000" marB="127000" anchor="ctr">
                    <a:solidFill>
                      <a:srgbClr val="FFFFFF"/>
                    </a:solidFill>
                  </a:tcPr>
                </a:tc>
              </a:tr>
              <a:tr h="827786">
                <a:tc>
                  <a:txBody>
                    <a:bodyPr wrap="square">
                      <a:noAutofit/>
                    </a:bodyPr>
                    <a:lstStyle/>
                    <a:p>
                      <a:r>
                        <a:rPr sz="2200" b="0">
                          <a:solidFill>
                            <a:srgbClr val="111827"/>
                          </a:solidFill>
                          <a:latin typeface="Calibri"/>
                          <a:ea typeface="Calibri"/>
                          <a:cs typeface="Calibri"/>
                        </a:rPr>
                        <a:t>Is more specification always better?</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Choose depth according to risk and include writing and review in the effort cost</a:t>
                      </a:r>
                    </a:p>
                  </a:txBody>
                  <a:tcPr marL="165100" marR="165100" marT="127000" marB="127000" anchor="ctr">
                    <a:solidFill>
                      <a:srgbClr val="F3F8FB"/>
                    </a:solidFill>
                  </a:tcPr>
                </a:tc>
              </a:tr>
              <a:tr h="1160272">
                <a:tc>
                  <a:txBody>
                    <a:bodyPr wrap="square">
                      <a:noAutofit/>
                    </a:bodyPr>
                    <a:lstStyle/>
                    <a:p>
                      <a:r>
                        <a:rPr sz="2200" b="0">
                          <a:solidFill>
                            <a:srgbClr val="111827"/>
                          </a:solidFill>
                          <a:latin typeface="Calibri"/>
                          <a:ea typeface="Calibri"/>
                          <a:cs typeface="Calibri"/>
                        </a:rPr>
                        <a:t>What is distinctive about using specs with AI?</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Structured context guides agent execution, while traceability and review check its output</a:t>
                      </a:r>
                    </a:p>
                  </a:txBody>
                  <a:tcPr marL="165100" marR="165100" marT="127000" marB="127000" anchor="ctr">
                    <a:solidFill>
                      <a:srgbClr val="FFFFFF"/>
                    </a:solidFill>
                  </a:tcPr>
                </a:tc>
              </a:tr>
            </a:tbl>
          </a:graphicData>
        </a:graphic>
      </p:graphicFrame>
      <p:sp>
        <p:nvSpPr>
          <p:cNvPr id="8" name="text">
            <a:extLst xmlns:a="http://schemas.openxmlformats.org/drawingml/2006/main">
              <a:ext uri="{FF2B5EF4-FFF2-40B4-BE49-F238E27FC236}">
                <a16:creationId xmlns:a16="http://schemas.microsoft.com/office/drawing/2014/main" id="{5A029EA5-1711-4563-A1F0-4BF1D90F422F}"/>
              </a:ext>
            </a:extLst>
          </p:cNvPr>
          <p:cNvSpPr>
            <a:spLocks xmlns:a="http://schemas.openxmlformats.org/drawingml/2006/main" noGrp="1"/>
          </p:cNvSpPr>
          <p:nvPr/>
        </p:nvSpPr>
        <p:spPr>
          <a:xfrm xmlns:a="http://schemas.openxmlformats.org/drawingml/2006/main">
            <a:off x="762000" y="8333613"/>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A specification organizes decisions. Its quality and enforcement still require evidence.</a:t>
            </a:r>
          </a:p>
        </p:txBody>
      </p:sp>
    </p:spTree>
    <p:extLst>
      <p:ext uri="{BB962C8B-B14F-4D97-AF65-F5344CB8AC3E}">
        <p14:creationId xmlns:p14="http://schemas.microsoft.com/office/powerpoint/2010/main" val="182794460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71C2353-CFD3-4D9D-9B32-3868953DA18C}"/>
              </a:ext>
            </a:extLst>
          </p:cNvPr>
          <p:cNvSpPr>
            <a:spLocks xmlns:a="http://schemas.openxmlformats.org/drawingml/2006/main" noGrp="1"/>
          </p:cNvSpPr>
          <p:nvPr/>
        </p:nvSpPr>
        <p:spPr>
          <a:xfrm xmlns:a="http://schemas.openxmlformats.org/drawingml/2006/main">
            <a:off x="762000" y="431800"/>
            <a:ext cx="1676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111827"/>
                </a:solidFill>
                <a:latin typeface="Calibri"/>
                <a:ea typeface="Calibri"/>
                <a:cs typeface="Calibri"/>
              </a:defRPr>
            </a:pPr>
            <a:r>
              <a:rPr sz="4400" b="1">
                <a:solidFill>
                  <a:srgbClr val="111827"/>
                </a:solidFill>
                <a:latin typeface="Calibri"/>
                <a:ea typeface="Calibri"/>
                <a:cs typeface="Calibri"/>
              </a:rPr>
              <a:t>A6. Questions About Schinese Evidence</a:t>
            </a:r>
          </a:p>
        </p:txBody>
      </p:sp>
      <p:sp>
        <p:nvSpPr>
          <p:cNvPr id="2" name="">
            <a:extLst xmlns:a="http://schemas.openxmlformats.org/drawingml/2006/main">
              <a:ext uri="{FF2B5EF4-FFF2-40B4-BE49-F238E27FC236}">
                <a16:creationId xmlns:a16="http://schemas.microsoft.com/office/drawing/2014/main" id="{7B93A47E-9D9F-4517-937A-D837D80A0C01}"/>
              </a:ext>
            </a:extLst>
          </p:cNvPr>
          <p:cNvSpPr>
            <a:spLocks xmlns:a="http://schemas.openxmlformats.org/drawingml/2006/main" noGrp="1"/>
          </p:cNvSpPr>
          <p:nvPr/>
        </p:nvSpPr>
        <p:spPr>
          <a:xfrm xmlns:a="http://schemas.openxmlformats.org/drawingml/2006/main" flipH="0" flipV="0">
            <a:off x="762000" y="1409700"/>
            <a:ext cx="12001500" cy="0"/>
          </a:xfrm>
          <a:prstGeom xmlns:a="http://schemas.openxmlformats.org/drawingml/2006/main" prst="line">
            <a:avLst/>
          </a:prstGeom>
          <a:noFill xmlns:a="http://schemas.openxmlformats.org/drawingml/2006/main"/>
          <a:ln xmlns:a="http://schemas.openxmlformats.org/drawingml/2006/main" w="22860">
            <a:solidFill>
              <a:srgbClr val="0070C0"/>
            </a:solidFill>
          </a:ln>
        </p:spPr>
      </p:sp>
      <p:sp>
        <p:nvSpPr>
          <p:cNvPr id="3" name="">
            <a:extLst xmlns:a="http://schemas.openxmlformats.org/drawingml/2006/main">
              <a:ext uri="{FF2B5EF4-FFF2-40B4-BE49-F238E27FC236}">
                <a16:creationId xmlns:a16="http://schemas.microsoft.com/office/drawing/2014/main" id="{252E3388-E0F6-4583-87AA-2420ACF076CF}"/>
              </a:ext>
            </a:extLst>
          </p:cNvPr>
          <p:cNvSpPr>
            <a:spLocks xmlns:a="http://schemas.openxmlformats.org/drawingml/2006/main" noGrp="1"/>
          </p:cNvSpPr>
          <p:nvPr/>
        </p:nvSpPr>
        <p:spPr>
          <a:xfrm xmlns:a="http://schemas.openxmlformats.org/drawingml/2006/main" flipH="0" flipV="0">
            <a:off x="12763500" y="1409700"/>
            <a:ext cx="4762500" cy="0"/>
          </a:xfrm>
          <a:prstGeom xmlns:a="http://schemas.openxmlformats.org/drawingml/2006/main" prst="line">
            <a:avLst/>
          </a:prstGeom>
          <a:noFill xmlns:a="http://schemas.openxmlformats.org/drawingml/2006/main"/>
          <a:ln xmlns:a="http://schemas.openxmlformats.org/drawingml/2006/main" w="22860">
            <a:solidFill>
              <a:srgbClr val="F47719"/>
            </a:solidFill>
          </a:ln>
        </p:spPr>
      </p:sp>
      <p:sp>
        <p:nvSpPr>
          <p:cNvPr id="4" name="text">
            <a:extLst xmlns:a="http://schemas.openxmlformats.org/drawingml/2006/main">
              <a:ext uri="{FF2B5EF4-FFF2-40B4-BE49-F238E27FC236}">
                <a16:creationId xmlns:a16="http://schemas.microsoft.com/office/drawing/2014/main" id="{86A64941-CF77-49E0-AC40-DE343D63F906}"/>
              </a:ext>
            </a:extLst>
          </p:cNvPr>
          <p:cNvSpPr>
            <a:spLocks xmlns:a="http://schemas.openxmlformats.org/drawingml/2006/main" noGrp="1"/>
          </p:cNvSpPr>
          <p:nvPr/>
        </p:nvSpPr>
        <p:spPr>
          <a:xfrm xmlns:a="http://schemas.openxmlformats.org/drawingml/2006/main">
            <a:off x="762000" y="9626600"/>
            <a:ext cx="15494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64748B"/>
                </a:solidFill>
                <a:latin typeface="Calibri"/>
                <a:ea typeface="Calibri"/>
                <a:cs typeface="Calibri"/>
              </a:defRPr>
            </a:pPr>
            <a:r>
              <a:rPr sz="1600" b="0">
                <a:solidFill>
                  <a:srgbClr val="64748B"/>
                </a:solidFill>
                <a:latin typeface="Calibri"/>
                <a:ea typeface="Calibri"/>
                <a:cs typeface="Calibri"/>
              </a:rPr>
              <a:t>Source: Constitution; CLAUDE.md AI boundary; selected test results</a:t>
            </a:r>
          </a:p>
        </p:txBody>
      </p:sp>
      <p:sp>
        <p:nvSpPr>
          <p:cNvPr id="5" name="text">
            <a:extLst xmlns:a="http://schemas.openxmlformats.org/drawingml/2006/main">
              <a:ext uri="{FF2B5EF4-FFF2-40B4-BE49-F238E27FC236}">
                <a16:creationId xmlns:a16="http://schemas.microsoft.com/office/drawing/2014/main" id="{63689A83-99A1-4279-B42C-3C347B79FAE4}"/>
              </a:ext>
            </a:extLst>
          </p:cNvPr>
          <p:cNvSpPr>
            <a:spLocks xmlns:a="http://schemas.openxmlformats.org/drawingml/2006/main" noGrp="1"/>
          </p:cNvSpPr>
          <p:nvPr/>
        </p:nvSpPr>
        <p:spPr>
          <a:xfrm xmlns:a="http://schemas.openxmlformats.org/drawingml/2006/main">
            <a:off x="16129000" y="9918700"/>
            <a:ext cx="184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00" b="1">
                <a:solidFill>
                  <a:srgbClr val="111827"/>
                </a:solidFill>
                <a:latin typeface="Calibri"/>
                <a:ea typeface="Calibri"/>
                <a:cs typeface="Calibri"/>
              </a:defRPr>
            </a:pPr>
            <a:r>
              <a:rPr sz="2200" b="1">
                <a:solidFill>
                  <a:srgbClr val="111827"/>
                </a:solidFill>
                <a:latin typeface="Calibri"/>
                <a:ea typeface="Calibri"/>
                <a:cs typeface="Calibri"/>
              </a:rPr>
              <a:t>A6 / A6</a:t>
            </a:r>
          </a:p>
        </p:txBody>
      </p:sp>
      <p:sp>
        <p:nvSpPr>
          <p:cNvPr id="6" name="text">
            <a:extLst xmlns:a="http://schemas.openxmlformats.org/drawingml/2006/main">
              <a:ext uri="{FF2B5EF4-FFF2-40B4-BE49-F238E27FC236}">
                <a16:creationId xmlns:a16="http://schemas.microsoft.com/office/drawing/2014/main" id="{407D46B7-4996-41E3-B111-1E232E0ACA7B}"/>
              </a:ext>
            </a:extLst>
          </p:cNvPr>
          <p:cNvSpPr>
            <a:spLocks xmlns:a="http://schemas.openxmlformats.org/drawingml/2006/main" noGrp="1"/>
          </p:cNvSpPr>
          <p:nvPr/>
        </p:nvSpPr>
        <p:spPr>
          <a:xfrm xmlns:a="http://schemas.openxmlformats.org/drawingml/2006/main">
            <a:off x="762000" y="1778000"/>
            <a:ext cx="16764000" cy="44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111827"/>
                </a:solidFill>
                <a:latin typeface="Calibri"/>
                <a:ea typeface="Calibri"/>
                <a:cs typeface="Calibri"/>
              </a:defRPr>
            </a:pPr>
            <a:r>
              <a:rPr b="0">
                <a:latin typeface="Calibri"/>
                <a:ea typeface="Calibri"/>
                <a:cs typeface="Calibri"/>
              </a:rPr>
              <a:t>Each answer should distinguish the observed result from the work still needed.</a:t>
            </a:r>
          </a:p>
        </p:txBody>
      </p:sp>
      <p:graphicFrame>
        <p:nvGraphicFramePr>
          <p:cNvPr id="15" name=""/>
          <p:cNvGraphicFramePr/>
          <p:nvPr/>
        </p:nvGraphicFramePr>
        <p:xfrm>
          <a:off xmlns:a="http://schemas.openxmlformats.org/drawingml/2006/main" x="762000" y="2473325"/>
          <a:ext xmlns:a="http://schemas.openxmlformats.org/drawingml/2006/main" cx="16764000" cy="6046089"/>
        </p:xfrm>
        <a:graphic xmlns:a="http://schemas.openxmlformats.org/drawingml/2006/main">
          <a:graphicData uri="http://schemas.openxmlformats.org/drawingml/2006/table">
            <a:tbl>
              <a:tblPr firstRow="1" bandRow="0"/>
              <a:tblGrid>
                <a:gridCol w="7208520"/>
                <a:gridCol w="9555480"/>
              </a:tblGrid>
              <a:tr h="816229">
                <a:tc>
                  <a:txBody>
                    <a:bodyPr wrap="square">
                      <a:noAutofit/>
                    </a:bodyPr>
                    <a:lstStyle/>
                    <a:p>
                      <a:r>
                        <a:rPr sz="2200" b="1">
                          <a:solidFill>
                            <a:srgbClr val="111827"/>
                          </a:solidFill>
                          <a:latin typeface="Calibri"/>
                          <a:ea typeface="Calibri"/>
                          <a:cs typeface="Calibri"/>
                        </a:rPr>
                        <a:t>Question</a:t>
                      </a:r>
                    </a:p>
                  </a:txBody>
                  <a:tcPr marL="165100" marR="165100" marT="127000" marB="127000" anchor="ctr">
                    <a:solidFill>
                      <a:srgbClr val="D8EDF4"/>
                    </a:solidFill>
                  </a:tcPr>
                </a:tc>
                <a:tc>
                  <a:txBody>
                    <a:bodyPr wrap="square">
                      <a:noAutofit/>
                    </a:bodyPr>
                    <a:lstStyle/>
                    <a:p>
                      <a:r>
                        <a:rPr sz="2200" b="1">
                          <a:solidFill>
                            <a:srgbClr val="111827"/>
                          </a:solidFill>
                          <a:latin typeface="Calibri"/>
                          <a:ea typeface="Calibri"/>
                          <a:cs typeface="Calibri"/>
                        </a:rPr>
                        <a:t>Evidence-based answer</a:t>
                      </a:r>
                    </a:p>
                  </a:txBody>
                  <a:tcPr marL="165100" marR="165100" marT="127000" marB="127000" anchor="ctr">
                    <a:solidFill>
                      <a:srgbClr val="D8EDF4"/>
                    </a:solidFill>
                  </a:tcPr>
                </a:tc>
              </a:tr>
              <a:tr h="816229">
                <a:tc>
                  <a:txBody>
                    <a:bodyPr wrap="square">
                      <a:noAutofit/>
                    </a:bodyPr>
                    <a:lstStyle/>
                    <a:p>
                      <a:r>
                        <a:rPr sz="2200" b="0">
                          <a:solidFill>
                            <a:srgbClr val="111827"/>
                          </a:solidFill>
                          <a:latin typeface="Calibri"/>
                          <a:ea typeface="Calibri"/>
                          <a:cs typeface="Calibri"/>
                        </a:rPr>
                        <a:t>What can an unfinished project demonstrate?</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Selected requirement/code/test traces and recorded results</a:t>
                      </a:r>
                    </a:p>
                  </a:txBody>
                  <a:tcPr marL="165100" marR="165100" marT="127000" marB="127000" anchor="ctr">
                    <a:solidFill>
                      <a:srgbClr val="FFFFFF"/>
                    </a:solidFill>
                  </a:tcPr>
                </a:tc>
              </a:tr>
              <a:tr h="816229">
                <a:tc>
                  <a:txBody>
                    <a:bodyPr wrap="square">
                      <a:noAutofit/>
                    </a:bodyPr>
                    <a:lstStyle/>
                    <a:p>
                      <a:r>
                        <a:rPr sz="2200" b="0">
                          <a:solidFill>
                            <a:srgbClr val="111827"/>
                          </a:solidFill>
                          <a:latin typeface="Calibri"/>
                          <a:ea typeface="Calibri"/>
                          <a:cs typeface="Calibri"/>
                        </a:rPr>
                        <a:t>Is specification correctness 100%?</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Claims require a defined scope, baseline, and evaluation method</a:t>
                      </a:r>
                    </a:p>
                  </a:txBody>
                  <a:tcPr marL="165100" marR="165100" marT="127000" marB="127000" anchor="ctr">
                    <a:solidFill>
                      <a:srgbClr val="F3F8FB"/>
                    </a:solidFill>
                  </a:tcPr>
                </a:tc>
              </a:tr>
              <a:tr h="816229">
                <a:tc>
                  <a:txBody>
                    <a:bodyPr wrap="square">
                      <a:noAutofit/>
                    </a:bodyPr>
                    <a:lstStyle/>
                    <a:p>
                      <a:r>
                        <a:rPr sz="2200" b="0">
                          <a:solidFill>
                            <a:srgbClr val="111827"/>
                          </a:solidFill>
                          <a:latin typeface="Calibri"/>
                          <a:ea typeface="Calibri"/>
                          <a:cs typeface="Calibri"/>
                        </a:rPr>
                        <a:t>What if AI writes both code and tests?</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Review against independent criteria and add challenging cases</a:t>
                      </a:r>
                    </a:p>
                  </a:txBody>
                  <a:tcPr marL="165100" marR="165100" marT="127000" marB="127000" anchor="ctr">
                    <a:solidFill>
                      <a:srgbClr val="FFFFFF"/>
                    </a:solidFill>
                  </a:tcPr>
                </a:tc>
              </a:tr>
              <a:tr h="816229">
                <a:tc>
                  <a:txBody>
                    <a:bodyPr wrap="square">
                      <a:noAutofit/>
                    </a:bodyPr>
                    <a:lstStyle/>
                    <a:p>
                      <a:r>
                        <a:rPr sz="2200" b="0">
                          <a:solidFill>
                            <a:srgbClr val="111827"/>
                          </a:solidFill>
                          <a:latin typeface="Calibri"/>
                          <a:ea typeface="Calibri"/>
                          <a:cs typeface="Calibri"/>
                        </a:rPr>
                        <a:t>Do extra AI-generated helpers mean loss of control?</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Review their purpose, callers, assumptions, and side effects</a:t>
                      </a:r>
                    </a:p>
                  </a:txBody>
                  <a:tcPr marL="165100" marR="165100" marT="127000" marB="127000" anchor="ctr">
                    <a:solidFill>
                      <a:srgbClr val="F3F8FB"/>
                    </a:solidFill>
                  </a:tcPr>
                </a:tc>
              </a:tr>
              <a:tr h="816229">
                <a:tc>
                  <a:txBody>
                    <a:bodyPr wrap="square">
                      <a:noAutofit/>
                    </a:bodyPr>
                    <a:lstStyle/>
                    <a:p>
                      <a:r>
                        <a:rPr sz="2200" b="0">
                          <a:solidFill>
                            <a:srgbClr val="111827"/>
                          </a:solidFill>
                          <a:latin typeface="Calibri"/>
                          <a:ea typeface="Calibri"/>
                          <a:cs typeface="Calibri"/>
                        </a:rPr>
                        <a:t>How is optimization proven?</a:t>
                      </a:r>
                    </a:p>
                  </a:txBody>
                  <a:tcPr marL="165100" marR="165100" marT="127000" marB="127000" anchor="ctr">
                    <a:solidFill>
                      <a:srgbClr val="FFFFFF"/>
                    </a:solidFill>
                  </a:tcPr>
                </a:tc>
                <a:tc>
                  <a:txBody>
                    <a:bodyPr wrap="square">
                      <a:noAutofit/>
                    </a:bodyPr>
                    <a:lstStyle/>
                    <a:p>
                      <a:r>
                        <a:rPr sz="2200" b="0">
                          <a:solidFill>
                            <a:srgbClr val="111827"/>
                          </a:solidFill>
                          <a:latin typeface="Calibri"/>
                          <a:ea typeface="Calibri"/>
                          <a:cs typeface="Calibri"/>
                        </a:rPr>
                        <a:t>Preserve required behavior and measure against a baseline</a:t>
                      </a:r>
                    </a:p>
                  </a:txBody>
                  <a:tcPr marL="165100" marR="165100" marT="127000" marB="127000" anchor="ctr">
                    <a:solidFill>
                      <a:srgbClr val="FFFFFF"/>
                    </a:solidFill>
                  </a:tcPr>
                </a:tc>
              </a:tr>
              <a:tr h="1148715">
                <a:tc>
                  <a:txBody>
                    <a:bodyPr wrap="square">
                      <a:noAutofit/>
                    </a:bodyPr>
                    <a:lstStyle/>
                    <a:p>
                      <a:r>
                        <a:rPr sz="2200" b="0">
                          <a:solidFill>
                            <a:srgbClr val="111827"/>
                          </a:solidFill>
                          <a:latin typeface="Calibri"/>
                          <a:ea typeface="Calibri"/>
                          <a:cs typeface="Calibri"/>
                        </a:rPr>
                        <a:t>Does a private ai-service violate the architecture?</a:t>
                      </a:r>
                    </a:p>
                  </a:txBody>
                  <a:tcPr marL="165100" marR="165100" marT="127000" marB="127000" anchor="ctr">
                    <a:solidFill>
                      <a:srgbClr val="F3F8FB"/>
                    </a:solidFill>
                  </a:tcPr>
                </a:tc>
                <a:tc>
                  <a:txBody>
                    <a:bodyPr wrap="square">
                      <a:noAutofit/>
                    </a:bodyPr>
                    <a:lstStyle/>
                    <a:p>
                      <a:r>
                        <a:rPr sz="2200" b="0">
                          <a:solidFill>
                            <a:srgbClr val="111827"/>
                          </a:solidFill>
                          <a:latin typeface="Calibri"/>
                          <a:ea typeface="Calibri"/>
                          <a:cs typeface="Calibri"/>
                        </a:rPr>
                        <a:t>The Constitution permits this supporting service while the backend retains product authority</a:t>
                      </a:r>
                    </a:p>
                  </a:txBody>
                  <a:tcPr marL="165100" marR="165100" marT="127000" marB="127000" anchor="ctr">
                    <a:solidFill>
                      <a:srgbClr val="F3F8FB"/>
                    </a:solidFill>
                  </a:tcPr>
                </a:tc>
              </a:tr>
            </a:tbl>
          </a:graphicData>
        </a:graphic>
      </p:graphicFrame>
      <p:sp>
        <p:nvSpPr>
          <p:cNvPr id="8" name="text">
            <a:extLst xmlns:a="http://schemas.openxmlformats.org/drawingml/2006/main">
              <a:ext uri="{FF2B5EF4-FFF2-40B4-BE49-F238E27FC236}">
                <a16:creationId xmlns:a16="http://schemas.microsoft.com/office/drawing/2014/main" id="{D049267F-FEF4-4B24-97CE-F973E81C0422}"/>
              </a:ext>
            </a:extLst>
          </p:cNvPr>
          <p:cNvSpPr>
            <a:spLocks xmlns:a="http://schemas.openxmlformats.org/drawingml/2006/main" noGrp="1"/>
          </p:cNvSpPr>
          <p:nvPr/>
        </p:nvSpPr>
        <p:spPr>
          <a:xfrm xmlns:a="http://schemas.openxmlformats.org/drawingml/2006/main">
            <a:off x="762000" y="8748014"/>
            <a:ext cx="16764000" cy="395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11827"/>
                </a:solidFill>
                <a:latin typeface="Calibri"/>
                <a:ea typeface="Calibri"/>
                <a:cs typeface="Calibri"/>
              </a:defRPr>
            </a:pPr>
            <a:r>
              <a:rPr b="0">
                <a:latin typeface="Calibri"/>
                <a:ea typeface="Calibri"/>
                <a:cs typeface="Calibri"/>
              </a:rPr>
              <a:t>Full release readiness and learning impact remain separate claims requiring additional evidence.</a:t>
            </a:r>
          </a:p>
        </p:txBody>
      </p:sp>
    </p:spTree>
    <p:extLst>
      <p:ext uri="{BB962C8B-B14F-4D97-AF65-F5344CB8AC3E}">
        <p14:creationId xmlns:p14="http://schemas.microsoft.com/office/powerpoint/2010/main" val="1925681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2026-09-11T23:30:43.1990000Z</dcterms:created>
  <dcterms:modified xsi:type="dcterms:W3CDTF">2026-09-11T23:30:43.1990000Z</dcterms:modified>
</coreProperties>
</file>